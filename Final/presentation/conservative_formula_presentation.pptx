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3d5ce4992c4ec7" /><Relationship Type="http://schemas.openxmlformats.org/officeDocument/2006/relationships/extended-properties" Target="/docProps/app.xml" Id="R6d36e2fe381744b3" /><Relationship Type="http://schemas.openxmlformats.org/officeDocument/2006/relationships/officeDocument" Target="/ppt/presentation.xml" Id="Rc8b56149b2a34c8b" /></Relationships>
</file>

<file path=ppt/presentation.xml><?xml version="1.0" encoding="utf-8"?>
<p:presentation xmlns:p="http://schemas.openxmlformats.org/presentationml/2006/main">
  <p:sldMasterIdLst>
    <p:sldMasterId xmlns:r="http://schemas.openxmlformats.org/officeDocument/2006/relationships" id="2147483648" r:id="Rb00cfd926bb04a9f"/>
  </p:sldMasterIdLst>
  <p:notesMasterIdLst>
    <p:notesMasterId xmlns:r="http://schemas.openxmlformats.org/officeDocument/2006/relationships" r:id="Rd371d6e5d1a24d2e"/>
  </p:notesMasterIdLst>
  <p:sldIdLst>
    <p:sldId xmlns:r="http://schemas.openxmlformats.org/officeDocument/2006/relationships" id="256" r:id="Rb9c9fa89ddb24934"/>
    <p:sldId xmlns:r="http://schemas.openxmlformats.org/officeDocument/2006/relationships" id="257" r:id="R0f1a7b1c7c93419e"/>
    <p:sldId xmlns:r="http://schemas.openxmlformats.org/officeDocument/2006/relationships" id="258" r:id="R35da279646f64f13"/>
    <p:sldId xmlns:r="http://schemas.openxmlformats.org/officeDocument/2006/relationships" id="259" r:id="R5257236b7d0440d5"/>
    <p:sldId xmlns:r="http://schemas.openxmlformats.org/officeDocument/2006/relationships" id="260" r:id="Rbc581e27ce6640f8"/>
    <p:sldId xmlns:r="http://schemas.openxmlformats.org/officeDocument/2006/relationships" id="261" r:id="Rb0f460c51dd94f11"/>
    <p:sldId xmlns:r="http://schemas.openxmlformats.org/officeDocument/2006/relationships" id="262" r:id="R92c31c2e21a5461f"/>
    <p:sldId xmlns:r="http://schemas.openxmlformats.org/officeDocument/2006/relationships" id="263" r:id="R182732c597054653"/>
    <p:sldId xmlns:r="http://schemas.openxmlformats.org/officeDocument/2006/relationships" id="264" r:id="R215d7e7c74414327"/>
    <p:sldId xmlns:r="http://schemas.openxmlformats.org/officeDocument/2006/relationships" id="265" r:id="Rc774dc391bf845f2"/>
    <p:sldId xmlns:r="http://schemas.openxmlformats.org/officeDocument/2006/relationships" id="266" r:id="Rd0add3a6d95a407b"/>
    <p:sldId xmlns:r="http://schemas.openxmlformats.org/officeDocument/2006/relationships" id="267" r:id="R7781cf18199b4693"/>
    <p:sldId xmlns:r="http://schemas.openxmlformats.org/officeDocument/2006/relationships" id="268" r:id="R7990eaf8b00d4c99"/>
    <p:sldId xmlns:r="http://schemas.openxmlformats.org/officeDocument/2006/relationships" id="269" r:id="R8f3c06f7e0634224"/>
    <p:sldId xmlns:r="http://schemas.openxmlformats.org/officeDocument/2006/relationships" id="270" r:id="R7caec704081146e5"/>
    <p:sldId xmlns:r="http://schemas.openxmlformats.org/officeDocument/2006/relationships" id="271" r:id="Rfdc6e666c78545e9"/>
    <p:sldId xmlns:r="http://schemas.openxmlformats.org/officeDocument/2006/relationships" id="272" r:id="Rbe98f9421d2d42b3"/>
    <p:sldId xmlns:r="http://schemas.openxmlformats.org/officeDocument/2006/relationships" id="273" r:id="Receab1df96574cab"/>
    <p:sldId xmlns:r="http://schemas.openxmlformats.org/officeDocument/2006/relationships" id="274" r:id="R72660296b0cb4cea"/>
    <p:sldId xmlns:r="http://schemas.openxmlformats.org/officeDocument/2006/relationships" id="275" r:id="Rd966169b7e454662"/>
    <p:sldId xmlns:r="http://schemas.openxmlformats.org/officeDocument/2006/relationships" id="276" r:id="R691817ec11814cca"/>
    <p:sldId xmlns:r="http://schemas.openxmlformats.org/officeDocument/2006/relationships" id="277" r:id="Raf3fc9ad071e4d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d97b3bfa6d4068" /><Relationship Type="http://schemas.openxmlformats.org/officeDocument/2006/relationships/slideMaster" Target="/ppt/slideMasters/slideMaster1.xml" Id="Rb00cfd926bb04a9f" /><Relationship Type="http://schemas.openxmlformats.org/officeDocument/2006/relationships/notesMaster" Target="/ppt/notesMasters/notesMaster1.xml" Id="Rd371d6e5d1a24d2e" /><Relationship Type="http://schemas.openxmlformats.org/officeDocument/2006/relationships/presProps" Target="/ppt/presProps.xml" Id="Rba761ed801a14c72" /><Relationship Type="http://schemas.openxmlformats.org/officeDocument/2006/relationships/tableStyles" Target="/ppt/tableStyles.xml" Id="R69af4e930c014e5d" /><Relationship Type="http://schemas.openxmlformats.org/officeDocument/2006/relationships/slide" Target="/ppt/slides/slide1.xml" Id="Rb9c9fa89ddb24934" /><Relationship Type="http://schemas.openxmlformats.org/officeDocument/2006/relationships/slide" Target="/ppt/slides/slide2.xml" Id="R0f1a7b1c7c93419e" /><Relationship Type="http://schemas.openxmlformats.org/officeDocument/2006/relationships/slide" Target="/ppt/slides/slide3.xml" Id="R35da279646f64f13" /><Relationship Type="http://schemas.openxmlformats.org/officeDocument/2006/relationships/slide" Target="/ppt/slides/slide4.xml" Id="R5257236b7d0440d5" /><Relationship Type="http://schemas.openxmlformats.org/officeDocument/2006/relationships/slide" Target="/ppt/slides/slide5.xml" Id="Rbc581e27ce6640f8" /><Relationship Type="http://schemas.openxmlformats.org/officeDocument/2006/relationships/slide" Target="/ppt/slides/slide6.xml" Id="Rb0f460c51dd94f11" /><Relationship Type="http://schemas.openxmlformats.org/officeDocument/2006/relationships/slide" Target="/ppt/slides/slide7.xml" Id="R92c31c2e21a5461f" /><Relationship Type="http://schemas.openxmlformats.org/officeDocument/2006/relationships/slide" Target="/ppt/slides/slide8.xml" Id="R182732c597054653" /><Relationship Type="http://schemas.openxmlformats.org/officeDocument/2006/relationships/slide" Target="/ppt/slides/slide9.xml" Id="R215d7e7c74414327" /><Relationship Type="http://schemas.openxmlformats.org/officeDocument/2006/relationships/slide" Target="/ppt/slides/slide10.xml" Id="Rc774dc391bf845f2" /><Relationship Type="http://schemas.openxmlformats.org/officeDocument/2006/relationships/slide" Target="/ppt/slides/slide11.xml" Id="Rd0add3a6d95a407b" /><Relationship Type="http://schemas.openxmlformats.org/officeDocument/2006/relationships/slide" Target="/ppt/slides/slide12.xml" Id="R7781cf18199b4693" /><Relationship Type="http://schemas.openxmlformats.org/officeDocument/2006/relationships/slide" Target="/ppt/slides/slide13.xml" Id="R7990eaf8b00d4c99" /><Relationship Type="http://schemas.openxmlformats.org/officeDocument/2006/relationships/slide" Target="/ppt/slides/slide14.xml" Id="R8f3c06f7e0634224" /><Relationship Type="http://schemas.openxmlformats.org/officeDocument/2006/relationships/slide" Target="/ppt/slides/slide15.xml" Id="R7caec704081146e5" /><Relationship Type="http://schemas.openxmlformats.org/officeDocument/2006/relationships/slide" Target="/ppt/slides/slide16.xml" Id="Rfdc6e666c78545e9" /><Relationship Type="http://schemas.openxmlformats.org/officeDocument/2006/relationships/slide" Target="/ppt/slides/slide17.xml" Id="Rbe98f9421d2d42b3" /><Relationship Type="http://schemas.openxmlformats.org/officeDocument/2006/relationships/slide" Target="/ppt/slides/slide18.xml" Id="Receab1df96574cab" /><Relationship Type="http://schemas.openxmlformats.org/officeDocument/2006/relationships/slide" Target="/ppt/slides/slide19.xml" Id="R72660296b0cb4cea" /><Relationship Type="http://schemas.openxmlformats.org/officeDocument/2006/relationships/slide" Target="/ppt/slides/slide20.xml" Id="Rd966169b7e454662" /><Relationship Type="http://schemas.openxmlformats.org/officeDocument/2006/relationships/slide" Target="/ppt/slides/slide21.xml" Id="R691817ec11814cca" /><Relationship Type="http://schemas.openxmlformats.org/officeDocument/2006/relationships/slide" Target="/ppt/slides/slide22.xml" Id="Raf3fc9ad071e4d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fc15e4729945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2555188f104aaa" /><Relationship Type="http://schemas.openxmlformats.org/officeDocument/2006/relationships/notesMaster" Target="/ppt/notesMasters/notesMaster1.xml" Id="Rc519c4d80fa345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6fb6d8f6fb4870" /><Relationship Type="http://schemas.openxmlformats.org/officeDocument/2006/relationships/notesMaster" Target="/ppt/notesMasters/notesMaster1.xml" Id="Rfadd8367d3c341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019a2786304c8a" /><Relationship Type="http://schemas.openxmlformats.org/officeDocument/2006/relationships/notesMaster" Target="/ppt/notesMasters/notesMaster1.xml" Id="R7e3ca1b045ea43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17a651d8f64526" /><Relationship Type="http://schemas.openxmlformats.org/officeDocument/2006/relationships/notesMaster" Target="/ppt/notesMasters/notesMaster1.xml" Id="R2f1ea138fbb14f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1e827cb08747a6" /><Relationship Type="http://schemas.openxmlformats.org/officeDocument/2006/relationships/notesMaster" Target="/ppt/notesMasters/notesMaster1.xml" Id="R035cee6026704d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301d47421d418c" /><Relationship Type="http://schemas.openxmlformats.org/officeDocument/2006/relationships/notesMaster" Target="/ppt/notesMasters/notesMaster1.xml" Id="Rdb83ac3d49d74e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60409a0a35480e" /><Relationship Type="http://schemas.openxmlformats.org/officeDocument/2006/relationships/notesMaster" Target="/ppt/notesMasters/notesMaster1.xml" Id="Rd24794fb557d4c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1505a44d6442a0" /><Relationship Type="http://schemas.openxmlformats.org/officeDocument/2006/relationships/notesMaster" Target="/ppt/notesMasters/notesMaster1.xml" Id="Rac9753b03acc45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930d96192f4bdc" /><Relationship Type="http://schemas.openxmlformats.org/officeDocument/2006/relationships/notesMaster" Target="/ppt/notesMasters/notesMaster1.xml" Id="R398b1676dd1a48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5238383e914a21" /><Relationship Type="http://schemas.openxmlformats.org/officeDocument/2006/relationships/notesMaster" Target="/ppt/notesMasters/notesMaster1.xml" Id="R392e5d06a6f84d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d4289c71ca4c30" /><Relationship Type="http://schemas.openxmlformats.org/officeDocument/2006/relationships/notesMaster" Target="/ppt/notesMasters/notesMaster1.xml" Id="R1c73c4fd339741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98c3c3913f4df4" /><Relationship Type="http://schemas.openxmlformats.org/officeDocument/2006/relationships/notesMaster" Target="/ppt/notesMasters/notesMaster1.xml" Id="Ra8f823af2ed249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ccac848ffe470b" /><Relationship Type="http://schemas.openxmlformats.org/officeDocument/2006/relationships/notesMaster" Target="/ppt/notesMasters/notesMaster1.xml" Id="R70c97d53065843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f7bebe5b8b4003" /><Relationship Type="http://schemas.openxmlformats.org/officeDocument/2006/relationships/notesMaster" Target="/ppt/notesMasters/notesMaster1.xml" Id="R45eb3baca50e45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54d0d675554905" /><Relationship Type="http://schemas.openxmlformats.org/officeDocument/2006/relationships/notesMaster" Target="/ppt/notesMasters/notesMaster1.xml" Id="R325f041c102445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352253213d4c86" /><Relationship Type="http://schemas.openxmlformats.org/officeDocument/2006/relationships/notesMaster" Target="/ppt/notesMasters/notesMaster1.xml" Id="R222d5634f6c348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039985e3024bc8" /><Relationship Type="http://schemas.openxmlformats.org/officeDocument/2006/relationships/notesMaster" Target="/ppt/notesMasters/notesMaster1.xml" Id="R96e3cb800a8341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01de4803cf4c87" /><Relationship Type="http://schemas.openxmlformats.org/officeDocument/2006/relationships/notesMaster" Target="/ppt/notesMasters/notesMaster1.xml" Id="R03890a9692bd43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655e38b9eb48c6" /><Relationship Type="http://schemas.openxmlformats.org/officeDocument/2006/relationships/notesMaster" Target="/ppt/notesMasters/notesMaster1.xml" Id="R943ac48c473644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06ba7e62354e82" /><Relationship Type="http://schemas.openxmlformats.org/officeDocument/2006/relationships/notesMaster" Target="/ppt/notesMasters/notesMaster1.xml" Id="R3e8e69d7811041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ed1280108c497c" /><Relationship Type="http://schemas.openxmlformats.org/officeDocument/2006/relationships/notesMaster" Target="/ppt/notesMasters/notesMaster1.xml" Id="R822d4310c2054ab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9d52319212403a" /><Relationship Type="http://schemas.openxmlformats.org/officeDocument/2006/relationships/notesMaster" Target="/ppt/notesMasters/notesMaster1.xml" Id="R0aaaa13a4c884a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accompanies the first draft of Project 8 for MTH 9897. It asks whether the Conservative Formula still works. The implementation and displayed numerical outputs currently use seeded synthetic data. State this clearly before discussing any chart. Real CRSP analysis remains the next stage. Suggested talk length: 18 to 22 minutes, plus questions.</a:t>
            </a:r>
          </a:p>
          <a:p xmlns:a="http://schemas.openxmlformats.org/drawingml/2006/main">
            <a:r>
              <a:t>Sources: https://papers.ssrn.com/sol3/papers.cfm?abstract_id=3145152</a:t>
            </a:r>
          </a:p>
          <a:p xmlns:a="http://schemas.openxmlformats.org/drawingml/2006/main">
            <a:r>
              <a:t>Project: https://github.com/yingnichang/MTH9897/tree/main/Final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question is whether combining the signals improves the risk-return tradeoff relative to simple controls. These are hypotheses, not findings. The code can already perform the comparisons. This presentation makes no claim about real investment performance. A favorable demo result would not validate the strategy, and an unfavorable one would not refute the paper.</a:t>
            </a:r>
          </a:p>
          <a:p xmlns:a="http://schemas.openxmlformats.org/drawingml/2006/main">
            <a:r>
              <a:t>Sources: notebook Sections 1 and 12. https://github.com/yingnichang/MTH9897/tree/main/Final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combines simple stock characteristics rather than estimating a complicated forecasting model. This slide presents economic motivations, not proof of causation. Low volatility favors stable stocks, but a defensive portfolio can still become expensive or concentrated. Momentum favors recent winners, but trends can reverse. Shareholder payouts give another way to distinguish firms, but distributions may be unsustainable. Combining the screens is therefore a hypothesis about complementary information. The empirical comparisons will test it. Sources: https://papers.ssrn.com/sol3/papers.cfm?abstract_id=3145152 and https://www.robeco.com/docm/docu-202302-guide-to-conservative-investing.pdf.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paper's full-data recipe starts with the largest 1,000 stocks at each quarter end. Keep the lower-volatility half, rank within that pool on momentum and net payout yield, and equal-weight the best 100. In the notebook, the 1,000-stock cap precedes the complete-case screen. If history is missing, the low-volatility pool may have fewer than 500 names. Formation audits report the actual counts. Do not imply every historical period has all 1,000 eligible stocks.</a:t>
            </a:r>
          </a:p>
          <a:p xmlns:a="http://schemas.openxmlformats.org/drawingml/2006/main">
            <a:r>
              <a:t>Sources: https://papers.ssrn.com/sol3/papers.cfm?abstract_id=3145152</a:t>
            </a:r>
          </a:p>
          <a:p xmlns:a="http://schemas.openxmlformats.org/drawingml/2006/main">
            <a:r>
              <a:t>https://www.robeco.com/docm/docu-202302-guide-to-conservative-investing.pdf</a:t>
            </a:r>
          </a:p>
          <a:p xmlns:a="http://schemas.openxmlformats.org/drawingml/2006/main">
            <a:r>
              <a:t>Notebook Sections 2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Volatility is annualized monthly sample standard deviation over 36 consecutive months. Momentum compounds 11 monthly price returns and skips the formation month. The payout measure uses the trailing twelve-month cash dividend yield plus one minus current adjusted shares divided by their trailing twenty-four-month mean. A falling share count increases this proxy. Dividends, prices, and shares require consistent split adjustments. The proxy needs reconciliation with the instructor or paper implementation before calling the study an exact replication.</a:t>
            </a:r>
          </a:p>
          <a:p xmlns:a="http://schemas.openxmlformats.org/drawingml/2006/main">
            <a:r>
              <a:t>Sources: notebook Sections 2 and 4. https://papers.ssrn.com/sol3/papers.cfm?abstract_id=3145152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invented inputs for an arithmetic example, not observed company data. The draft uses dividend yield plus one minus current adjusted shares divided by the average adjusted share count over twenty-four months. Two dollars in trailing annual dividends divided by a fifty-dollar price gives four percent. A current count of ninety-six million against a hundred-million average adds four percent, making an eight-percent proxy. This is a share-count proxy, not a direct measure of cash spent on repurchases. Split adjustments are essential. Source: notebook Section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December as an example. Volatility includes returns through December, while momentum excludes December and compounds January through November. The portfolio first earns the following January return. The code carries monthly weight drift during the holding quarter. Month-end execution is idealized. A deployable strategy would use a subsequent tradable price and may need further lags for delayed fields. Avoid saying that timing eliminates every possible source of look-ahead bias.</a:t>
            </a:r>
          </a:p>
          <a:p xmlns:a="http://schemas.openxmlformats.org/drawingml/2006/main">
            <a:r>
              <a:t>Source: notebook Sections 2, 4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clarity, imagine four stocks have already passed the volatility filter and we can choose only two. Rank one is best. We give equal importance to the momentum and payout ranks, then choose the smallest average. Stock C scores one point five and stock B scores two, so they win. Their equal initial weights are fifty percent in this small example. The actual baseline selects one hundred names with one percent starting weights. These values are invented to explain the mechanics. Source: notebook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asks for CRSP performance beginning in 1929. Three years of earlier return history are needed for the first formation. The delivered draft instead uses 1,100 artificial securities from 2000 through 2025, with the first investment month in January 2003. There are no real delistings in the synthetic panel. The notebook tests terminal settlement separately using a hand-computed example. Do not confuse the scenario dates with observed market crises. The existing workspace bond files cannot support this equity study.</a:t>
            </a:r>
          </a:p>
          <a:p xmlns:a="http://schemas.openxmlformats.org/drawingml/2006/main">
            <a:r>
              <a:t>Sources: course brief pages 1 and 5. Notebook Sections 2 and 3. https://www.crsp.org/wp-content/uploads/guides/CRSP_US_Stock_%26_Indexes_Databases_Summary_of_CIZ_Differences_to_Legacy_Files.pdf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data preparation is central to this replication. A current-constituent sample omits companies that failed or left the market. Future classifications or later-revised signals can introduce information that was unavailable when trading. A raw share split can falsely imply issuance or repurchases. Missing months must invalidate full rolling windows rather than stretch a thirty-six-observation window across a longer calendar period. Finally, an exit return should be included once, using the correct database convention. Sources: notebook Section 3 and https://www.crsp.org/wp-content/uploads/guides/CRSP_US_Stock_%26_Indexes_Databases_Summary_of_CIZ_Differences_to_Legacy_Files.pdf.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Between quarterly rebalances, stock weights drift with total returns. The next rebalance compares target weights with the drifted holdings. Traded stock notional sums buys and sells, including the initial purchase. The engine subtracts a proportional cost haircut before the next monthly return. A full replacement has two units of traded notional. Terminal proceeds earn the audited final return and then move to cash. Unknown held-stock returns raise an exception. This is a research cost approximation and excludes taxes and nonlinear impact.</a:t>
            </a:r>
          </a:p>
          <a:p xmlns:a="http://schemas.openxmlformats.org/drawingml/2006/main">
            <a:r>
              <a:t>Source: notebook Sections 6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invented one-month example explains the cost convention. A portfolio sells twenty percent of NAV and buys twenty percent, for forty percent total traded stock notional. At ten basis points for each dollar traded, the charge is four basis points of NAV. If the subsequent gross monthly return is two percent, net growth is zero point nine nine nine six times one point zero two, giving one point nine five nine two percent. The model treats costs as a proportional haircut. It does not estimate spreads or nonlinear market impact. Source: notebook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formula is the baseline. Dropping one signal at a time estimates its incremental contribution within this particular design. The signal strategies share a common complete-case sample and portfolio size. Separate universe benchmarks distinguish stock selection from equal weighting. The paper sample through 2016, the 2017–2018 transition, and the period from 2019 onward are fixed comparisons. A historical post-publication period is not an untouched prospective holdout for a researcher working in 2026.</a:t>
            </a:r>
          </a:p>
          <a:p xmlns:a="http://schemas.openxmlformats.org/drawingml/2006/main">
            <a:r>
              <a:t>Source: notebook Sections 5 and 9–11.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paper ends in 2016. The notebook separates that historical sample from the 2017–2018 transition and from 2019 onward. The synthetic demonstration only has investable returns from 2003, so it cannot reproduce the paper's complete period. All parameters remain unchanged between periods. A post-publication sample can help assess decay, but by 2026 it is historical information rather than an untouched prospective holdout. Source: notebook Section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line on this slide comes from artificial data. We start at one dollar in December 2002 and show year-end wealth from compounded monthly returns through December 2025. The strategies pay ten basis points per dollar traded. The synthetic market benchmark is gross of implementation costs. Annual sampling reduces clutter and is not an annual rebalancing assumption. These curves show how the reporting works and cannot establish an investment premium.</a:t>
            </a:r>
          </a:p>
          <a:p xmlns:a="http://schemas.openxmlformats.org/drawingml/2006/main">
            <a:r>
              <a:t>Source: slide_data.json, annual_wealth, generated from synthetic_demo_monthly_returns.csv. Seed 9897.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CAGR measures the constant annual rate that produces the same compounded ending wealth. Volatility describes return dispersion but does not fully measure tail risk. Sharpe compares excess return with its variability and depends on the selected risk-free series. Maximum drawdown is the worst fall from an earlier wealth peak, including the initial value. Turnover measures trading intensity, not a direct cost by itself. None of these descriptive statistics alone establishes statistical significance. Source: notebook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descriptive results over 276 synthetic investment months. CAGR compounds monthly returns. Annualized volatility scales monthly standard deviation by square root of twelve. Sharpe subtracts the supplied monthly risk-free return, which is 0.15 percent each month in the demo. Maximum drawdown includes initial wealth. Even if a row looks favorable, it is not a finding about CRSP stocks. All strategy figures include ten basis points per dollar traded, while the market row does not pay an execution charge.</a:t>
            </a:r>
          </a:p>
          <a:p xmlns:a="http://schemas.openxmlformats.org/drawingml/2006/main">
            <a:r>
              <a:t>Source: slide_data.json, performance, from synthetic_demo_performance.csv.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illustrates the proposed ablation test. The chart shows annualized Sharpe ratios for the full combination and versions that remove one component. The simulated differences are small and do not prove any signal adds or subtracts value in real markets. In the empirical study, discuss uncertainty, drawdowns, turnover, and changes in exposures alongside Sharpe. These comparisons should use pre-specified rules rather than searching for the best-looking variation.</a:t>
            </a:r>
          </a:p>
          <a:p xmlns:a="http://schemas.openxmlformats.org/drawingml/2006/main">
            <a:r>
              <a:t>Source: slide_data.json, performance. All values refer to 2003–2025 synthetic returns with 10 bps trading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positions stay fixed across all four scenarios. Costs increase from zero to fifty basis points per dollar bought or sold. The downward change in compounded return demonstrates the cost accounting, not a measured historical cost curve. In real data, estimate turnover and consider spreads and market impact by period and trade size. The simulator currently uses a proportional cost haircut and omits taxes and nonlinear execution effects.</a:t>
            </a:r>
          </a:p>
          <a:p xmlns:a="http://schemas.openxmlformats.org/drawingml/2006/main">
            <a:r>
              <a:t>Source: slide_data.json, costs, from synthetic_demo_cost_sensitivity.csv.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comparisons describe artificial returns only. The full formula has a higher compounded growth rate than the low-volatility-only portfolio in this simulation, but the latter has a slightly higher Sharpe ratio and a smaller drawdown. That is why higher absolute return alone cannot establish an overall improvement. Increasing assumed costs reduces the full formula's CAGR. Historical evidence and uncertainty estimates are still required. Source: slide_data.json, performance and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now has a transparent implementation and pre-specified extensions. It does not yet answer whether the strategy works. The next stage is to assemble audited CRSP history, reconcile the payout definition, and repeat the experiments. After that, add factor attribution and robust uncertainty estimates. Sector constraints are an optional extension after the baseline. A final presentation should replace the synthetic results with empirical outputs and revise the conclusion accordingly.</a:t>
            </a:r>
          </a:p>
          <a:p xmlns:a="http://schemas.openxmlformats.org/drawingml/2006/main">
            <a:r>
              <a:t>Source: notebook Sections 12 and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paper: Pim van Vliet and David Blitz, March 2018 working paper, The Conservative Formula: Quantitative Investing Made Easy, SSRN 3145152. The published Journal of Portfolio Management version lists David Blitz and Pim van Vliet, volume 44, issue 7. Supporting overview: Robeco, The Introductory Guide to Conservative Investing, 2023. Data conventions: CRSP Summary of CIZ Differences to Legacy Files. Course source: MTH 9897 Final Projects 2026, pages 1 and 5.</a:t>
            </a:r>
          </a:p>
          <a:p xmlns:a="http://schemas.openxmlformats.org/drawingml/2006/main">
            <a:r>
              <a:t>https://papers.ssrn.com/sol3/papers.cfm?abstract_id=3145152</a:t>
            </a:r>
          </a:p>
          <a:p xmlns:a="http://schemas.openxmlformats.org/drawingml/2006/main">
            <a:r>
              <a:t>https://www.robeco.com/docm/docu-202302-guide-to-conservative-investing.pdf</a:t>
            </a:r>
          </a:p>
          <a:p xmlns:a="http://schemas.openxmlformats.org/drawingml/2006/main">
            <a:r>
              <a:t>https://www.crsp.org/wp-content/uploads/guides/CRSP_US_Stock_%26_Indexes_Databases_Summary_of_CIZ_Differences_to_Legacy_Files.pdf</a:t>
            </a:r>
          </a:p>
          <a:p xmlns:a="http://schemas.openxmlformats.org/drawingml/2006/main">
            <a:r>
              <a:t>https://github.com/yingnichang/MTH9897/tree/main/Final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0e575bd9534a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f420484fc44c12" /><Relationship Type="http://schemas.openxmlformats.org/officeDocument/2006/relationships/slideLayout" Target="/ppt/slideLayouts/slideLayout1.xml" Id="R1d506c0fd22d42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506c0fd22d42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6aabd4f0204c1f" /><Relationship Type="http://schemas.openxmlformats.org/officeDocument/2006/relationships/notesSlide" Target="/ppt/notesSlides/notesSlide1.xml" Id="R72ee18ffbc0c42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5a9816f5de4c87" /><Relationship Type="http://schemas.openxmlformats.org/officeDocument/2006/relationships/notesSlide" Target="/ppt/notesSlides/notesSlide2.xml" Id="R7e7229a46c2a44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f2650103f341c2" /><Relationship Type="http://schemas.openxmlformats.org/officeDocument/2006/relationships/notesSlide" Target="/ppt/notesSlides/notesSlide3.xml" Id="Rf20326d92d1d41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a09af2abfb4ec4" /><Relationship Type="http://schemas.openxmlformats.org/officeDocument/2006/relationships/notesSlide" Target="/ppt/notesSlides/notesSlide4.xml" Id="R352045d37a4248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340ca016584d9f" /><Relationship Type="http://schemas.openxmlformats.org/officeDocument/2006/relationships/notesSlide" Target="/ppt/notesSlides/notesSlide5.xml" Id="Ra0283cd411524d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c0f5fb36c04bfc" /><Relationship Type="http://schemas.openxmlformats.org/officeDocument/2006/relationships/notesSlide" Target="/ppt/notesSlides/notesSlide6.xml" Id="Rd4b95369fd384b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c47e8034b34959" /><Relationship Type="http://schemas.openxmlformats.org/officeDocument/2006/relationships/notesSlide" Target="/ppt/notesSlides/notesSlide7.xml" Id="R393395cd1cf842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19988888e847d0" /><Relationship Type="http://schemas.openxmlformats.org/officeDocument/2006/relationships/notesSlide" Target="/ppt/notesSlides/notesSlide8.xml" Id="R991668d18ad44c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789f682ad34f7b" /><Relationship Type="http://schemas.openxmlformats.org/officeDocument/2006/relationships/notesSlide" Target="/ppt/notesSlides/notesSlide9.xml" Id="Ra571c1a50d5544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9765d0148b496d" /><Relationship Type="http://schemas.openxmlformats.org/officeDocument/2006/relationships/notesSlide" Target="/ppt/notesSlides/notesSlide10.xml" Id="Ra9a80fc4f7a44e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729f2ce14341b6" /><Relationship Type="http://schemas.openxmlformats.org/officeDocument/2006/relationships/notesSlide" Target="/ppt/notesSlides/notesSlide11.xml" Id="R0e46b6aeb50648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4c4fe4766942dd" /><Relationship Type="http://schemas.openxmlformats.org/officeDocument/2006/relationships/notesSlide" Target="/ppt/notesSlides/notesSlide12.xml" Id="R7c908f123a4a4f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1bf9c53deb41e2" /><Relationship Type="http://schemas.openxmlformats.org/officeDocument/2006/relationships/notesSlide" Target="/ppt/notesSlides/notesSlide13.xml" Id="R19a1da0e8b9344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8da08eb5534b8c" /><Relationship Type="http://schemas.openxmlformats.org/officeDocument/2006/relationships/notesSlide" Target="/ppt/notesSlides/notesSlide14.xml" Id="R768b84175bd942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09cd35fffa4938" /><Relationship Type="http://schemas.openxmlformats.org/officeDocument/2006/relationships/chart" Target="/ppt/slides/charts/chart1.xml" Id="Rd7ba26dc71ec4d6f" /><Relationship Type="http://schemas.openxmlformats.org/officeDocument/2006/relationships/notesSlide" Target="/ppt/notesSlides/notesSlide15.xml" Id="R1407d608286344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784ccb45f6454a" /><Relationship Type="http://schemas.openxmlformats.org/officeDocument/2006/relationships/notesSlide" Target="/ppt/notesSlides/notesSlide16.xml" Id="Ra51053d234364d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2b2a6f6a8ce4b69" /><Relationship Type="http://schemas.openxmlformats.org/officeDocument/2006/relationships/notesSlide" Target="/ppt/notesSlides/notesSlide17.xml" Id="Ra1b2a94a8b02445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e5c72a4cc342e1" /><Relationship Type="http://schemas.openxmlformats.org/officeDocument/2006/relationships/chart" Target="/ppt/slides/charts/chart2.xml" Id="R8a1254ab4eaf468d" /><Relationship Type="http://schemas.openxmlformats.org/officeDocument/2006/relationships/notesSlide" Target="/ppt/notesSlides/notesSlide18.xml" Id="Rafd3defddbf541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ab3fe7488c6421a" /><Relationship Type="http://schemas.openxmlformats.org/officeDocument/2006/relationships/chart" Target="/ppt/slides/charts/chart3.xml" Id="Rc544017bc1e14fa4" /><Relationship Type="http://schemas.openxmlformats.org/officeDocument/2006/relationships/notesSlide" Target="/ppt/notesSlides/notesSlide19.xml" Id="R672a0a7bdd3b4a2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f15f35e58a746be" /><Relationship Type="http://schemas.openxmlformats.org/officeDocument/2006/relationships/notesSlide" Target="/ppt/notesSlides/notesSlide20.xml" Id="R8f60c3f59fb245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ef1b96b96ae4717" /><Relationship Type="http://schemas.openxmlformats.org/officeDocument/2006/relationships/notesSlide" Target="/ppt/notesSlides/notesSlide21.xml" Id="Re0fa6479b26346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64d47b2a0c44bae" /><Relationship Type="http://schemas.openxmlformats.org/officeDocument/2006/relationships/notesSlide" Target="/ppt/notesSlides/notesSlide22.xml" Id="Ref9a453d0adb43c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Conservative</c:v>
          </c:tx>
          <c:spPr>
            <a:ln xmlns:a="http://schemas.openxmlformats.org/drawingml/2006/main" w="28575">
              <a:solidFill>
                <a:srgbClr val="137D8D"/>
              </a:solidFill>
            </a:ln>
          </c:spPr>
          <c:marker>
            <c:symbol val="none"/>
          </c:marker>
          <c:cat>
            <c:numRef>
              <c:f>'Chart Data'!$A$2:$A$25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Data'!$B$2:$B$25</c:f>
              <c:numCache>
                <c:formatCode>0.0</c:formatCode>
                <c:ptCount val="24"/>
                <c:pt idx="0">
                  <c:v>1</c:v>
                </c:pt>
                <c:pt idx="1">
                  <c:v>1.0581492882</c:v>
                </c:pt>
                <c:pt idx="2">
                  <c:v>0.9754860381</c:v>
                </c:pt>
                <c:pt idx="3">
                  <c:v>0.8137405874</c:v>
                </c:pt>
                <c:pt idx="4">
                  <c:v>0.7696689524</c:v>
                </c:pt>
                <c:pt idx="5">
                  <c:v>0.6966507158</c:v>
                </c:pt>
                <c:pt idx="6">
                  <c:v>0.8795147413</c:v>
                </c:pt>
                <c:pt idx="7">
                  <c:v>0.9729342627</c:v>
                </c:pt>
                <c:pt idx="8">
                  <c:v>1.6805390564</c:v>
                </c:pt>
                <c:pt idx="9">
                  <c:v>1.9746582735</c:v>
                </c:pt>
                <c:pt idx="10">
                  <c:v>2.3186578952</c:v>
                </c:pt>
                <c:pt idx="11">
                  <c:v>2.1155365648</c:v>
                </c:pt>
                <c:pt idx="12">
                  <c:v>2.3856389786</c:v>
                </c:pt>
                <c:pt idx="13">
                  <c:v>2.3330101468</c:v>
                </c:pt>
                <c:pt idx="14">
                  <c:v>2.1168846531</c:v>
                </c:pt>
                <c:pt idx="15">
                  <c:v>2.3247327302</c:v>
                </c:pt>
                <c:pt idx="16">
                  <c:v>2.3288214831</c:v>
                </c:pt>
                <c:pt idx="17">
                  <c:v>2.8476824661</c:v>
                </c:pt>
                <c:pt idx="18">
                  <c:v>2.6188216195</c:v>
                </c:pt>
                <c:pt idx="19">
                  <c:v>2.6605405072</c:v>
                </c:pt>
                <c:pt idx="20">
                  <c:v>3.2151773408</c:v>
                </c:pt>
                <c:pt idx="21">
                  <c:v>3.5059001518</c:v>
                </c:pt>
                <c:pt idx="22">
                  <c:v>3.347315421</c:v>
                </c:pt>
                <c:pt idx="23">
                  <c:v>3.5455121475</c:v>
                </c:pt>
              </c:numCache>
            </c:numRef>
          </c:val>
          <c:smooth val="0"/>
        </c:ser>
        <c:ser>
          <c:idx val="1"/>
          <c:order val="1"/>
          <c:tx>
            <c:v>Low volatility only</c:v>
          </c:tx>
          <c:spPr>
            <a:ln xmlns:a="http://schemas.openxmlformats.org/drawingml/2006/main" w="28575">
              <a:solidFill>
                <a:srgbClr val="A86F2A"/>
              </a:solidFill>
            </a:ln>
          </c:spPr>
          <c:marker>
            <c:symbol val="none"/>
          </c:marker>
          <c:cat>
            <c:numRef>
              <c:f>'Chart Data'!$C$2:$C$25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Data'!$D$2:$D$25</c:f>
              <c:numCache>
                <c:formatCode>0.0</c:formatCode>
                <c:ptCount val="24"/>
                <c:pt idx="0">
                  <c:v>1</c:v>
                </c:pt>
                <c:pt idx="1">
                  <c:v>1.0703967544</c:v>
                </c:pt>
                <c:pt idx="2">
                  <c:v>1.018504118</c:v>
                </c:pt>
                <c:pt idx="3">
                  <c:v>0.8793827941</c:v>
                </c:pt>
                <c:pt idx="4">
                  <c:v>0.8640302628</c:v>
                </c:pt>
                <c:pt idx="5">
                  <c:v>0.8250871793</c:v>
                </c:pt>
                <c:pt idx="6">
                  <c:v>1.0023697831</c:v>
                </c:pt>
                <c:pt idx="7">
                  <c:v>1.0882683659</c:v>
                </c:pt>
                <c:pt idx="8">
                  <c:v>1.5925116938</c:v>
                </c:pt>
                <c:pt idx="9">
                  <c:v>1.7710999084</c:v>
                </c:pt>
                <c:pt idx="10">
                  <c:v>1.9515079262</c:v>
                </c:pt>
                <c:pt idx="11">
                  <c:v>1.8213078534</c:v>
                </c:pt>
                <c:pt idx="12">
                  <c:v>1.9819096591</c:v>
                </c:pt>
                <c:pt idx="13">
                  <c:v>1.9948875226</c:v>
                </c:pt>
                <c:pt idx="14">
                  <c:v>1.9064252771</c:v>
                </c:pt>
                <c:pt idx="15">
                  <c:v>2.1061187814</c:v>
                </c:pt>
                <c:pt idx="16">
                  <c:v>2.1555316316</c:v>
                </c:pt>
                <c:pt idx="17">
                  <c:v>2.4839698193</c:v>
                </c:pt>
                <c:pt idx="18">
                  <c:v>2.3550012926</c:v>
                </c:pt>
                <c:pt idx="19">
                  <c:v>2.3739922702</c:v>
                </c:pt>
                <c:pt idx="20">
                  <c:v>2.782567453</c:v>
                </c:pt>
                <c:pt idx="21">
                  <c:v>2.9052935572</c:v>
                </c:pt>
                <c:pt idx="22">
                  <c:v>2.8267778694</c:v>
                </c:pt>
                <c:pt idx="23">
                  <c:v>3.0118659189</c:v>
                </c:pt>
              </c:numCache>
            </c:numRef>
          </c:val>
          <c:smooth val="0"/>
        </c:ser>
        <c:ser>
          <c:idx val="2"/>
          <c:order val="2"/>
          <c:tx>
            <c:v>Universe equal weight</c:v>
          </c:tx>
          <c:spPr>
            <a:ln xmlns:a="http://schemas.openxmlformats.org/drawingml/2006/main" w="28575">
              <a:solidFill>
                <a:srgbClr val="82989D"/>
              </a:solidFill>
            </a:ln>
          </c:spPr>
          <c:marker>
            <c:symbol val="none"/>
          </c:marker>
          <c:cat>
            <c:numRef>
              <c:f>'Chart Data'!$E$2:$E$25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Data'!$F$2:$F$25</c:f>
              <c:numCache>
                <c:formatCode>0.0</c:formatCode>
                <c:ptCount val="24"/>
                <c:pt idx="0">
                  <c:v>1</c:v>
                </c:pt>
                <c:pt idx="1">
                  <c:v>1.0877830969</c:v>
                </c:pt>
                <c:pt idx="2">
                  <c:v>1.007593862</c:v>
                </c:pt>
                <c:pt idx="3">
                  <c:v>0.8050720204</c:v>
                </c:pt>
                <c:pt idx="4">
                  <c:v>0.7819677925</c:v>
                </c:pt>
                <c:pt idx="5">
                  <c:v>0.7181465726</c:v>
                </c:pt>
                <c:pt idx="6">
                  <c:v>0.9462059653</c:v>
                </c:pt>
                <c:pt idx="7">
                  <c:v>1.0553301507</c:v>
                </c:pt>
                <c:pt idx="8">
                  <c:v>1.7634321698</c:v>
                </c:pt>
                <c:pt idx="9">
                  <c:v>2.031813877</c:v>
                </c:pt>
                <c:pt idx="10">
                  <c:v>2.3610164332</c:v>
                </c:pt>
                <c:pt idx="11">
                  <c:v>2.1319539062</c:v>
                </c:pt>
                <c:pt idx="12">
                  <c:v>2.4033670766</c:v>
                </c:pt>
                <c:pt idx="13">
                  <c:v>2.3746889569</c:v>
                </c:pt>
                <c:pt idx="14">
                  <c:v>2.1637341577</c:v>
                </c:pt>
                <c:pt idx="15">
                  <c:v>2.4350056525</c:v>
                </c:pt>
                <c:pt idx="16">
                  <c:v>2.4694543395</c:v>
                </c:pt>
                <c:pt idx="17">
                  <c:v>3.0581353177</c:v>
                </c:pt>
                <c:pt idx="18">
                  <c:v>2.8013101962</c:v>
                </c:pt>
                <c:pt idx="19">
                  <c:v>2.8903650415</c:v>
                </c:pt>
                <c:pt idx="20">
                  <c:v>3.4940471993</c:v>
                </c:pt>
                <c:pt idx="21">
                  <c:v>3.7123344264</c:v>
                </c:pt>
                <c:pt idx="22">
                  <c:v>3.5504572225</c:v>
                </c:pt>
                <c:pt idx="23">
                  <c:v>3.8423215016</c:v>
                </c:pt>
              </c:numCache>
            </c:numRef>
          </c:val>
          <c:smooth val="0"/>
        </c:ser>
        <c:ser>
          <c:idx val="3"/>
          <c:order val="3"/>
          <c:tx>
            <c:v>Market</c:v>
          </c:tx>
          <c:spPr>
            <a:ln xmlns:a="http://schemas.openxmlformats.org/drawingml/2006/main" w="28575">
              <a:solidFill>
                <a:srgbClr val="152D3B"/>
              </a:solidFill>
            </a:ln>
          </c:spPr>
          <c:marker>
            <c:symbol val="none"/>
          </c:marker>
          <c:cat>
            <c:numRef>
              <c:f>'Chart Data'!$G$2:$G$25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Data'!$H$2:$H$25</c:f>
              <c:numCache>
                <c:formatCode>0.0</c:formatCode>
                <c:ptCount val="24"/>
                <c:pt idx="0">
                  <c:v>1</c:v>
                </c:pt>
                <c:pt idx="1">
                  <c:v>1.0704274396</c:v>
                </c:pt>
                <c:pt idx="2">
                  <c:v>0.9833388318</c:v>
                </c:pt>
                <c:pt idx="3">
                  <c:v>0.7790071296</c:v>
                </c:pt>
                <c:pt idx="4">
                  <c:v>0.7491588071</c:v>
                </c:pt>
                <c:pt idx="5">
                  <c:v>0.6834469618</c:v>
                </c:pt>
                <c:pt idx="6">
                  <c:v>0.893202834</c:v>
                </c:pt>
                <c:pt idx="7">
                  <c:v>0.9779613388</c:v>
                </c:pt>
                <c:pt idx="8">
                  <c:v>1.6163472564</c:v>
                </c:pt>
                <c:pt idx="9">
                  <c:v>1.8450380564</c:v>
                </c:pt>
                <c:pt idx="10">
                  <c:v>2.1173741595</c:v>
                </c:pt>
                <c:pt idx="11">
                  <c:v>1.8928102517</c:v>
                </c:pt>
                <c:pt idx="12">
                  <c:v>2.1007311667</c:v>
                </c:pt>
                <c:pt idx="13">
                  <c:v>2.0556740945</c:v>
                </c:pt>
                <c:pt idx="14">
                  <c:v>1.8728031111</c:v>
                </c:pt>
                <c:pt idx="15">
                  <c:v>2.080343837</c:v>
                </c:pt>
                <c:pt idx="16">
                  <c:v>2.0469646433</c:v>
                </c:pt>
                <c:pt idx="17">
                  <c:v>2.5004912702</c:v>
                </c:pt>
                <c:pt idx="18">
                  <c:v>2.2606737683</c:v>
                </c:pt>
                <c:pt idx="19">
                  <c:v>2.2719432047</c:v>
                </c:pt>
                <c:pt idx="20">
                  <c:v>2.7083454079</c:v>
                </c:pt>
                <c:pt idx="21">
                  <c:v>2.8406564888</c:v>
                </c:pt>
                <c:pt idx="22">
                  <c:v>2.6952181112</c:v>
                </c:pt>
                <c:pt idx="23">
                  <c:v>2.9080167173</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13A47"/>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1E7EA"/>
              </a:solidFill>
            </a:ln>
          </c:spPr>
        </c:majorGridlines>
        <c:title>
          <c:tx>
            <c:rich>
              <a:bodyPr xmlns:a="http://schemas.openxmlformats.org/drawingml/2006/main"/>
              <a:lstStyle xmlns:a="http://schemas.openxmlformats.org/drawingml/2006/main"/>
              <a:p xmlns:a="http://schemas.openxmlformats.org/drawingml/2006/main">
                <a:r>
                  <a:rPr sz="1650">
                    <a:solidFill>
                      <a:srgbClr val="213A47"/>
                    </a:solidFill>
                    <a:latin typeface="Arial"/>
                    <a:ea typeface="Arial"/>
                    <a:cs typeface="Arial"/>
                  </a:rPr>
                  <a:t>Growth of $1</a:t>
                </a:r>
              </a:p>
            </c:rich>
          </c:tx>
          <c:overlay val="0"/>
          <c:txPr>
            <a:bodyPr xmlns:a="http://schemas.openxmlformats.org/drawingml/2006/main" anchorCtr="1"/>
            <a:lstStyle xmlns:a="http://schemas.openxmlformats.org/drawingml/2006/main"/>
            <a:p xmlns:a="http://schemas.openxmlformats.org/drawingml/2006/main">
              <a:pPr>
                <a:defRPr sz="1650">
                  <a:solidFill>
                    <a:srgbClr val="213A4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13A4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13A4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Annualized Sharpe</c:v>
          </c:tx>
          <c:spPr>
            <a:solidFill xmlns:a="http://schemas.openxmlformats.org/drawingml/2006/main">
              <a:srgbClr val="137D8D"/>
            </a:solidFill>
          </c:spPr>
          <c:cat>
            <c:strRef>
              <c:f>'Chart Data'!$A$2:$A$5</c:f>
              <c:strCache>
                <c:ptCount val="4"/>
                <c:pt idx="0">
                  <c:v>Conservative</c:v>
                </c:pt>
                <c:pt idx="1">
                  <c:v>No momentum</c:v>
                </c:pt>
                <c:pt idx="2">
                  <c:v>No payout</c:v>
                </c:pt>
                <c:pt idx="3">
                  <c:v>No low-vol screen</c:v>
                </c:pt>
              </c:strCache>
            </c:strRef>
          </c:cat>
          <c:val>
            <c:numRef>
              <c:f>'Chart Data'!$B$2:$B$5</c:f>
              <c:numCache>
                <c:formatCode>0.00</c:formatCode>
                <c:ptCount val="4"/>
                <c:pt idx="0">
                  <c:v>0.3405303511</c:v>
                </c:pt>
                <c:pt idx="1">
                  <c:v>0.3141471833</c:v>
                </c:pt>
                <c:pt idx="2">
                  <c:v>0.3511242033</c:v>
                </c:pt>
                <c:pt idx="3">
                  <c:v>0.3233518295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13A47"/>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AD2"/>
            </a:solidFill>
          </a:ln>
        </c:spPr>
        <c:txPr>
          <a:bodyPr xmlns:a="http://schemas.openxmlformats.org/drawingml/2006/main" anchorCtr="1"/>
          <a:lstStyle xmlns:a="http://schemas.openxmlformats.org/drawingml/2006/main"/>
          <a:p xmlns:a="http://schemas.openxmlformats.org/drawingml/2006/main">
            <a:pPr>
              <a:defRPr sz="1650">
                <a:solidFill>
                  <a:srgbClr val="213A47"/>
                </a:solidFill>
                <a:latin typeface="Arial"/>
                <a:ea typeface="Arial"/>
                <a:cs typeface="Arial"/>
              </a:defRPr>
            </a:pPr>
          </a:p>
        </c:txPr>
        <c:crossAx val="48672768"/>
      </c:catAx>
      <c:valAx>
        <c:axId val="48672768"/>
        <c:scaling>
          <c:orientation val="minMax"/>
          <c:max val="0.45"/>
          <c:min val="0"/>
        </c:scaling>
        <c:delete val="0"/>
        <c:axPos val="l"/>
        <c:majorGridlines>
          <c:spPr>
            <a:ln xmlns:a="http://schemas.openxmlformats.org/drawingml/2006/main" w="9525">
              <a:solidFill>
                <a:srgbClr val="E1E7EA"/>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13A47"/>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CAGR</c:v>
          </c:tx>
          <c:spPr>
            <a:solidFill xmlns:a="http://schemas.openxmlformats.org/drawingml/2006/main">
              <a:srgbClr val="137D8D"/>
            </a:solidFill>
          </c:spPr>
          <c:cat>
            <c:strRef>
              <c:f>'Chart Data'!$A$2:$A$5</c:f>
              <c:strCache>
                <c:ptCount val="4"/>
                <c:pt idx="0">
                  <c:v>0 bps</c:v>
                </c:pt>
                <c:pt idx="1">
                  <c:v>10 bps</c:v>
                </c:pt>
                <c:pt idx="2">
                  <c:v>25 bps</c:v>
                </c:pt>
                <c:pt idx="3">
                  <c:v>50 bps</c:v>
                </c:pt>
              </c:strCache>
            </c:strRef>
          </c:cat>
          <c:val>
            <c:numRef>
              <c:f>'Chart Data'!$B$2:$B$5</c:f>
              <c:numCache>
                <c:formatCode>0.00%</c:formatCode>
                <c:ptCount val="4"/>
                <c:pt idx="0">
                  <c:v>0.0598875689</c:v>
                </c:pt>
                <c:pt idx="1">
                  <c:v>0.0565719723</c:v>
                </c:pt>
                <c:pt idx="2">
                  <c:v>0.0516131182</c:v>
                </c:pt>
                <c:pt idx="3">
                  <c:v>0.0433870357</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13A47"/>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AD2"/>
            </a:solidFill>
          </a:ln>
        </c:spPr>
        <c:txPr>
          <a:bodyPr xmlns:a="http://schemas.openxmlformats.org/drawingml/2006/main" anchorCtr="1"/>
          <a:lstStyle xmlns:a="http://schemas.openxmlformats.org/drawingml/2006/main"/>
          <a:p xmlns:a="http://schemas.openxmlformats.org/drawingml/2006/main">
            <a:pPr>
              <a:defRPr sz="1650">
                <a:solidFill>
                  <a:srgbClr val="213A47"/>
                </a:solidFill>
                <a:latin typeface="Arial"/>
                <a:ea typeface="Arial"/>
                <a:cs typeface="Arial"/>
              </a:defRPr>
            </a:pPr>
          </a:p>
        </c:txPr>
        <c:crossAx val="48672768"/>
      </c:catAx>
      <c:valAx>
        <c:axId val="48672768"/>
        <c:scaling>
          <c:orientation val="minMax"/>
          <c:max val="0.075"/>
          <c:min val="0"/>
        </c:scaling>
        <c:delete val="0"/>
        <c:axPos val="l"/>
        <c:majorGridlines>
          <c:spPr>
            <a:ln xmlns:a="http://schemas.openxmlformats.org/drawingml/2006/main" w="9525">
              <a:solidFill>
                <a:srgbClr val="E1E7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13A47"/>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D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13183F-9DC8-4AB8-81BF-1F190FE1E4E2}"/>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AD2"/>
                </a:solidFill>
                <a:latin typeface="Arial"/>
                <a:ea typeface="Arial"/>
                <a:cs typeface="Arial"/>
              </a:defRPr>
            </a:pPr>
            <a:r>
              <a:rPr sz="1275" b="0">
                <a:solidFill>
                  <a:srgbClr val="B8CAD2"/>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33C77655-F483-4D31-94C1-120D74AFF6A2}"/>
              </a:ext>
            </a:extLst>
          </p:cNvPr>
          <p:cNvSpPr>
            <a:spLocks xmlns:a="http://schemas.openxmlformats.org/drawingml/2006/main" noGrp="1"/>
          </p:cNvSpPr>
          <p:nvPr/>
        </p:nvSpPr>
        <p:spPr>
          <a:xfrm xmlns:a="http://schemas.openxmlformats.org/drawingml/2006/main">
            <a:off x="609600" y="12668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Does the Conservative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Formula still work?</a:t>
            </a:r>
          </a:p>
        </p:txBody>
      </p:sp>
      <p:sp>
        <p:nvSpPr>
          <p:cNvPr id="3" name="">
            <a:extLst xmlns:a="http://schemas.openxmlformats.org/drawingml/2006/main">
              <a:ext uri="{FF2B5EF4-FFF2-40B4-BE49-F238E27FC236}">
                <a16:creationId xmlns:a16="http://schemas.microsoft.com/office/drawing/2014/main" id="{35F3A014-F416-413B-8588-7B164878C674}"/>
              </a:ext>
            </a:extLst>
          </p:cNvPr>
          <p:cNvSpPr>
            <a:spLocks xmlns:a="http://schemas.openxmlformats.org/drawingml/2006/main" noGrp="1"/>
          </p:cNvSpPr>
          <p:nvPr/>
        </p:nvSpPr>
        <p:spPr>
          <a:xfrm xmlns:a="http://schemas.openxmlformats.org/drawingml/2006/main">
            <a:off x="647700" y="3352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8D5DD"/>
                </a:solidFill>
                <a:latin typeface="Arial"/>
                <a:ea typeface="Arial"/>
                <a:cs typeface="Arial"/>
              </a:defRPr>
            </a:pPr>
            <a:r>
              <a:rPr sz="2550" b="0">
                <a:solidFill>
                  <a:srgbClr val="B8D5DD"/>
                </a:solidFill>
                <a:latin typeface="Arial"/>
                <a:ea typeface="Arial"/>
                <a:cs typeface="Arial"/>
              </a:rPr>
              <a:t>Replication design and extensions</a:t>
            </a:r>
          </a:p>
        </p:txBody>
      </p:sp>
      <p:sp>
        <p:nvSpPr>
          <p:cNvPr id="4" name="">
            <a:extLst xmlns:a="http://schemas.openxmlformats.org/drawingml/2006/main">
              <a:ext uri="{FF2B5EF4-FFF2-40B4-BE49-F238E27FC236}">
                <a16:creationId xmlns:a16="http://schemas.microsoft.com/office/drawing/2014/main" id="{24EF71D5-CD31-4E44-BED3-3F6CA778E44F}"/>
              </a:ext>
            </a:extLst>
          </p:cNvPr>
          <p:cNvSpPr>
            <a:spLocks xmlns:a="http://schemas.openxmlformats.org/drawingml/2006/main" noGrp="1"/>
          </p:cNvSpPr>
          <p:nvPr/>
        </p:nvSpPr>
        <p:spPr>
          <a:xfrm xmlns:a="http://schemas.openxmlformats.org/drawingml/2006/main">
            <a:off x="647700" y="42767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MTH 9897  /  Project 8</a:t>
            </a:r>
          </a:p>
        </p:txBody>
      </p:sp>
      <p:sp>
        <p:nvSpPr>
          <p:cNvPr id="5" name="">
            <a:extLst xmlns:a="http://schemas.openxmlformats.org/drawingml/2006/main">
              <a:ext uri="{FF2B5EF4-FFF2-40B4-BE49-F238E27FC236}">
                <a16:creationId xmlns:a16="http://schemas.microsoft.com/office/drawing/2014/main" id="{24E05C27-247B-43A0-87EF-36BD96140353}"/>
              </a:ext>
            </a:extLst>
          </p:cNvPr>
          <p:cNvSpPr>
            <a:spLocks xmlns:a="http://schemas.openxmlformats.org/drawingml/2006/main" noGrp="1"/>
          </p:cNvSpPr>
          <p:nvPr/>
        </p:nvSpPr>
        <p:spPr>
          <a:xfrm xmlns:a="http://schemas.openxmlformats.org/drawingml/2006/main">
            <a:off x="647700" y="52006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D5DD"/>
                </a:solidFill>
                <a:latin typeface="Arial"/>
                <a:ea typeface="Arial"/>
                <a:cs typeface="Arial"/>
              </a:defRPr>
            </a:pPr>
            <a:r>
              <a:rPr sz="1875" b="0">
                <a:solidFill>
                  <a:srgbClr val="B8D5DD"/>
                </a:solidFill>
                <a:latin typeface="Arial"/>
                <a:ea typeface="Arial"/>
                <a:cs typeface="Arial"/>
              </a:rPr>
              <a:t>First-draft presentation</a:t>
            </a:r>
          </a:p>
          <a:p xmlns:a="http://schemas.openxmlformats.org/drawingml/2006/main">
            <a:pPr>
              <a:defRPr sz="1875" b="0">
                <a:solidFill>
                  <a:srgbClr val="B8D5DD"/>
                </a:solidFill>
                <a:latin typeface="Arial"/>
                <a:ea typeface="Arial"/>
                <a:cs typeface="Arial"/>
              </a:defRPr>
            </a:pPr>
            <a:r>
              <a:rPr sz="1875" b="0">
                <a:solidFill>
                  <a:srgbClr val="B8D5DD"/>
                </a:solidFill>
                <a:latin typeface="Arial"/>
                <a:ea typeface="Arial"/>
                <a:cs typeface="Arial"/>
              </a:rPr>
              <a:t>Synthetic demonstration results</a:t>
            </a:r>
          </a:p>
        </p:txBody>
      </p:sp>
    </p:spTree>
    <p:extLst>
      <p:ext uri="{BB962C8B-B14F-4D97-AF65-F5344CB8AC3E}">
        <p14:creationId xmlns:p14="http://schemas.microsoft.com/office/powerpoint/2010/main" val="19551426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6F400F-6909-41D3-A433-09110459280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Research question</a:t>
            </a:r>
          </a:p>
        </p:txBody>
      </p:sp>
      <p:sp>
        <p:nvSpPr>
          <p:cNvPr id="2" name="">
            <a:extLst xmlns:a="http://schemas.openxmlformats.org/drawingml/2006/main">
              <a:ext uri="{FF2B5EF4-FFF2-40B4-BE49-F238E27FC236}">
                <a16:creationId xmlns:a16="http://schemas.microsoft.com/office/drawing/2014/main" id="{73141D36-9FB2-425C-8A61-00674CC1B261}"/>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A3CB5AC-1090-4CF1-92F3-0BD4A5425445}"/>
              </a:ext>
            </a:extLst>
          </p:cNvPr>
          <p:cNvSpPr>
            <a:spLocks xmlns:a="http://schemas.openxmlformats.org/drawingml/2006/main" noGrp="1"/>
          </p:cNvSpPr>
          <p:nvPr/>
        </p:nvSpPr>
        <p:spPr>
          <a:xfrm xmlns:a="http://schemas.openxmlformats.org/drawingml/2006/main">
            <a:off x="609600" y="174307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2D3B"/>
                </a:solidFill>
                <a:latin typeface="Arial"/>
                <a:ea typeface="Arial"/>
                <a:cs typeface="Arial"/>
              </a:defRPr>
            </a:pPr>
            <a:r>
              <a:rPr sz="2925" b="1">
                <a:solidFill>
                  <a:srgbClr val="152D3B"/>
                </a:solidFill>
                <a:latin typeface="Arial"/>
                <a:ea typeface="Arial"/>
                <a:cs typeface="Arial"/>
              </a:rPr>
              <a:t>Does combining stable stocks with momentum</a:t>
            </a:r>
          </a:p>
          <a:p xmlns:a="http://schemas.openxmlformats.org/drawingml/2006/main">
            <a:pPr>
              <a:defRPr sz="2925" b="1">
                <a:solidFill>
                  <a:srgbClr val="152D3B"/>
                </a:solidFill>
                <a:latin typeface="Arial"/>
                <a:ea typeface="Arial"/>
                <a:cs typeface="Arial"/>
              </a:defRPr>
            </a:pPr>
            <a:r>
              <a:rPr sz="2925" b="1">
                <a:solidFill>
                  <a:srgbClr val="152D3B"/>
                </a:solidFill>
                <a:latin typeface="Arial"/>
                <a:ea typeface="Arial"/>
                <a:cs typeface="Arial"/>
              </a:rPr>
              <a:t>and shareholder payouts improve performance?</a:t>
            </a:r>
          </a:p>
        </p:txBody>
      </p:sp>
      <p:sp>
        <p:nvSpPr>
          <p:cNvPr id="4" name="">
            <a:extLst xmlns:a="http://schemas.openxmlformats.org/drawingml/2006/main">
              <a:ext uri="{FF2B5EF4-FFF2-40B4-BE49-F238E27FC236}">
                <a16:creationId xmlns:a16="http://schemas.microsoft.com/office/drawing/2014/main" id="{A37EA55A-4584-4B85-9847-015CA21AC4F0}"/>
              </a:ext>
            </a:extLst>
          </p:cNvPr>
          <p:cNvSpPr>
            <a:spLocks xmlns:a="http://schemas.openxmlformats.org/drawingml/2006/main" noGrp="1"/>
          </p:cNvSpPr>
          <p:nvPr/>
        </p:nvSpPr>
        <p:spPr>
          <a:xfrm xmlns:a="http://schemas.openxmlformats.org/drawingml/2006/main">
            <a:off x="609600" y="33718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7D8D"/>
                </a:solidFill>
                <a:latin typeface="Arial"/>
                <a:ea typeface="Arial"/>
                <a:cs typeface="Arial"/>
              </a:defRPr>
            </a:pPr>
            <a:r>
              <a:rPr sz="2100" b="1">
                <a:solidFill>
                  <a:srgbClr val="137D8D"/>
                </a:solidFill>
                <a:latin typeface="Arial"/>
                <a:ea typeface="Arial"/>
                <a:cs typeface="Arial"/>
              </a:rPr>
              <a:t>Comparisons</a:t>
            </a:r>
          </a:p>
        </p:txBody>
      </p:sp>
      <p:sp>
        <p:nvSpPr>
          <p:cNvPr id="5" name="">
            <a:extLst xmlns:a="http://schemas.openxmlformats.org/drawingml/2006/main">
              <a:ext uri="{FF2B5EF4-FFF2-40B4-BE49-F238E27FC236}">
                <a16:creationId xmlns:a16="http://schemas.microsoft.com/office/drawing/2014/main" id="{95122945-2BA3-4351-89BE-43FA35D454BC}"/>
              </a:ext>
            </a:extLst>
          </p:cNvPr>
          <p:cNvSpPr>
            <a:spLocks xmlns:a="http://schemas.openxmlformats.org/drawingml/2006/main" noGrp="1"/>
          </p:cNvSpPr>
          <p:nvPr/>
        </p:nvSpPr>
        <p:spPr>
          <a:xfrm xmlns:a="http://schemas.openxmlformats.org/drawingml/2006/main">
            <a:off x="609600" y="3990975"/>
            <a:ext cx="5429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Market benchmark</a:t>
            </a:r>
          </a:p>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Single-signal strategies</a:t>
            </a:r>
          </a:p>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Results after trading costs</a:t>
            </a:r>
          </a:p>
        </p:txBody>
      </p:sp>
      <p:sp>
        <p:nvSpPr>
          <p:cNvPr id="6" name="">
            <a:extLst xmlns:a="http://schemas.openxmlformats.org/drawingml/2006/main">
              <a:ext uri="{FF2B5EF4-FFF2-40B4-BE49-F238E27FC236}">
                <a16:creationId xmlns:a16="http://schemas.microsoft.com/office/drawing/2014/main" id="{56413542-01B2-447E-96A4-8DDF9E6D9E6F}"/>
              </a:ext>
            </a:extLst>
          </p:cNvPr>
          <p:cNvSpPr>
            <a:spLocks xmlns:a="http://schemas.openxmlformats.org/drawingml/2006/main" noGrp="1"/>
          </p:cNvSpPr>
          <p:nvPr/>
        </p:nvSpPr>
        <p:spPr>
          <a:xfrm xmlns:a="http://schemas.openxmlformats.org/drawingml/2006/main">
            <a:off x="6800850" y="3371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7D8D"/>
                </a:solidFill>
                <a:latin typeface="Arial"/>
                <a:ea typeface="Arial"/>
                <a:cs typeface="Arial"/>
              </a:defRPr>
            </a:pPr>
            <a:r>
              <a:rPr sz="2100" b="1">
                <a:solidFill>
                  <a:srgbClr val="137D8D"/>
                </a:solidFill>
                <a:latin typeface="Arial"/>
                <a:ea typeface="Arial"/>
                <a:cs typeface="Arial"/>
              </a:rPr>
              <a:t>Current status</a:t>
            </a:r>
          </a:p>
        </p:txBody>
      </p:sp>
      <p:sp>
        <p:nvSpPr>
          <p:cNvPr id="7" name="">
            <a:extLst xmlns:a="http://schemas.openxmlformats.org/drawingml/2006/main">
              <a:ext uri="{FF2B5EF4-FFF2-40B4-BE49-F238E27FC236}">
                <a16:creationId xmlns:a16="http://schemas.microsoft.com/office/drawing/2014/main" id="{007B7DF0-301F-4734-BAB9-FC47BFD824B0}"/>
              </a:ext>
            </a:extLst>
          </p:cNvPr>
          <p:cNvSpPr>
            <a:spLocks xmlns:a="http://schemas.openxmlformats.org/drawingml/2006/main" noGrp="1"/>
          </p:cNvSpPr>
          <p:nvPr/>
        </p:nvSpPr>
        <p:spPr>
          <a:xfrm xmlns:a="http://schemas.openxmlformats.org/drawingml/2006/main">
            <a:off x="6800850" y="399097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13A47"/>
                </a:solidFill>
                <a:latin typeface="Arial"/>
                <a:ea typeface="Arial"/>
                <a:cs typeface="Arial"/>
              </a:defRPr>
            </a:pPr>
            <a:r>
              <a:rPr sz="2025" b="0">
                <a:solidFill>
                  <a:srgbClr val="213A47"/>
                </a:solidFill>
                <a:latin typeface="Arial"/>
                <a:ea typeface="Arial"/>
                <a:cs typeface="Arial"/>
              </a:rPr>
              <a:t>Executable research prototype</a:t>
            </a:r>
          </a:p>
          <a:p xmlns:a="http://schemas.openxmlformats.org/drawingml/2006/main">
            <a:pPr>
              <a:defRPr sz="2025" b="0">
                <a:solidFill>
                  <a:srgbClr val="213A47"/>
                </a:solidFill>
                <a:latin typeface="Arial"/>
                <a:ea typeface="Arial"/>
                <a:cs typeface="Arial"/>
              </a:defRPr>
            </a:pPr>
            <a:r>
              <a:rPr sz="2025" b="0">
                <a:solidFill>
                  <a:srgbClr val="213A47"/>
                </a:solidFill>
                <a:latin typeface="Arial"/>
                <a:ea typeface="Arial"/>
                <a:cs typeface="Arial"/>
              </a:rPr>
              <a:t>Historical equity data pending</a:t>
            </a:r>
          </a:p>
          <a:p xmlns:a="http://schemas.openxmlformats.org/drawingml/2006/main">
            <a:pPr>
              <a:defRPr sz="2025" b="0">
                <a:solidFill>
                  <a:srgbClr val="213A47"/>
                </a:solidFill>
                <a:latin typeface="Arial"/>
                <a:ea typeface="Arial"/>
                <a:cs typeface="Arial"/>
              </a:defRPr>
            </a:pPr>
            <a:r>
              <a:rPr sz="2025" b="0">
                <a:solidFill>
                  <a:srgbClr val="213A47"/>
                </a:solidFill>
                <a:latin typeface="Arial"/>
                <a:ea typeface="Arial"/>
                <a:cs typeface="Arial"/>
              </a:rPr>
              <a:t>Empirical conclusions remain open</a:t>
            </a:r>
          </a:p>
        </p:txBody>
      </p:sp>
    </p:spTree>
    <p:extLst>
      <p:ext uri="{BB962C8B-B14F-4D97-AF65-F5344CB8AC3E}">
        <p14:creationId xmlns:p14="http://schemas.microsoft.com/office/powerpoint/2010/main" val="5568576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44EB7F-F52E-4680-8966-8B9AA87F7CB1}"/>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Why combine these signals?</a:t>
            </a:r>
          </a:p>
        </p:txBody>
      </p:sp>
      <p:sp>
        <p:nvSpPr>
          <p:cNvPr id="2" name="">
            <a:extLst xmlns:a="http://schemas.openxmlformats.org/drawingml/2006/main">
              <a:ext uri="{FF2B5EF4-FFF2-40B4-BE49-F238E27FC236}">
                <a16:creationId xmlns:a16="http://schemas.microsoft.com/office/drawing/2014/main" id="{3C911FDF-BA56-491F-ADC5-C1A0776D9C5F}"/>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A63549B-6720-4FAE-A812-BD269C9F8684}"/>
              </a:ext>
            </a:extLst>
          </p:cNvPr>
          <p:cNvSpPr>
            <a:spLocks xmlns:a="http://schemas.openxmlformats.org/drawingml/2006/main" noGrp="1"/>
          </p:cNvSpPr>
          <p:nvPr/>
        </p:nvSpPr>
        <p:spPr>
          <a:xfrm xmlns:a="http://schemas.openxmlformats.org/drawingml/2006/main">
            <a:off x="609600" y="11811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07D"/>
                </a:solidFill>
                <a:latin typeface="Arial"/>
                <a:ea typeface="Arial"/>
                <a:cs typeface="Arial"/>
              </a:defRPr>
            </a:pPr>
            <a:r>
              <a:rPr sz="1875" b="0">
                <a:solidFill>
                  <a:srgbClr val="56707D"/>
                </a:solidFill>
                <a:latin typeface="Arial"/>
                <a:ea typeface="Arial"/>
                <a:cs typeface="Arial"/>
              </a:rPr>
              <a:t>The combination targets weaknesses of a single screen</a:t>
            </a:r>
          </a:p>
        </p:txBody>
      </p:sp>
      <p:graphicFrame>
        <p:nvGraphicFramePr>
          <p:cNvPr id="9" name=""/>
          <p:cNvGraphicFramePr/>
          <p:nvPr/>
        </p:nvGraphicFramePr>
        <p:xfrm>
          <a:off xmlns:a="http://schemas.openxmlformats.org/drawingml/2006/main" x="609600" y="1866900"/>
          <a:ext xmlns:a="http://schemas.openxmlformats.org/drawingml/2006/main" cx="10972800" cy="3352800"/>
        </p:xfrm>
        <a:graphic xmlns:a="http://schemas.openxmlformats.org/drawingml/2006/main">
          <a:graphicData uri="http://schemas.openxmlformats.org/drawingml/2006/table">
            <a:tbl>
              <a:tblPr/>
              <a:tblGrid>
                <a:gridCol w="2381250"/>
                <a:gridCol w="3810000"/>
                <a:gridCol w="4781550"/>
              </a:tblGrid>
              <a:tr h="838200">
                <a:tc>
                  <a:txBody>
                    <a:bodyPr/>
                    <a:lstStyle/>
                    <a:p>
                      <a:r>
                        <a:rPr sz="1800" b="1">
                          <a:solidFill>
                            <a:srgbClr val="FFFFFF"/>
                          </a:solidFill>
                          <a:latin typeface="Arial"/>
                          <a:ea typeface="Arial"/>
                          <a:cs typeface="Arial"/>
                        </a:rPr>
                        <a:t>Component</a:t>
                      </a:r>
                    </a:p>
                  </a:txBody>
                  <a:tcPr marL="133350" marR="133350" marT="95250" marB="95250">
                    <a:solidFill>
                      <a:srgbClr val="152D3B"/>
                    </a:solidFill>
                  </a:tcPr>
                </a:tc>
                <a:tc>
                  <a:txBody>
                    <a:bodyPr/>
                    <a:lstStyle/>
                    <a:p>
                      <a:r>
                        <a:rPr sz="1800" b="1">
                          <a:solidFill>
                            <a:srgbClr val="FFFFFF"/>
                          </a:solidFill>
                          <a:latin typeface="Arial"/>
                          <a:ea typeface="Arial"/>
                          <a:cs typeface="Arial"/>
                        </a:rPr>
                        <a:t>What it favors</a:t>
                      </a:r>
                    </a:p>
                  </a:txBody>
                  <a:tcPr marL="133350" marR="133350" marT="95250" marB="95250">
                    <a:solidFill>
                      <a:srgbClr val="152D3B"/>
                    </a:solidFill>
                  </a:tcPr>
                </a:tc>
                <a:tc>
                  <a:txBody>
                    <a:bodyPr/>
                    <a:lstStyle/>
                    <a:p>
                      <a:r>
                        <a:rPr sz="1800" b="1">
                          <a:solidFill>
                            <a:srgbClr val="FFFFFF"/>
                          </a:solidFill>
                          <a:latin typeface="Arial"/>
                          <a:ea typeface="Arial"/>
                          <a:cs typeface="Arial"/>
                        </a:rPr>
                        <a:t>Potential weakness</a:t>
                      </a:r>
                    </a:p>
                  </a:txBody>
                  <a:tcPr marL="133350" marR="133350" marT="95250" marB="95250">
                    <a:solidFill>
                      <a:srgbClr val="152D3B"/>
                    </a:solidFill>
                  </a:tcPr>
                </a:tc>
              </a:tr>
              <a:tr h="838200">
                <a:tc>
                  <a:txBody>
                    <a:bodyPr/>
                    <a:lstStyle/>
                    <a:p>
                      <a:r>
                        <a:rPr sz="1800">
                          <a:solidFill>
                            <a:srgbClr val="213A47"/>
                          </a:solidFill>
                          <a:latin typeface="Arial"/>
                          <a:ea typeface="Arial"/>
                          <a:cs typeface="Arial"/>
                        </a:rPr>
                        <a:t>Low volatility</a:t>
                      </a:r>
                    </a:p>
                  </a:txBody>
                  <a:tcPr marL="133350" marR="133350" marT="95250" marB="95250">
                    <a:solidFill>
                      <a:srgbClr val="FFFFFF"/>
                    </a:solidFill>
                  </a:tcPr>
                </a:tc>
                <a:tc>
                  <a:txBody>
                    <a:bodyPr/>
                    <a:lstStyle/>
                    <a:p>
                      <a:r>
                        <a:rPr sz="1800">
                          <a:solidFill>
                            <a:srgbClr val="213A47"/>
                          </a:solidFill>
                          <a:latin typeface="Arial"/>
                          <a:ea typeface="Arial"/>
                          <a:cs typeface="Arial"/>
                        </a:rPr>
                        <a:t>Stocks with more stable returns</a:t>
                      </a:r>
                    </a:p>
                  </a:txBody>
                  <a:tcPr marL="133350" marR="133350" marT="95250" marB="95250">
                    <a:solidFill>
                      <a:srgbClr val="FFFFFF"/>
                    </a:solidFill>
                  </a:tcPr>
                </a:tc>
                <a:tc>
                  <a:txBody>
                    <a:bodyPr/>
                    <a:lstStyle/>
                    <a:p>
                      <a:r>
                        <a:rPr sz="1800">
                          <a:solidFill>
                            <a:srgbClr val="213A47"/>
                          </a:solidFill>
                          <a:latin typeface="Arial"/>
                          <a:ea typeface="Arial"/>
                          <a:cs typeface="Arial"/>
                        </a:rPr>
                        <a:t>Defensive stocks can become expensive</a:t>
                      </a:r>
                    </a:p>
                  </a:txBody>
                  <a:tcPr marL="133350" marR="133350" marT="95250" marB="95250">
                    <a:solidFill>
                      <a:srgbClr val="FFFFFF"/>
                    </a:solidFill>
                  </a:tcPr>
                </a:tc>
              </a:tr>
              <a:tr h="838200">
                <a:tc>
                  <a:txBody>
                    <a:bodyPr/>
                    <a:lstStyle/>
                    <a:p>
                      <a:r>
                        <a:rPr sz="1800">
                          <a:solidFill>
                            <a:srgbClr val="213A47"/>
                          </a:solidFill>
                          <a:latin typeface="Arial"/>
                          <a:ea typeface="Arial"/>
                          <a:cs typeface="Arial"/>
                        </a:rPr>
                        <a:t>Momentum</a:t>
                      </a:r>
                    </a:p>
                  </a:txBody>
                  <a:tcPr marL="133350" marR="133350" marT="95250" marB="95250">
                    <a:solidFill>
                      <a:srgbClr val="FFFFFF"/>
                    </a:solidFill>
                  </a:tcPr>
                </a:tc>
                <a:tc>
                  <a:txBody>
                    <a:bodyPr/>
                    <a:lstStyle/>
                    <a:p>
                      <a:r>
                        <a:rPr sz="1800">
                          <a:solidFill>
                            <a:srgbClr val="213A47"/>
                          </a:solidFill>
                          <a:latin typeface="Arial"/>
                          <a:ea typeface="Arial"/>
                          <a:cs typeface="Arial"/>
                        </a:rPr>
                        <a:t>Stocks with strong recent price trends</a:t>
                      </a:r>
                    </a:p>
                  </a:txBody>
                  <a:tcPr marL="133350" marR="133350" marT="95250" marB="95250">
                    <a:solidFill>
                      <a:srgbClr val="FFFFFF"/>
                    </a:solidFill>
                  </a:tcPr>
                </a:tc>
                <a:tc>
                  <a:txBody>
                    <a:bodyPr/>
                    <a:lstStyle/>
                    <a:p>
                      <a:r>
                        <a:rPr sz="1800">
                          <a:solidFill>
                            <a:srgbClr val="213A47"/>
                          </a:solidFill>
                          <a:latin typeface="Arial"/>
                          <a:ea typeface="Arial"/>
                          <a:cs typeface="Arial"/>
                        </a:rPr>
                        <a:t>Trends can reverse sharply</a:t>
                      </a:r>
                    </a:p>
                  </a:txBody>
                  <a:tcPr marL="133350" marR="133350" marT="95250" marB="95250">
                    <a:solidFill>
                      <a:srgbClr val="FFFFFF"/>
                    </a:solidFill>
                  </a:tcPr>
                </a:tc>
              </a:tr>
              <a:tr h="838200">
                <a:tc>
                  <a:txBody>
                    <a:bodyPr/>
                    <a:lstStyle/>
                    <a:p>
                      <a:r>
                        <a:rPr sz="1800">
                          <a:solidFill>
                            <a:srgbClr val="213A47"/>
                          </a:solidFill>
                          <a:latin typeface="Arial"/>
                          <a:ea typeface="Arial"/>
                          <a:cs typeface="Arial"/>
                        </a:rPr>
                        <a:t>Net payout yield</a:t>
                      </a:r>
                    </a:p>
                  </a:txBody>
                  <a:tcPr marL="133350" marR="133350" marT="95250" marB="95250">
                    <a:solidFill>
                      <a:srgbClr val="FFFFFF"/>
                    </a:solidFill>
                  </a:tcPr>
                </a:tc>
                <a:tc>
                  <a:txBody>
                    <a:bodyPr/>
                    <a:lstStyle/>
                    <a:p>
                      <a:r>
                        <a:rPr sz="1800">
                          <a:solidFill>
                            <a:srgbClr val="213A47"/>
                          </a:solidFill>
                          <a:latin typeface="Arial"/>
                          <a:ea typeface="Arial"/>
                          <a:cs typeface="Arial"/>
                        </a:rPr>
                        <a:t>Cash distributions and fewer shares</a:t>
                      </a:r>
                    </a:p>
                  </a:txBody>
                  <a:tcPr marL="133350" marR="133350" marT="95250" marB="95250">
                    <a:solidFill>
                      <a:srgbClr val="FFFFFF"/>
                    </a:solidFill>
                  </a:tcPr>
                </a:tc>
                <a:tc>
                  <a:txBody>
                    <a:bodyPr/>
                    <a:lstStyle/>
                    <a:p>
                      <a:r>
                        <a:rPr sz="1800">
                          <a:solidFill>
                            <a:srgbClr val="213A47"/>
                          </a:solidFill>
                          <a:latin typeface="Arial"/>
                          <a:ea typeface="Arial"/>
                          <a:cs typeface="Arial"/>
                        </a:rPr>
                        <a:t>Payouts may be temporary or debt-funded</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9B00C35-DAFA-401A-B00D-272F282729B5}"/>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Research hypothesis: the combined ranks improve the risk-return tradeoff.</a:t>
            </a:r>
          </a:p>
        </p:txBody>
      </p:sp>
    </p:spTree>
    <p:extLst>
      <p:ext uri="{BB962C8B-B14F-4D97-AF65-F5344CB8AC3E}">
        <p14:creationId xmlns:p14="http://schemas.microsoft.com/office/powerpoint/2010/main" val="988776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AC272A-183E-46E5-B4B0-C75CBB14AE15}"/>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The portfolio selection rule</a:t>
            </a:r>
          </a:p>
        </p:txBody>
      </p:sp>
      <p:sp>
        <p:nvSpPr>
          <p:cNvPr id="2" name="">
            <a:extLst xmlns:a="http://schemas.openxmlformats.org/drawingml/2006/main">
              <a:ext uri="{FF2B5EF4-FFF2-40B4-BE49-F238E27FC236}">
                <a16:creationId xmlns:a16="http://schemas.microsoft.com/office/drawing/2014/main" id="{B8D875D8-6566-498C-9BBC-24BDC29F6291}"/>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65028EB-C1F9-4AA4-BB1D-D43256E4D9F5}"/>
              </a:ext>
            </a:extLst>
          </p:cNvPr>
          <p:cNvSpPr>
            <a:spLocks xmlns:a="http://schemas.openxmlformats.org/drawingml/2006/main" noGrp="1"/>
          </p:cNvSpPr>
          <p:nvPr/>
        </p:nvSpPr>
        <p:spPr>
          <a:xfrm xmlns:a="http://schemas.openxmlformats.org/drawingml/2006/main">
            <a:off x="609600" y="11811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07D"/>
                </a:solidFill>
                <a:latin typeface="Arial"/>
                <a:ea typeface="Arial"/>
                <a:cs typeface="Arial"/>
              </a:defRPr>
            </a:pPr>
            <a:r>
              <a:rPr sz="1875" b="0">
                <a:solidFill>
                  <a:srgbClr val="56707D"/>
                </a:solidFill>
                <a:latin typeface="Arial"/>
                <a:ea typeface="Arial"/>
                <a:cs typeface="Arial"/>
              </a:rPr>
              <a:t>Paper recipe at each quarter end, with sufficient eligible history</a:t>
            </a:r>
          </a:p>
        </p:txBody>
      </p:sp>
      <p:sp>
        <p:nvSpPr>
          <p:cNvPr id="4" name="">
            <a:extLst xmlns:a="http://schemas.openxmlformats.org/drawingml/2006/main">
              <a:ext uri="{FF2B5EF4-FFF2-40B4-BE49-F238E27FC236}">
                <a16:creationId xmlns:a16="http://schemas.microsoft.com/office/drawing/2014/main" id="{9DA36B70-9963-4E52-9CED-7299A6ED61EF}"/>
              </a:ext>
            </a:extLst>
          </p:cNvPr>
          <p:cNvSpPr>
            <a:spLocks xmlns:a="http://schemas.openxmlformats.org/drawingml/2006/main" noGrp="1"/>
          </p:cNvSpPr>
          <p:nvPr/>
        </p:nvSpPr>
        <p:spPr>
          <a:xfrm xmlns:a="http://schemas.openxmlformats.org/drawingml/2006/main">
            <a:off x="609600" y="2095500"/>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37D8D"/>
                </a:solidFill>
                <a:latin typeface="Arial"/>
                <a:ea typeface="Arial"/>
                <a:cs typeface="Arial"/>
              </a:defRPr>
            </a:pPr>
            <a:r>
              <a:rPr sz="4650" b="1">
                <a:solidFill>
                  <a:srgbClr val="137D8D"/>
                </a:solidFill>
                <a:latin typeface="Arial"/>
                <a:ea typeface="Arial"/>
                <a:cs typeface="Arial"/>
              </a:rPr>
              <a:t>1,000</a:t>
            </a:r>
          </a:p>
        </p:txBody>
      </p:sp>
      <p:sp>
        <p:nvSpPr>
          <p:cNvPr id="5" name="">
            <a:extLst xmlns:a="http://schemas.openxmlformats.org/drawingml/2006/main">
              <a:ext uri="{FF2B5EF4-FFF2-40B4-BE49-F238E27FC236}">
                <a16:creationId xmlns:a16="http://schemas.microsoft.com/office/drawing/2014/main" id="{914EBA46-D252-4742-B172-2417585C742C}"/>
              </a:ext>
            </a:extLst>
          </p:cNvPr>
          <p:cNvSpPr>
            <a:spLocks xmlns:a="http://schemas.openxmlformats.org/drawingml/2006/main" noGrp="1"/>
          </p:cNvSpPr>
          <p:nvPr/>
        </p:nvSpPr>
        <p:spPr>
          <a:xfrm xmlns:a="http://schemas.openxmlformats.org/drawingml/2006/main">
            <a:off x="3152775" y="2219325"/>
            <a:ext cx="830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Largest eligible US stocks by market capitalization</a:t>
            </a:r>
          </a:p>
        </p:txBody>
      </p:sp>
      <p:sp>
        <p:nvSpPr>
          <p:cNvPr id="6" name="">
            <a:extLst xmlns:a="http://schemas.openxmlformats.org/drawingml/2006/main">
              <a:ext uri="{FF2B5EF4-FFF2-40B4-BE49-F238E27FC236}">
                <a16:creationId xmlns:a16="http://schemas.microsoft.com/office/drawing/2014/main" id="{80C836B5-6984-41FD-81BD-93C10E9DAADE}"/>
              </a:ext>
            </a:extLst>
          </p:cNvPr>
          <p:cNvSpPr>
            <a:spLocks xmlns:a="http://schemas.openxmlformats.org/drawingml/2006/main" noGrp="1"/>
          </p:cNvSpPr>
          <p:nvPr/>
        </p:nvSpPr>
        <p:spPr>
          <a:xfrm xmlns:a="http://schemas.openxmlformats.org/drawingml/2006/main">
            <a:off x="609600" y="3219450"/>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37D8D"/>
                </a:solidFill>
                <a:latin typeface="Arial"/>
                <a:ea typeface="Arial"/>
                <a:cs typeface="Arial"/>
              </a:defRPr>
            </a:pPr>
            <a:r>
              <a:rPr sz="4650" b="1">
                <a:solidFill>
                  <a:srgbClr val="137D8D"/>
                </a:solidFill>
                <a:latin typeface="Arial"/>
                <a:ea typeface="Arial"/>
                <a:cs typeface="Arial"/>
              </a:rPr>
              <a:t>500</a:t>
            </a:r>
          </a:p>
        </p:txBody>
      </p:sp>
      <p:sp>
        <p:nvSpPr>
          <p:cNvPr id="7" name="">
            <a:extLst xmlns:a="http://schemas.openxmlformats.org/drawingml/2006/main">
              <a:ext uri="{FF2B5EF4-FFF2-40B4-BE49-F238E27FC236}">
                <a16:creationId xmlns:a16="http://schemas.microsoft.com/office/drawing/2014/main" id="{907DB83B-DB26-4891-A3A6-98864676B838}"/>
              </a:ext>
            </a:extLst>
          </p:cNvPr>
          <p:cNvSpPr>
            <a:spLocks xmlns:a="http://schemas.openxmlformats.org/drawingml/2006/main" noGrp="1"/>
          </p:cNvSpPr>
          <p:nvPr/>
        </p:nvSpPr>
        <p:spPr>
          <a:xfrm xmlns:a="http://schemas.openxmlformats.org/drawingml/2006/main">
            <a:off x="3152775" y="3343275"/>
            <a:ext cx="830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Lower-volatility half using 36 months of returns</a:t>
            </a:r>
          </a:p>
        </p:txBody>
      </p:sp>
      <p:sp>
        <p:nvSpPr>
          <p:cNvPr id="8" name="">
            <a:extLst xmlns:a="http://schemas.openxmlformats.org/drawingml/2006/main">
              <a:ext uri="{FF2B5EF4-FFF2-40B4-BE49-F238E27FC236}">
                <a16:creationId xmlns:a16="http://schemas.microsoft.com/office/drawing/2014/main" id="{F66BC5B7-7CD5-4C6E-B0B6-71860D4C3AA3}"/>
              </a:ext>
            </a:extLst>
          </p:cNvPr>
          <p:cNvSpPr>
            <a:spLocks xmlns:a="http://schemas.openxmlformats.org/drawingml/2006/main" noGrp="1"/>
          </p:cNvSpPr>
          <p:nvPr/>
        </p:nvSpPr>
        <p:spPr>
          <a:xfrm xmlns:a="http://schemas.openxmlformats.org/drawingml/2006/main">
            <a:off x="609600" y="4343400"/>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37D8D"/>
                </a:solidFill>
                <a:latin typeface="Arial"/>
                <a:ea typeface="Arial"/>
                <a:cs typeface="Arial"/>
              </a:defRPr>
            </a:pPr>
            <a:r>
              <a:rPr sz="4650" b="1">
                <a:solidFill>
                  <a:srgbClr val="137D8D"/>
                </a:solidFill>
                <a:latin typeface="Arial"/>
                <a:ea typeface="Arial"/>
                <a:cs typeface="Arial"/>
              </a:rPr>
              <a:t>100</a:t>
            </a:r>
          </a:p>
        </p:txBody>
      </p:sp>
      <p:sp>
        <p:nvSpPr>
          <p:cNvPr id="9" name="">
            <a:extLst xmlns:a="http://schemas.openxmlformats.org/drawingml/2006/main">
              <a:ext uri="{FF2B5EF4-FFF2-40B4-BE49-F238E27FC236}">
                <a16:creationId xmlns:a16="http://schemas.microsoft.com/office/drawing/2014/main" id="{F4E3578E-48AD-4B62-85E1-786685682FF2}"/>
              </a:ext>
            </a:extLst>
          </p:cNvPr>
          <p:cNvSpPr>
            <a:spLocks xmlns:a="http://schemas.openxmlformats.org/drawingml/2006/main" noGrp="1"/>
          </p:cNvSpPr>
          <p:nvPr/>
        </p:nvSpPr>
        <p:spPr>
          <a:xfrm xmlns:a="http://schemas.openxmlformats.org/drawingml/2006/main">
            <a:off x="3152775" y="4467225"/>
            <a:ext cx="830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Best average ranks on momentum and payout yield</a:t>
            </a:r>
          </a:p>
        </p:txBody>
      </p:sp>
      <p:sp>
        <p:nvSpPr>
          <p:cNvPr id="10" name="">
            <a:extLst xmlns:a="http://schemas.openxmlformats.org/drawingml/2006/main">
              <a:ext uri="{FF2B5EF4-FFF2-40B4-BE49-F238E27FC236}">
                <a16:creationId xmlns:a16="http://schemas.microsoft.com/office/drawing/2014/main" id="{B0057DB0-15F0-4E69-94D1-84C1C3D8C81F}"/>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Equal weights at formation. Quarterly rebalancing. Historical sample counts may be smaller.</a:t>
            </a:r>
          </a:p>
        </p:txBody>
      </p:sp>
    </p:spTree>
    <p:extLst>
      <p:ext uri="{BB962C8B-B14F-4D97-AF65-F5344CB8AC3E}">
        <p14:creationId xmlns:p14="http://schemas.microsoft.com/office/powerpoint/2010/main" val="7849423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B57686-104E-43BA-8712-6914501A2DA9}"/>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Signal definitions in the draft</a:t>
            </a:r>
          </a:p>
        </p:txBody>
      </p:sp>
      <p:sp>
        <p:nvSpPr>
          <p:cNvPr id="2" name="">
            <a:extLst xmlns:a="http://schemas.openxmlformats.org/drawingml/2006/main">
              <a:ext uri="{FF2B5EF4-FFF2-40B4-BE49-F238E27FC236}">
                <a16:creationId xmlns:a16="http://schemas.microsoft.com/office/drawing/2014/main" id="{97A46F9B-D126-45C8-AA55-3E9EDF099043}"/>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05</a:t>
            </a:r>
          </a:p>
        </p:txBody>
      </p:sp>
      <p:graphicFrame>
        <p:nvGraphicFramePr>
          <p:cNvPr id="7" name=""/>
          <p:cNvGraphicFramePr/>
          <p:nvPr/>
        </p:nvGraphicFramePr>
        <p:xfrm>
          <a:off xmlns:a="http://schemas.openxmlformats.org/drawingml/2006/main" x="609600" y="1819275"/>
          <a:ext xmlns:a="http://schemas.openxmlformats.org/drawingml/2006/main" cx="10972800" cy="3352800"/>
        </p:xfrm>
        <a:graphic xmlns:a="http://schemas.openxmlformats.org/drawingml/2006/main">
          <a:graphicData uri="http://schemas.openxmlformats.org/drawingml/2006/table">
            <a:tbl>
              <a:tblPr/>
              <a:tblGrid>
                <a:gridCol w="2095500"/>
                <a:gridCol w="6953250"/>
                <a:gridCol w="1924050"/>
              </a:tblGrid>
              <a:tr h="838200">
                <a:tc>
                  <a:txBody>
                    <a:bodyPr/>
                    <a:lstStyle/>
                    <a:p>
                      <a:r>
                        <a:rPr sz="1800" b="1">
                          <a:solidFill>
                            <a:srgbClr val="FFFFFF"/>
                          </a:solidFill>
                          <a:latin typeface="Arial"/>
                          <a:ea typeface="Arial"/>
                          <a:cs typeface="Arial"/>
                        </a:rPr>
                        <a:t>Signal</a:t>
                      </a:r>
                    </a:p>
                  </a:txBody>
                  <a:tcPr marL="133350" marR="133350" marT="95250" marB="95250">
                    <a:solidFill>
                      <a:srgbClr val="152D3B"/>
                    </a:solidFill>
                  </a:tcPr>
                </a:tc>
                <a:tc>
                  <a:txBody>
                    <a:bodyPr/>
                    <a:lstStyle/>
                    <a:p>
                      <a:r>
                        <a:rPr sz="1800" b="1">
                          <a:solidFill>
                            <a:srgbClr val="FFFFFF"/>
                          </a:solidFill>
                          <a:latin typeface="Arial"/>
                          <a:ea typeface="Arial"/>
                          <a:cs typeface="Arial"/>
                        </a:rPr>
                        <a:t>Draft construction</a:t>
                      </a:r>
                    </a:p>
                  </a:txBody>
                  <a:tcPr marL="133350" marR="133350" marT="95250" marB="95250">
                    <a:solidFill>
                      <a:srgbClr val="152D3B"/>
                    </a:solidFill>
                  </a:tcPr>
                </a:tc>
                <a:tc>
                  <a:txBody>
                    <a:bodyPr/>
                    <a:lstStyle/>
                    <a:p>
                      <a:r>
                        <a:rPr sz="1800" b="1">
                          <a:solidFill>
                            <a:srgbClr val="FFFFFF"/>
                          </a:solidFill>
                          <a:latin typeface="Arial"/>
                          <a:ea typeface="Arial"/>
                          <a:cs typeface="Arial"/>
                        </a:rPr>
                        <a:t>Preference</a:t>
                      </a:r>
                    </a:p>
                  </a:txBody>
                  <a:tcPr marL="133350" marR="133350" marT="95250" marB="95250">
                    <a:solidFill>
                      <a:srgbClr val="152D3B"/>
                    </a:solidFill>
                  </a:tcPr>
                </a:tc>
              </a:tr>
              <a:tr h="838200">
                <a:tc>
                  <a:txBody>
                    <a:bodyPr/>
                    <a:lstStyle/>
                    <a:p>
                      <a:r>
                        <a:rPr sz="1800">
                          <a:solidFill>
                            <a:srgbClr val="213A47"/>
                          </a:solidFill>
                          <a:latin typeface="Arial"/>
                          <a:ea typeface="Arial"/>
                          <a:cs typeface="Arial"/>
                        </a:rPr>
                        <a:t>Volatility</a:t>
                      </a:r>
                    </a:p>
                  </a:txBody>
                  <a:tcPr marL="133350" marR="133350" marT="95250" marB="95250">
                    <a:solidFill>
                      <a:srgbClr val="FFFFFF"/>
                    </a:solidFill>
                  </a:tcPr>
                </a:tc>
                <a:tc>
                  <a:txBody>
                    <a:bodyPr/>
                    <a:lstStyle/>
                    <a:p>
                      <a:r>
                        <a:rPr sz="1800">
                          <a:solidFill>
                            <a:srgbClr val="213A47"/>
                          </a:solidFill>
                          <a:latin typeface="Arial"/>
                          <a:ea typeface="Arial"/>
                          <a:cs typeface="Arial"/>
                        </a:rPr>
                        <a:t>36-month return standard deviation</a:t>
                      </a:r>
                    </a:p>
                  </a:txBody>
                  <a:tcPr marL="133350" marR="133350" marT="95250" marB="95250">
                    <a:solidFill>
                      <a:srgbClr val="FFFFFF"/>
                    </a:solidFill>
                  </a:tcPr>
                </a:tc>
                <a:tc>
                  <a:txBody>
                    <a:bodyPr/>
                    <a:lstStyle/>
                    <a:p>
                      <a:r>
                        <a:rPr sz="1800">
                          <a:solidFill>
                            <a:srgbClr val="213A47"/>
                          </a:solidFill>
                          <a:latin typeface="Arial"/>
                          <a:ea typeface="Arial"/>
                          <a:cs typeface="Arial"/>
                        </a:rPr>
                        <a:t>Lower</a:t>
                      </a:r>
                    </a:p>
                  </a:txBody>
                  <a:tcPr marL="133350" marR="133350" marT="95250" marB="95250">
                    <a:solidFill>
                      <a:srgbClr val="FFFFFF"/>
                    </a:solidFill>
                  </a:tcPr>
                </a:tc>
              </a:tr>
              <a:tr h="838200">
                <a:tc>
                  <a:txBody>
                    <a:bodyPr/>
                    <a:lstStyle/>
                    <a:p>
                      <a:r>
                        <a:rPr sz="1800">
                          <a:solidFill>
                            <a:srgbClr val="213A47"/>
                          </a:solidFill>
                          <a:latin typeface="Arial"/>
                          <a:ea typeface="Arial"/>
                          <a:cs typeface="Arial"/>
                        </a:rPr>
                        <a:t>Momentum</a:t>
                      </a:r>
                    </a:p>
                  </a:txBody>
                  <a:tcPr marL="133350" marR="133350" marT="95250" marB="95250">
                    <a:solidFill>
                      <a:srgbClr val="FFFFFF"/>
                    </a:solidFill>
                  </a:tcPr>
                </a:tc>
                <a:tc>
                  <a:txBody>
                    <a:bodyPr/>
                    <a:lstStyle/>
                    <a:p>
                      <a:r>
                        <a:rPr sz="1800">
                          <a:solidFill>
                            <a:srgbClr val="213A47"/>
                          </a:solidFill>
                          <a:latin typeface="Arial"/>
                          <a:ea typeface="Arial"/>
                          <a:cs typeface="Arial"/>
                        </a:rPr>
                        <a:t>11-month price return, skipping latest month</a:t>
                      </a:r>
                    </a:p>
                  </a:txBody>
                  <a:tcPr marL="133350" marR="133350" marT="95250" marB="95250">
                    <a:solidFill>
                      <a:srgbClr val="FFFFFF"/>
                    </a:solidFill>
                  </a:tcPr>
                </a:tc>
                <a:tc>
                  <a:txBody>
                    <a:bodyPr/>
                    <a:lstStyle/>
                    <a:p>
                      <a:r>
                        <a:rPr sz="1800">
                          <a:solidFill>
                            <a:srgbClr val="213A47"/>
                          </a:solidFill>
                          <a:latin typeface="Arial"/>
                          <a:ea typeface="Arial"/>
                          <a:cs typeface="Arial"/>
                        </a:rPr>
                        <a:t>Higher</a:t>
                      </a:r>
                    </a:p>
                  </a:txBody>
                  <a:tcPr marL="133350" marR="133350" marT="95250" marB="95250">
                    <a:solidFill>
                      <a:srgbClr val="FFFFFF"/>
                    </a:solidFill>
                  </a:tcPr>
                </a:tc>
              </a:tr>
              <a:tr h="838200">
                <a:tc>
                  <a:txBody>
                    <a:bodyPr/>
                    <a:lstStyle/>
                    <a:p>
                      <a:r>
                        <a:rPr sz="1800">
                          <a:solidFill>
                            <a:srgbClr val="213A47"/>
                          </a:solidFill>
                          <a:latin typeface="Arial"/>
                          <a:ea typeface="Arial"/>
                          <a:cs typeface="Arial"/>
                        </a:rPr>
                        <a:t>Payout proxy</a:t>
                      </a:r>
                    </a:p>
                  </a:txBody>
                  <a:tcPr marL="133350" marR="133350" marT="95250" marB="95250">
                    <a:solidFill>
                      <a:srgbClr val="FFFFFF"/>
                    </a:solidFill>
                  </a:tcPr>
                </a:tc>
                <a:tc>
                  <a:txBody>
                    <a:bodyPr/>
                    <a:lstStyle/>
                    <a:p>
                      <a:r>
                        <a:rPr sz="1800">
                          <a:solidFill>
                            <a:srgbClr val="213A47"/>
                          </a:solidFill>
                          <a:latin typeface="Arial"/>
                          <a:ea typeface="Arial"/>
                          <a:cs typeface="Arial"/>
                        </a:rPr>
                        <a:t>Dividend yield + 1 − shares / 24-month mean</a:t>
                      </a:r>
                    </a:p>
                  </a:txBody>
                  <a:tcPr marL="133350" marR="133350" marT="95250" marB="95250">
                    <a:solidFill>
                      <a:srgbClr val="FFFFFF"/>
                    </a:solidFill>
                  </a:tcPr>
                </a:tc>
                <a:tc>
                  <a:txBody>
                    <a:bodyPr/>
                    <a:lstStyle/>
                    <a:p>
                      <a:r>
                        <a:rPr sz="1800">
                          <a:solidFill>
                            <a:srgbClr val="213A47"/>
                          </a:solidFill>
                          <a:latin typeface="Arial"/>
                          <a:ea typeface="Arial"/>
                          <a:cs typeface="Arial"/>
                        </a:rPr>
                        <a:t>Higher</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5482C4-B9F0-4F33-B9E3-E0F2BAFD70D6}"/>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Payout definition remains subject to reconciliation with the paper.</a:t>
            </a:r>
          </a:p>
        </p:txBody>
      </p:sp>
    </p:spTree>
    <p:extLst>
      <p:ext uri="{BB962C8B-B14F-4D97-AF65-F5344CB8AC3E}">
        <p14:creationId xmlns:p14="http://schemas.microsoft.com/office/powerpoint/2010/main" val="786809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5BCF63-EDF6-4517-937A-ED89D26A6614}"/>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A worked payout example</a:t>
            </a:r>
          </a:p>
        </p:txBody>
      </p:sp>
      <p:sp>
        <p:nvSpPr>
          <p:cNvPr id="2" name="">
            <a:extLst xmlns:a="http://schemas.openxmlformats.org/drawingml/2006/main">
              <a:ext uri="{FF2B5EF4-FFF2-40B4-BE49-F238E27FC236}">
                <a16:creationId xmlns:a16="http://schemas.microsoft.com/office/drawing/2014/main" id="{A59B8ADA-94B6-4C84-A87C-AFFE4D445907}"/>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E73EA29-02AC-4648-B1EF-BB165F33CA81}"/>
              </a:ext>
            </a:extLst>
          </p:cNvPr>
          <p:cNvSpPr>
            <a:spLocks xmlns:a="http://schemas.openxmlformats.org/drawingml/2006/main" noGrp="1"/>
          </p:cNvSpPr>
          <p:nvPr/>
        </p:nvSpPr>
        <p:spPr>
          <a:xfrm xmlns:a="http://schemas.openxmlformats.org/drawingml/2006/main">
            <a:off x="609600" y="11811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07D"/>
                </a:solidFill>
                <a:latin typeface="Arial"/>
                <a:ea typeface="Arial"/>
                <a:cs typeface="Arial"/>
              </a:defRPr>
            </a:pPr>
            <a:r>
              <a:rPr sz="1875" b="0">
                <a:solidFill>
                  <a:srgbClr val="56707D"/>
                </a:solidFill>
                <a:latin typeface="Arial"/>
                <a:ea typeface="Arial"/>
                <a:cs typeface="Arial"/>
              </a:rPr>
              <a:t>Illustrative inputs, using the notebook’s draft definition</a:t>
            </a:r>
          </a:p>
        </p:txBody>
      </p:sp>
      <p:graphicFrame>
        <p:nvGraphicFramePr>
          <p:cNvPr id="11" name=""/>
          <p:cNvGraphicFramePr/>
          <p:nvPr/>
        </p:nvGraphicFramePr>
        <p:xfrm>
          <a:off xmlns:a="http://schemas.openxmlformats.org/drawingml/2006/main" x="609600" y="1828800"/>
          <a:ext xmlns:a="http://schemas.openxmlformats.org/drawingml/2006/main" cx="10972800" cy="2667000"/>
        </p:xfrm>
        <a:graphic xmlns:a="http://schemas.openxmlformats.org/drawingml/2006/main">
          <a:graphicData uri="http://schemas.openxmlformats.org/drawingml/2006/table">
            <a:tbl>
              <a:tblPr/>
              <a:tblGrid>
                <a:gridCol w="6667500"/>
                <a:gridCol w="4305300"/>
              </a:tblGrid>
              <a:tr h="666750">
                <a:tc>
                  <a:txBody>
                    <a:bodyPr/>
                    <a:lstStyle/>
                    <a:p>
                      <a:r>
                        <a:rPr sz="1875" b="1">
                          <a:solidFill>
                            <a:srgbClr val="FFFFFF"/>
                          </a:solidFill>
                          <a:latin typeface="Arial"/>
                          <a:ea typeface="Arial"/>
                          <a:cs typeface="Arial"/>
                        </a:rPr>
                        <a:t>Input</a:t>
                      </a:r>
                    </a:p>
                  </a:txBody>
                  <a:tcPr marL="133350" marR="133350" marT="95250" marB="95250">
                    <a:solidFill>
                      <a:srgbClr val="152D3B"/>
                    </a:solidFill>
                  </a:tcPr>
                </a:tc>
                <a:tc>
                  <a:txBody>
                    <a:bodyPr/>
                    <a:lstStyle/>
                    <a:p>
                      <a:r>
                        <a:rPr sz="1875" b="1">
                          <a:solidFill>
                            <a:srgbClr val="FFFFFF"/>
                          </a:solidFill>
                          <a:latin typeface="Arial"/>
                          <a:ea typeface="Arial"/>
                          <a:cs typeface="Arial"/>
                        </a:rPr>
                        <a:t>Example value</a:t>
                      </a:r>
                    </a:p>
                  </a:txBody>
                  <a:tcPr marL="133350" marR="133350" marT="95250" marB="95250">
                    <a:solidFill>
                      <a:srgbClr val="152D3B"/>
                    </a:solidFill>
                  </a:tcPr>
                </a:tc>
              </a:tr>
              <a:tr h="666750">
                <a:tc>
                  <a:txBody>
                    <a:bodyPr/>
                    <a:lstStyle/>
                    <a:p>
                      <a:r>
                        <a:rPr sz="1875">
                          <a:solidFill>
                            <a:srgbClr val="213A47"/>
                          </a:solidFill>
                          <a:latin typeface="Arial"/>
                          <a:ea typeface="Arial"/>
                          <a:cs typeface="Arial"/>
                        </a:rPr>
                        <a:t>Trailing 12-month dividends per share</a:t>
                      </a:r>
                    </a:p>
                  </a:txBody>
                  <a:tcPr marL="133350" marR="133350" marT="95250" marB="95250">
                    <a:solidFill>
                      <a:srgbClr val="FFFFFF"/>
                    </a:solidFill>
                  </a:tcPr>
                </a:tc>
                <a:tc>
                  <a:txBody>
                    <a:bodyPr/>
                    <a:lstStyle/>
                    <a:p>
                      <a:r>
                        <a:rPr sz="1875">
                          <a:solidFill>
                            <a:srgbClr val="213A47"/>
                          </a:solidFill>
                          <a:latin typeface="Arial"/>
                          <a:ea typeface="Arial"/>
                          <a:cs typeface="Arial"/>
                        </a:rPr>
                        <a:t>$2</a:t>
                      </a:r>
                    </a:p>
                  </a:txBody>
                  <a:tcPr marL="133350" marR="133350" marT="95250" marB="95250">
                    <a:solidFill>
                      <a:srgbClr val="FFFFFF"/>
                    </a:solidFill>
                  </a:tcPr>
                </a:tc>
              </a:tr>
              <a:tr h="666750">
                <a:tc>
                  <a:txBody>
                    <a:bodyPr/>
                    <a:lstStyle/>
                    <a:p>
                      <a:r>
                        <a:rPr sz="1875">
                          <a:solidFill>
                            <a:srgbClr val="213A47"/>
                          </a:solidFill>
                          <a:latin typeface="Arial"/>
                          <a:ea typeface="Arial"/>
                          <a:cs typeface="Arial"/>
                        </a:rPr>
                        <a:t>Current split-adjusted price</a:t>
                      </a:r>
                    </a:p>
                  </a:txBody>
                  <a:tcPr marL="133350" marR="133350" marT="95250" marB="95250">
                    <a:solidFill>
                      <a:srgbClr val="FFFFFF"/>
                    </a:solidFill>
                  </a:tcPr>
                </a:tc>
                <a:tc>
                  <a:txBody>
                    <a:bodyPr/>
                    <a:lstStyle/>
                    <a:p>
                      <a:r>
                        <a:rPr sz="1875">
                          <a:solidFill>
                            <a:srgbClr val="213A47"/>
                          </a:solidFill>
                          <a:latin typeface="Arial"/>
                          <a:ea typeface="Arial"/>
                          <a:cs typeface="Arial"/>
                        </a:rPr>
                        <a:t>$50</a:t>
                      </a:r>
                    </a:p>
                  </a:txBody>
                  <a:tcPr marL="133350" marR="133350" marT="95250" marB="95250">
                    <a:solidFill>
                      <a:srgbClr val="FFFFFF"/>
                    </a:solidFill>
                  </a:tcPr>
                </a:tc>
              </a:tr>
              <a:tr h="666750">
                <a:tc>
                  <a:txBody>
                    <a:bodyPr/>
                    <a:lstStyle/>
                    <a:p>
                      <a:r>
                        <a:rPr sz="1875">
                          <a:solidFill>
                            <a:srgbClr val="213A47"/>
                          </a:solidFill>
                          <a:latin typeface="Arial"/>
                          <a:ea typeface="Arial"/>
                          <a:cs typeface="Arial"/>
                        </a:rPr>
                        <a:t>Current / 24-month mean adjusted shares</a:t>
                      </a:r>
                    </a:p>
                  </a:txBody>
                  <a:tcPr marL="133350" marR="133350" marT="95250" marB="95250">
                    <a:solidFill>
                      <a:srgbClr val="FFFFFF"/>
                    </a:solidFill>
                  </a:tcPr>
                </a:tc>
                <a:tc>
                  <a:txBody>
                    <a:bodyPr/>
                    <a:lstStyle/>
                    <a:p>
                      <a:r>
                        <a:rPr sz="1875">
                          <a:solidFill>
                            <a:srgbClr val="213A47"/>
                          </a:solidFill>
                          <a:latin typeface="Arial"/>
                          <a:ea typeface="Arial"/>
                          <a:cs typeface="Arial"/>
                        </a:rPr>
                        <a:t>96 million / 100 million</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0A2EDC8-FD7C-4770-A48F-D46967053F66}"/>
              </a:ext>
            </a:extLst>
          </p:cNvPr>
          <p:cNvSpPr>
            <a:spLocks xmlns:a="http://schemas.openxmlformats.org/drawingml/2006/main" noGrp="1"/>
          </p:cNvSpPr>
          <p:nvPr/>
        </p:nvSpPr>
        <p:spPr>
          <a:xfrm xmlns:a="http://schemas.openxmlformats.org/drawingml/2006/main">
            <a:off x="609600" y="47625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7D8D"/>
                </a:solidFill>
                <a:latin typeface="Arial"/>
                <a:ea typeface="Arial"/>
                <a:cs typeface="Arial"/>
              </a:defRPr>
            </a:pPr>
            <a:r>
              <a:rPr sz="2100" b="1">
                <a:solidFill>
                  <a:srgbClr val="137D8D"/>
                </a:solidFill>
                <a:latin typeface="Arial"/>
                <a:ea typeface="Arial"/>
                <a:cs typeface="Arial"/>
              </a:rPr>
              <a:t>Dividend yield = 2 / 50 = 4%</a:t>
            </a:r>
          </a:p>
        </p:txBody>
      </p:sp>
      <p:sp>
        <p:nvSpPr>
          <p:cNvPr id="6" name="">
            <a:extLst xmlns:a="http://schemas.openxmlformats.org/drawingml/2006/main">
              <a:ext uri="{FF2B5EF4-FFF2-40B4-BE49-F238E27FC236}">
                <a16:creationId xmlns:a16="http://schemas.microsoft.com/office/drawing/2014/main" id="{7FB5CEFD-905F-41C9-89EF-3DEA4B6733F1}"/>
              </a:ext>
            </a:extLst>
          </p:cNvPr>
          <p:cNvSpPr>
            <a:spLocks xmlns:a="http://schemas.openxmlformats.org/drawingml/2006/main" noGrp="1"/>
          </p:cNvSpPr>
          <p:nvPr/>
        </p:nvSpPr>
        <p:spPr>
          <a:xfrm xmlns:a="http://schemas.openxmlformats.org/drawingml/2006/main">
            <a:off x="609600" y="52482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D3B"/>
                </a:solidFill>
                <a:latin typeface="Arial"/>
                <a:ea typeface="Arial"/>
                <a:cs typeface="Arial"/>
              </a:defRPr>
            </a:pPr>
            <a:r>
              <a:rPr sz="2250" b="1">
                <a:solidFill>
                  <a:srgbClr val="152D3B"/>
                </a:solidFill>
                <a:latin typeface="Arial"/>
                <a:ea typeface="Arial"/>
                <a:cs typeface="Arial"/>
              </a:rPr>
              <a:t>Payout proxy = 4% + (1 − 96 / 100) = 8%</a:t>
            </a:r>
          </a:p>
        </p:txBody>
      </p:sp>
      <p:sp>
        <p:nvSpPr>
          <p:cNvPr id="7" name="">
            <a:extLst xmlns:a="http://schemas.openxmlformats.org/drawingml/2006/main">
              <a:ext uri="{FF2B5EF4-FFF2-40B4-BE49-F238E27FC236}">
                <a16:creationId xmlns:a16="http://schemas.microsoft.com/office/drawing/2014/main" id="{915B2C51-763A-45E5-8496-2AA99CCA060D}"/>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The share-count term measures net issuance indirectly. A split must never look like a buyback.</a:t>
            </a:r>
          </a:p>
        </p:txBody>
      </p:sp>
    </p:spTree>
    <p:extLst>
      <p:ext uri="{BB962C8B-B14F-4D97-AF65-F5344CB8AC3E}">
        <p14:creationId xmlns:p14="http://schemas.microsoft.com/office/powerpoint/2010/main" val="7734151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A29C7B-42F8-4214-B34B-FE4084B97C5A}"/>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Information timing</a:t>
            </a:r>
          </a:p>
        </p:txBody>
      </p:sp>
      <p:sp>
        <p:nvSpPr>
          <p:cNvPr id="2" name="">
            <a:extLst xmlns:a="http://schemas.openxmlformats.org/drawingml/2006/main">
              <a:ext uri="{FF2B5EF4-FFF2-40B4-BE49-F238E27FC236}">
                <a16:creationId xmlns:a16="http://schemas.microsoft.com/office/drawing/2014/main" id="{9E89E7A6-8FB7-4B8E-952F-127EED4119D1}"/>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58C97C2-23B3-4D59-9D77-984B7FDBA006}"/>
              </a:ext>
            </a:extLst>
          </p:cNvPr>
          <p:cNvSpPr>
            <a:spLocks xmlns:a="http://schemas.openxmlformats.org/drawingml/2006/main" noGrp="1"/>
          </p:cNvSpPr>
          <p:nvPr/>
        </p:nvSpPr>
        <p:spPr>
          <a:xfrm xmlns:a="http://schemas.openxmlformats.org/drawingml/2006/main">
            <a:off x="609600" y="11811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07D"/>
                </a:solidFill>
                <a:latin typeface="Arial"/>
                <a:ea typeface="Arial"/>
                <a:cs typeface="Arial"/>
              </a:defRPr>
            </a:pPr>
            <a:r>
              <a:rPr sz="1875" b="0">
                <a:solidFill>
                  <a:srgbClr val="56707D"/>
                </a:solidFill>
                <a:latin typeface="Arial"/>
                <a:ea typeface="Arial"/>
                <a:cs typeface="Arial"/>
              </a:rPr>
              <a:t>Example: portfolio formed at December month end</a:t>
            </a:r>
          </a:p>
        </p:txBody>
      </p:sp>
      <p:graphicFrame>
        <p:nvGraphicFramePr>
          <p:cNvPr id="9" name=""/>
          <p:cNvGraphicFramePr/>
          <p:nvPr/>
        </p:nvGraphicFramePr>
        <p:xfrm>
          <a:off xmlns:a="http://schemas.openxmlformats.org/drawingml/2006/main" x="609600" y="1866900"/>
          <a:ext xmlns:a="http://schemas.openxmlformats.org/drawingml/2006/main" cx="10972800" cy="3476625"/>
        </p:xfrm>
        <a:graphic xmlns:a="http://schemas.openxmlformats.org/drawingml/2006/main">
          <a:graphicData uri="http://schemas.openxmlformats.org/drawingml/2006/table">
            <a:tbl>
              <a:tblPr/>
              <a:tblGrid>
                <a:gridCol w="3905250"/>
                <a:gridCol w="7067550"/>
              </a:tblGrid>
              <a:tr h="695325">
                <a:tc>
                  <a:txBody>
                    <a:bodyPr/>
                    <a:lstStyle/>
                    <a:p>
                      <a:r>
                        <a:rPr sz="1875" b="1">
                          <a:solidFill>
                            <a:srgbClr val="FFFFFF"/>
                          </a:solidFill>
                          <a:latin typeface="Arial"/>
                          <a:ea typeface="Arial"/>
                          <a:cs typeface="Arial"/>
                        </a:rPr>
                        <a:t>Input or action</a:t>
                      </a:r>
                    </a:p>
                  </a:txBody>
                  <a:tcPr marL="133350" marR="133350" marT="95250" marB="95250">
                    <a:solidFill>
                      <a:srgbClr val="152D3B"/>
                    </a:solidFill>
                  </a:tcPr>
                </a:tc>
                <a:tc>
                  <a:txBody>
                    <a:bodyPr/>
                    <a:lstStyle/>
                    <a:p>
                      <a:r>
                        <a:rPr sz="1875" b="1">
                          <a:solidFill>
                            <a:srgbClr val="FFFFFF"/>
                          </a:solidFill>
                          <a:latin typeface="Arial"/>
                          <a:ea typeface="Arial"/>
                          <a:cs typeface="Arial"/>
                        </a:rPr>
                        <a:t>Window / timing</a:t>
                      </a:r>
                    </a:p>
                  </a:txBody>
                  <a:tcPr marL="133350" marR="133350" marT="95250" marB="95250">
                    <a:solidFill>
                      <a:srgbClr val="152D3B"/>
                    </a:solidFill>
                  </a:tcPr>
                </a:tc>
              </a:tr>
              <a:tr h="695325">
                <a:tc>
                  <a:txBody>
                    <a:bodyPr/>
                    <a:lstStyle/>
                    <a:p>
                      <a:r>
                        <a:rPr sz="1875">
                          <a:solidFill>
                            <a:srgbClr val="213A47"/>
                          </a:solidFill>
                          <a:latin typeface="Arial"/>
                          <a:ea typeface="Arial"/>
                          <a:cs typeface="Arial"/>
                        </a:rPr>
                        <a:t>Volatility</a:t>
                      </a:r>
                    </a:p>
                  </a:txBody>
                  <a:tcPr marL="133350" marR="133350" marT="95250" marB="95250">
                    <a:solidFill>
                      <a:srgbClr val="FFFFFF"/>
                    </a:solidFill>
                  </a:tcPr>
                </a:tc>
                <a:tc>
                  <a:txBody>
                    <a:bodyPr/>
                    <a:lstStyle/>
                    <a:p>
                      <a:r>
                        <a:rPr sz="1875">
                          <a:solidFill>
                            <a:srgbClr val="213A47"/>
                          </a:solidFill>
                          <a:latin typeface="Arial"/>
                          <a:ea typeface="Arial"/>
                          <a:cs typeface="Arial"/>
                        </a:rPr>
                        <a:t>36 months ending in December</a:t>
                      </a:r>
                    </a:p>
                  </a:txBody>
                  <a:tcPr marL="133350" marR="133350" marT="95250" marB="95250">
                    <a:solidFill>
                      <a:srgbClr val="FFFFFF"/>
                    </a:solidFill>
                  </a:tcPr>
                </a:tc>
              </a:tr>
              <a:tr h="695325">
                <a:tc>
                  <a:txBody>
                    <a:bodyPr/>
                    <a:lstStyle/>
                    <a:p>
                      <a:r>
                        <a:rPr sz="1875">
                          <a:solidFill>
                            <a:srgbClr val="213A47"/>
                          </a:solidFill>
                          <a:latin typeface="Arial"/>
                          <a:ea typeface="Arial"/>
                          <a:cs typeface="Arial"/>
                        </a:rPr>
                        <a:t>Momentum</a:t>
                      </a:r>
                    </a:p>
                  </a:txBody>
                  <a:tcPr marL="133350" marR="133350" marT="95250" marB="95250">
                    <a:solidFill>
                      <a:srgbClr val="FFFFFF"/>
                    </a:solidFill>
                  </a:tcPr>
                </a:tc>
                <a:tc>
                  <a:txBody>
                    <a:bodyPr/>
                    <a:lstStyle/>
                    <a:p>
                      <a:r>
                        <a:rPr sz="1875">
                          <a:solidFill>
                            <a:srgbClr val="213A47"/>
                          </a:solidFill>
                          <a:latin typeface="Arial"/>
                          <a:ea typeface="Arial"/>
                          <a:cs typeface="Arial"/>
                        </a:rPr>
                        <a:t>January through November</a:t>
                      </a:r>
                    </a:p>
                  </a:txBody>
                  <a:tcPr marL="133350" marR="133350" marT="95250" marB="95250">
                    <a:solidFill>
                      <a:srgbClr val="FFFFFF"/>
                    </a:solidFill>
                  </a:tcPr>
                </a:tc>
              </a:tr>
              <a:tr h="695325">
                <a:tc>
                  <a:txBody>
                    <a:bodyPr/>
                    <a:lstStyle/>
                    <a:p>
                      <a:r>
                        <a:rPr sz="1875">
                          <a:solidFill>
                            <a:srgbClr val="213A47"/>
                          </a:solidFill>
                          <a:latin typeface="Arial"/>
                          <a:ea typeface="Arial"/>
                          <a:cs typeface="Arial"/>
                        </a:rPr>
                        <a:t>Selection</a:t>
                      </a:r>
                    </a:p>
                  </a:txBody>
                  <a:tcPr marL="133350" marR="133350" marT="95250" marB="95250">
                    <a:solidFill>
                      <a:srgbClr val="FFFFFF"/>
                    </a:solidFill>
                  </a:tcPr>
                </a:tc>
                <a:tc>
                  <a:txBody>
                    <a:bodyPr/>
                    <a:lstStyle/>
                    <a:p>
                      <a:r>
                        <a:rPr sz="1875">
                          <a:solidFill>
                            <a:srgbClr val="213A47"/>
                          </a:solidFill>
                          <a:latin typeface="Arial"/>
                          <a:ea typeface="Arial"/>
                          <a:cs typeface="Arial"/>
                        </a:rPr>
                        <a:t>December month-end information</a:t>
                      </a:r>
                    </a:p>
                  </a:txBody>
                  <a:tcPr marL="133350" marR="133350" marT="95250" marB="95250">
                    <a:solidFill>
                      <a:srgbClr val="FFFFFF"/>
                    </a:solidFill>
                  </a:tcPr>
                </a:tc>
              </a:tr>
              <a:tr h="695325">
                <a:tc>
                  <a:txBody>
                    <a:bodyPr/>
                    <a:lstStyle/>
                    <a:p>
                      <a:r>
                        <a:rPr sz="1875">
                          <a:solidFill>
                            <a:srgbClr val="213A47"/>
                          </a:solidFill>
                          <a:latin typeface="Arial"/>
                          <a:ea typeface="Arial"/>
                          <a:cs typeface="Arial"/>
                        </a:rPr>
                        <a:t>First earned return</a:t>
                      </a:r>
                    </a:p>
                  </a:txBody>
                  <a:tcPr marL="133350" marR="133350" marT="95250" marB="95250">
                    <a:solidFill>
                      <a:srgbClr val="FFFFFF"/>
                    </a:solidFill>
                  </a:tcPr>
                </a:tc>
                <a:tc>
                  <a:txBody>
                    <a:bodyPr/>
                    <a:lstStyle/>
                    <a:p>
                      <a:r>
                        <a:rPr sz="1875">
                          <a:solidFill>
                            <a:srgbClr val="213A47"/>
                          </a:solidFill>
                          <a:latin typeface="Arial"/>
                          <a:ea typeface="Arial"/>
                          <a:cs typeface="Arial"/>
                        </a:rPr>
                        <a:t>Following January</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FC3ED4D-40EE-4F43-8ECE-4E4C2FB04DDD}"/>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Quarter-end execution is idealized. Late-reported inputs require an additional lag.</a:t>
            </a:r>
          </a:p>
        </p:txBody>
      </p:sp>
    </p:spTree>
    <p:extLst>
      <p:ext uri="{BB962C8B-B14F-4D97-AF65-F5344CB8AC3E}">
        <p14:creationId xmlns:p14="http://schemas.microsoft.com/office/powerpoint/2010/main" val="7355207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D4866A-786D-46F0-99B0-26E70E1FCA45}"/>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How the stock ranks determine selection</a:t>
            </a:r>
          </a:p>
        </p:txBody>
      </p:sp>
      <p:sp>
        <p:nvSpPr>
          <p:cNvPr id="2" name="">
            <a:extLst xmlns:a="http://schemas.openxmlformats.org/drawingml/2006/main">
              <a:ext uri="{FF2B5EF4-FFF2-40B4-BE49-F238E27FC236}">
                <a16:creationId xmlns:a16="http://schemas.microsoft.com/office/drawing/2014/main" id="{E65AC461-773F-45A5-AD3F-3721AE3F4A62}"/>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2EF81CEA-DA53-4E19-AFFB-3704F96CF7BE}"/>
              </a:ext>
            </a:extLst>
          </p:cNvPr>
          <p:cNvSpPr>
            <a:spLocks xmlns:a="http://schemas.openxmlformats.org/drawingml/2006/main" noGrp="1"/>
          </p:cNvSpPr>
          <p:nvPr/>
        </p:nvSpPr>
        <p:spPr>
          <a:xfrm xmlns:a="http://schemas.openxmlformats.org/drawingml/2006/main">
            <a:off x="609600" y="11811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07D"/>
                </a:solidFill>
                <a:latin typeface="Arial"/>
                <a:ea typeface="Arial"/>
                <a:cs typeface="Arial"/>
              </a:defRPr>
            </a:pPr>
            <a:r>
              <a:rPr sz="1875" b="0">
                <a:solidFill>
                  <a:srgbClr val="56707D"/>
                </a:solidFill>
                <a:latin typeface="Arial"/>
                <a:ea typeface="Arial"/>
                <a:cs typeface="Arial"/>
              </a:rPr>
              <a:t>Illustration: four stocks after the volatility screen, two places available</a:t>
            </a:r>
          </a:p>
        </p:txBody>
      </p:sp>
      <p:graphicFrame>
        <p:nvGraphicFramePr>
          <p:cNvPr id="10" name=""/>
          <p:cNvGraphicFramePr/>
          <p:nvPr/>
        </p:nvGraphicFramePr>
        <p:xfrm>
          <a:off xmlns:a="http://schemas.openxmlformats.org/drawingml/2006/main" x="609600" y="1838325"/>
          <a:ext xmlns:a="http://schemas.openxmlformats.org/drawingml/2006/main" cx="10972800" cy="3286125"/>
        </p:xfrm>
        <a:graphic xmlns:a="http://schemas.openxmlformats.org/drawingml/2006/main">
          <a:graphicData uri="http://schemas.openxmlformats.org/drawingml/2006/table">
            <a:tbl>
              <a:tblPr/>
              <a:tblGrid>
                <a:gridCol w="2190750"/>
                <a:gridCol w="3048000"/>
                <a:gridCol w="2857500"/>
                <a:gridCol w="2876550"/>
              </a:tblGrid>
              <a:tr h="657225">
                <a:tc>
                  <a:txBody>
                    <a:bodyPr/>
                    <a:lstStyle/>
                    <a:p>
                      <a:r>
                        <a:rPr sz="1875" b="1">
                          <a:solidFill>
                            <a:srgbClr val="FFFFFF"/>
                          </a:solidFill>
                          <a:latin typeface="Arial"/>
                          <a:ea typeface="Arial"/>
                          <a:cs typeface="Arial"/>
                        </a:rPr>
                        <a:t>Stock</a:t>
                      </a:r>
                    </a:p>
                  </a:txBody>
                  <a:tcPr marL="133350" marR="133350" marT="95250" marB="95250">
                    <a:solidFill>
                      <a:srgbClr val="152D3B"/>
                    </a:solidFill>
                  </a:tcPr>
                </a:tc>
                <a:tc>
                  <a:txBody>
                    <a:bodyPr/>
                    <a:lstStyle/>
                    <a:p>
                      <a:r>
                        <a:rPr sz="1875" b="1">
                          <a:solidFill>
                            <a:srgbClr val="FFFFFF"/>
                          </a:solidFill>
                          <a:latin typeface="Arial"/>
                          <a:ea typeface="Arial"/>
                          <a:cs typeface="Arial"/>
                        </a:rPr>
                        <a:t>Momentum rank</a:t>
                      </a:r>
                    </a:p>
                  </a:txBody>
                  <a:tcPr marL="133350" marR="133350" marT="95250" marB="95250">
                    <a:solidFill>
                      <a:srgbClr val="152D3B"/>
                    </a:solidFill>
                  </a:tcPr>
                </a:tc>
                <a:tc>
                  <a:txBody>
                    <a:bodyPr/>
                    <a:lstStyle/>
                    <a:p>
                      <a:r>
                        <a:rPr sz="1875" b="1">
                          <a:solidFill>
                            <a:srgbClr val="FFFFFF"/>
                          </a:solidFill>
                          <a:latin typeface="Arial"/>
                          <a:ea typeface="Arial"/>
                          <a:cs typeface="Arial"/>
                        </a:rPr>
                        <a:t>Payout rank</a:t>
                      </a:r>
                    </a:p>
                  </a:txBody>
                  <a:tcPr marL="133350" marR="133350" marT="95250" marB="95250">
                    <a:solidFill>
                      <a:srgbClr val="152D3B"/>
                    </a:solidFill>
                  </a:tcPr>
                </a:tc>
                <a:tc>
                  <a:txBody>
                    <a:bodyPr/>
                    <a:lstStyle/>
                    <a:p>
                      <a:r>
                        <a:rPr sz="1875" b="1">
                          <a:solidFill>
                            <a:srgbClr val="FFFFFF"/>
                          </a:solidFill>
                          <a:latin typeface="Arial"/>
                          <a:ea typeface="Arial"/>
                          <a:cs typeface="Arial"/>
                        </a:rPr>
                        <a:t>Average rank</a:t>
                      </a:r>
                    </a:p>
                  </a:txBody>
                  <a:tcPr marL="133350" marR="133350" marT="95250" marB="95250">
                    <a:solidFill>
                      <a:srgbClr val="152D3B"/>
                    </a:solidFill>
                  </a:tcPr>
                </a:tc>
              </a:tr>
              <a:tr h="657225">
                <a:tc>
                  <a:txBody>
                    <a:bodyPr/>
                    <a:lstStyle/>
                    <a:p>
                      <a:r>
                        <a:rPr sz="1875">
                          <a:solidFill>
                            <a:srgbClr val="213A47"/>
                          </a:solidFill>
                          <a:latin typeface="Arial"/>
                          <a:ea typeface="Arial"/>
                          <a:cs typeface="Arial"/>
                        </a:rPr>
                        <a:t>A</a:t>
                      </a:r>
                    </a:p>
                  </a:txBody>
                  <a:tcPr marL="133350" marR="133350" marT="95250" marB="95250">
                    <a:solidFill>
                      <a:srgbClr val="FFFFFF"/>
                    </a:solidFill>
                  </a:tcPr>
                </a:tc>
                <a:tc>
                  <a:txBody>
                    <a:bodyPr/>
                    <a:lstStyle/>
                    <a:p>
                      <a:r>
                        <a:rPr sz="1875">
                          <a:solidFill>
                            <a:srgbClr val="213A47"/>
                          </a:solidFill>
                          <a:latin typeface="Arial"/>
                          <a:ea typeface="Arial"/>
                          <a:cs typeface="Arial"/>
                        </a:rPr>
                        <a:t>3</a:t>
                      </a:r>
                    </a:p>
                  </a:txBody>
                  <a:tcPr marL="133350" marR="133350" marT="95250" marB="95250">
                    <a:solidFill>
                      <a:srgbClr val="FFFFFF"/>
                    </a:solidFill>
                  </a:tcPr>
                </a:tc>
                <a:tc>
                  <a:txBody>
                    <a:bodyPr/>
                    <a:lstStyle/>
                    <a:p>
                      <a:r>
                        <a:rPr sz="1875">
                          <a:solidFill>
                            <a:srgbClr val="213A47"/>
                          </a:solidFill>
                          <a:latin typeface="Arial"/>
                          <a:ea typeface="Arial"/>
                          <a:cs typeface="Arial"/>
                        </a:rPr>
                        <a:t>2</a:t>
                      </a:r>
                    </a:p>
                  </a:txBody>
                  <a:tcPr marL="133350" marR="133350" marT="95250" marB="95250">
                    <a:solidFill>
                      <a:srgbClr val="FFFFFF"/>
                    </a:solidFill>
                  </a:tcPr>
                </a:tc>
                <a:tc>
                  <a:txBody>
                    <a:bodyPr/>
                    <a:lstStyle/>
                    <a:p>
                      <a:r>
                        <a:rPr sz="1875">
                          <a:solidFill>
                            <a:srgbClr val="213A47"/>
                          </a:solidFill>
                          <a:latin typeface="Arial"/>
                          <a:ea typeface="Arial"/>
                          <a:cs typeface="Arial"/>
                        </a:rPr>
                        <a:t>2.5</a:t>
                      </a:r>
                    </a:p>
                  </a:txBody>
                  <a:tcPr marL="133350" marR="133350" marT="95250" marB="95250">
                    <a:solidFill>
                      <a:srgbClr val="FFFFFF"/>
                    </a:solidFill>
                  </a:tcPr>
                </a:tc>
              </a:tr>
              <a:tr h="657225">
                <a:tc>
                  <a:txBody>
                    <a:bodyPr/>
                    <a:lstStyle/>
                    <a:p>
                      <a:r>
                        <a:rPr sz="1875">
                          <a:solidFill>
                            <a:srgbClr val="213A47"/>
                          </a:solidFill>
                          <a:latin typeface="Arial"/>
                          <a:ea typeface="Arial"/>
                          <a:cs typeface="Arial"/>
                        </a:rPr>
                        <a:t>B</a:t>
                      </a:r>
                    </a:p>
                  </a:txBody>
                  <a:tcPr marL="133350" marR="133350" marT="95250" marB="95250">
                    <a:solidFill>
                      <a:srgbClr val="FFFFFF"/>
                    </a:solidFill>
                  </a:tcPr>
                </a:tc>
                <a:tc>
                  <a:txBody>
                    <a:bodyPr/>
                    <a:lstStyle/>
                    <a:p>
                      <a:r>
                        <a:rPr sz="1875">
                          <a:solidFill>
                            <a:srgbClr val="213A47"/>
                          </a:solidFill>
                          <a:latin typeface="Arial"/>
                          <a:ea typeface="Arial"/>
                          <a:cs typeface="Arial"/>
                        </a:rPr>
                        <a:t>1</a:t>
                      </a:r>
                    </a:p>
                  </a:txBody>
                  <a:tcPr marL="133350" marR="133350" marT="95250" marB="95250">
                    <a:solidFill>
                      <a:srgbClr val="FFFFFF"/>
                    </a:solidFill>
                  </a:tcPr>
                </a:tc>
                <a:tc>
                  <a:txBody>
                    <a:bodyPr/>
                    <a:lstStyle/>
                    <a:p>
                      <a:r>
                        <a:rPr sz="1875">
                          <a:solidFill>
                            <a:srgbClr val="213A47"/>
                          </a:solidFill>
                          <a:latin typeface="Arial"/>
                          <a:ea typeface="Arial"/>
                          <a:cs typeface="Arial"/>
                        </a:rPr>
                        <a:t>3</a:t>
                      </a:r>
                    </a:p>
                  </a:txBody>
                  <a:tcPr marL="133350" marR="133350" marT="95250" marB="95250">
                    <a:solidFill>
                      <a:srgbClr val="FFFFFF"/>
                    </a:solidFill>
                  </a:tcPr>
                </a:tc>
                <a:tc>
                  <a:txBody>
                    <a:bodyPr/>
                    <a:lstStyle/>
                    <a:p>
                      <a:r>
                        <a:rPr sz="1875">
                          <a:solidFill>
                            <a:srgbClr val="213A47"/>
                          </a:solidFill>
                          <a:latin typeface="Arial"/>
                          <a:ea typeface="Arial"/>
                          <a:cs typeface="Arial"/>
                        </a:rPr>
                        <a:t>2.0</a:t>
                      </a:r>
                    </a:p>
                  </a:txBody>
                  <a:tcPr marL="133350" marR="133350" marT="95250" marB="95250">
                    <a:solidFill>
                      <a:srgbClr val="FFFFFF"/>
                    </a:solidFill>
                  </a:tcPr>
                </a:tc>
              </a:tr>
              <a:tr h="657225">
                <a:tc>
                  <a:txBody>
                    <a:bodyPr/>
                    <a:lstStyle/>
                    <a:p>
                      <a:r>
                        <a:rPr sz="1875">
                          <a:solidFill>
                            <a:srgbClr val="213A47"/>
                          </a:solidFill>
                          <a:latin typeface="Arial"/>
                          <a:ea typeface="Arial"/>
                          <a:cs typeface="Arial"/>
                        </a:rPr>
                        <a:t>C</a:t>
                      </a:r>
                    </a:p>
                  </a:txBody>
                  <a:tcPr marL="133350" marR="133350" marT="95250" marB="95250">
                    <a:solidFill>
                      <a:srgbClr val="FFFFFF"/>
                    </a:solidFill>
                  </a:tcPr>
                </a:tc>
                <a:tc>
                  <a:txBody>
                    <a:bodyPr/>
                    <a:lstStyle/>
                    <a:p>
                      <a:r>
                        <a:rPr sz="1875">
                          <a:solidFill>
                            <a:srgbClr val="213A47"/>
                          </a:solidFill>
                          <a:latin typeface="Arial"/>
                          <a:ea typeface="Arial"/>
                          <a:cs typeface="Arial"/>
                        </a:rPr>
                        <a:t>2</a:t>
                      </a:r>
                    </a:p>
                  </a:txBody>
                  <a:tcPr marL="133350" marR="133350" marT="95250" marB="95250">
                    <a:solidFill>
                      <a:srgbClr val="FFFFFF"/>
                    </a:solidFill>
                  </a:tcPr>
                </a:tc>
                <a:tc>
                  <a:txBody>
                    <a:bodyPr/>
                    <a:lstStyle/>
                    <a:p>
                      <a:r>
                        <a:rPr sz="1875">
                          <a:solidFill>
                            <a:srgbClr val="213A47"/>
                          </a:solidFill>
                          <a:latin typeface="Arial"/>
                          <a:ea typeface="Arial"/>
                          <a:cs typeface="Arial"/>
                        </a:rPr>
                        <a:t>1</a:t>
                      </a:r>
                    </a:p>
                  </a:txBody>
                  <a:tcPr marL="133350" marR="133350" marT="95250" marB="95250">
                    <a:solidFill>
                      <a:srgbClr val="FFFFFF"/>
                    </a:solidFill>
                  </a:tcPr>
                </a:tc>
                <a:tc>
                  <a:txBody>
                    <a:bodyPr/>
                    <a:lstStyle/>
                    <a:p>
                      <a:r>
                        <a:rPr sz="1875">
                          <a:solidFill>
                            <a:srgbClr val="213A47"/>
                          </a:solidFill>
                          <a:latin typeface="Arial"/>
                          <a:ea typeface="Arial"/>
                          <a:cs typeface="Arial"/>
                        </a:rPr>
                        <a:t>1.5</a:t>
                      </a:r>
                    </a:p>
                  </a:txBody>
                  <a:tcPr marL="133350" marR="133350" marT="95250" marB="95250">
                    <a:solidFill>
                      <a:srgbClr val="FFFFFF"/>
                    </a:solidFill>
                  </a:tcPr>
                </a:tc>
              </a:tr>
              <a:tr h="657225">
                <a:tc>
                  <a:txBody>
                    <a:bodyPr/>
                    <a:lstStyle/>
                    <a:p>
                      <a:r>
                        <a:rPr sz="1875">
                          <a:solidFill>
                            <a:srgbClr val="213A47"/>
                          </a:solidFill>
                          <a:latin typeface="Arial"/>
                          <a:ea typeface="Arial"/>
                          <a:cs typeface="Arial"/>
                        </a:rPr>
                        <a:t>D</a:t>
                      </a:r>
                    </a:p>
                  </a:txBody>
                  <a:tcPr marL="133350" marR="133350" marT="95250" marB="95250">
                    <a:solidFill>
                      <a:srgbClr val="FFFFFF"/>
                    </a:solidFill>
                  </a:tcPr>
                </a:tc>
                <a:tc>
                  <a:txBody>
                    <a:bodyPr/>
                    <a:lstStyle/>
                    <a:p>
                      <a:r>
                        <a:rPr sz="1875">
                          <a:solidFill>
                            <a:srgbClr val="213A47"/>
                          </a:solidFill>
                          <a:latin typeface="Arial"/>
                          <a:ea typeface="Arial"/>
                          <a:cs typeface="Arial"/>
                        </a:rPr>
                        <a:t>4</a:t>
                      </a:r>
                    </a:p>
                  </a:txBody>
                  <a:tcPr marL="133350" marR="133350" marT="95250" marB="95250">
                    <a:solidFill>
                      <a:srgbClr val="FFFFFF"/>
                    </a:solidFill>
                  </a:tcPr>
                </a:tc>
                <a:tc>
                  <a:txBody>
                    <a:bodyPr/>
                    <a:lstStyle/>
                    <a:p>
                      <a:r>
                        <a:rPr sz="1875">
                          <a:solidFill>
                            <a:srgbClr val="213A47"/>
                          </a:solidFill>
                          <a:latin typeface="Arial"/>
                          <a:ea typeface="Arial"/>
                          <a:cs typeface="Arial"/>
                        </a:rPr>
                        <a:t>4</a:t>
                      </a:r>
                    </a:p>
                  </a:txBody>
                  <a:tcPr marL="133350" marR="133350" marT="95250" marB="95250">
                    <a:solidFill>
                      <a:srgbClr val="FFFFFF"/>
                    </a:solidFill>
                  </a:tcPr>
                </a:tc>
                <a:tc>
                  <a:txBody>
                    <a:bodyPr/>
                    <a:lstStyle/>
                    <a:p>
                      <a:r>
                        <a:rPr sz="1875">
                          <a:solidFill>
                            <a:srgbClr val="213A47"/>
                          </a:solidFill>
                          <a:latin typeface="Arial"/>
                          <a:ea typeface="Arial"/>
                          <a:cs typeface="Arial"/>
                        </a:rPr>
                        <a:t>4.0</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BDE440C-25C2-4176-9B5C-7B9FE2E2ACDE}"/>
              </a:ext>
            </a:extLst>
          </p:cNvPr>
          <p:cNvSpPr>
            <a:spLocks xmlns:a="http://schemas.openxmlformats.org/drawingml/2006/main" noGrp="1"/>
          </p:cNvSpPr>
          <p:nvPr/>
        </p:nvSpPr>
        <p:spPr>
          <a:xfrm xmlns:a="http://schemas.openxmlformats.org/drawingml/2006/main">
            <a:off x="609600" y="5381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Select C and B. Each receives 50% in this small example.</a:t>
            </a:r>
          </a:p>
        </p:txBody>
      </p:sp>
      <p:sp>
        <p:nvSpPr>
          <p:cNvPr id="6" name="">
            <a:extLst xmlns:a="http://schemas.openxmlformats.org/drawingml/2006/main">
              <a:ext uri="{FF2B5EF4-FFF2-40B4-BE49-F238E27FC236}">
                <a16:creationId xmlns:a16="http://schemas.microsoft.com/office/drawing/2014/main" id="{E27E4FC5-2893-43C7-A308-59189F24A4D5}"/>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In the actual baseline, the best 100 names each start at 1%. Smaller rank values are better.</a:t>
            </a:r>
          </a:p>
        </p:txBody>
      </p:sp>
    </p:spTree>
    <p:extLst>
      <p:ext uri="{BB962C8B-B14F-4D97-AF65-F5344CB8AC3E}">
        <p14:creationId xmlns:p14="http://schemas.microsoft.com/office/powerpoint/2010/main" val="8338868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0F8F63-1E98-46E5-A44D-9009D0660F1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Historical study and demonstration data</a:t>
            </a:r>
          </a:p>
        </p:txBody>
      </p:sp>
      <p:sp>
        <p:nvSpPr>
          <p:cNvPr id="2" name="">
            <a:extLst xmlns:a="http://schemas.openxmlformats.org/drawingml/2006/main">
              <a:ext uri="{FF2B5EF4-FFF2-40B4-BE49-F238E27FC236}">
                <a16:creationId xmlns:a16="http://schemas.microsoft.com/office/drawing/2014/main" id="{AE6A492E-3F0C-4E5B-86E4-7E3686B36F69}"/>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09</a:t>
            </a:r>
          </a:p>
        </p:txBody>
      </p:sp>
      <p:graphicFrame>
        <p:nvGraphicFramePr>
          <p:cNvPr id="7" name=""/>
          <p:cNvGraphicFramePr/>
          <p:nvPr/>
        </p:nvGraphicFramePr>
        <p:xfrm>
          <a:off xmlns:a="http://schemas.openxmlformats.org/drawingml/2006/main" x="609600" y="1771650"/>
          <a:ext xmlns:a="http://schemas.openxmlformats.org/drawingml/2006/main" cx="10972800" cy="3762375"/>
        </p:xfrm>
        <a:graphic xmlns:a="http://schemas.openxmlformats.org/drawingml/2006/main">
          <a:graphicData uri="http://schemas.openxmlformats.org/drawingml/2006/table">
            <a:tbl>
              <a:tblPr/>
              <a:tblGrid>
                <a:gridCol w="2238375"/>
                <a:gridCol w="4495800"/>
                <a:gridCol w="4238625"/>
              </a:tblGrid>
              <a:tr h="752475">
                <a:tc>
                  <a:txBody>
                    <a:bodyPr/>
                    <a:lstStyle/>
                    <a:p>
                      <a:r>
                        <a:rPr sz="1800" b="1">
                          <a:solidFill>
                            <a:srgbClr val="FFFFFF"/>
                          </a:solidFill>
                          <a:latin typeface="Arial"/>
                          <a:ea typeface="Arial"/>
                          <a:cs typeface="Arial"/>
                        </a:rPr>
                        <a:t>Dimension</a:t>
                      </a:r>
                    </a:p>
                  </a:txBody>
                  <a:tcPr marL="133350" marR="133350" marT="95250" marB="95250">
                    <a:solidFill>
                      <a:srgbClr val="152D3B"/>
                    </a:solidFill>
                  </a:tcPr>
                </a:tc>
                <a:tc>
                  <a:txBody>
                    <a:bodyPr/>
                    <a:lstStyle/>
                    <a:p>
                      <a:r>
                        <a:rPr sz="1800" b="1">
                          <a:solidFill>
                            <a:srgbClr val="FFFFFF"/>
                          </a:solidFill>
                          <a:latin typeface="Arial"/>
                          <a:ea typeface="Arial"/>
                          <a:cs typeface="Arial"/>
                        </a:rPr>
                        <a:t>Intended empirical study</a:t>
                      </a:r>
                    </a:p>
                  </a:txBody>
                  <a:tcPr marL="133350" marR="133350" marT="95250" marB="95250">
                    <a:solidFill>
                      <a:srgbClr val="152D3B"/>
                    </a:solidFill>
                  </a:tcPr>
                </a:tc>
                <a:tc>
                  <a:txBody>
                    <a:bodyPr/>
                    <a:lstStyle/>
                    <a:p>
                      <a:r>
                        <a:rPr sz="1800" b="1">
                          <a:solidFill>
                            <a:srgbClr val="FFFFFF"/>
                          </a:solidFill>
                          <a:latin typeface="Arial"/>
                          <a:ea typeface="Arial"/>
                          <a:cs typeface="Arial"/>
                        </a:rPr>
                        <a:t>Current demonstration</a:t>
                      </a:r>
                    </a:p>
                  </a:txBody>
                  <a:tcPr marL="133350" marR="133350" marT="95250" marB="95250">
                    <a:solidFill>
                      <a:srgbClr val="152D3B"/>
                    </a:solidFill>
                  </a:tcPr>
                </a:tc>
              </a:tr>
              <a:tr h="752475">
                <a:tc>
                  <a:txBody>
                    <a:bodyPr/>
                    <a:lstStyle/>
                    <a:p>
                      <a:r>
                        <a:rPr sz="1800">
                          <a:solidFill>
                            <a:srgbClr val="213A47"/>
                          </a:solidFill>
                          <a:latin typeface="Arial"/>
                          <a:ea typeface="Arial"/>
                          <a:cs typeface="Arial"/>
                        </a:rPr>
                        <a:t>Source</a:t>
                      </a:r>
                    </a:p>
                  </a:txBody>
                  <a:tcPr marL="133350" marR="133350" marT="95250" marB="95250">
                    <a:solidFill>
                      <a:srgbClr val="FFFFFF"/>
                    </a:solidFill>
                  </a:tcPr>
                </a:tc>
                <a:tc>
                  <a:txBody>
                    <a:bodyPr/>
                    <a:lstStyle/>
                    <a:p>
                      <a:r>
                        <a:rPr sz="1800">
                          <a:solidFill>
                            <a:srgbClr val="213A47"/>
                          </a:solidFill>
                          <a:latin typeface="Arial"/>
                          <a:ea typeface="Arial"/>
                          <a:cs typeface="Arial"/>
                        </a:rPr>
                        <a:t>WRDS / CRSP</a:t>
                      </a:r>
                    </a:p>
                  </a:txBody>
                  <a:tcPr marL="133350" marR="133350" marT="95250" marB="95250">
                    <a:solidFill>
                      <a:srgbClr val="FFFFFF"/>
                    </a:solidFill>
                  </a:tcPr>
                </a:tc>
                <a:tc>
                  <a:txBody>
                    <a:bodyPr/>
                    <a:lstStyle/>
                    <a:p>
                      <a:r>
                        <a:rPr sz="1800">
                          <a:solidFill>
                            <a:srgbClr val="213A47"/>
                          </a:solidFill>
                          <a:latin typeface="Arial"/>
                          <a:ea typeface="Arial"/>
                          <a:cs typeface="Arial"/>
                        </a:rPr>
                        <a:t>Seeded synthetic generator</a:t>
                      </a:r>
                    </a:p>
                  </a:txBody>
                  <a:tcPr marL="133350" marR="133350" marT="95250" marB="95250">
                    <a:solidFill>
                      <a:srgbClr val="FFFFFF"/>
                    </a:solidFill>
                  </a:tcPr>
                </a:tc>
              </a:tr>
              <a:tr h="752475">
                <a:tc>
                  <a:txBody>
                    <a:bodyPr/>
                    <a:lstStyle/>
                    <a:p>
                      <a:r>
                        <a:rPr sz="1800">
                          <a:solidFill>
                            <a:srgbClr val="213A47"/>
                          </a:solidFill>
                          <a:latin typeface="Arial"/>
                          <a:ea typeface="Arial"/>
                          <a:cs typeface="Arial"/>
                        </a:rPr>
                        <a:t>Return period</a:t>
                      </a:r>
                    </a:p>
                  </a:txBody>
                  <a:tcPr marL="133350" marR="133350" marT="95250" marB="95250">
                    <a:solidFill>
                      <a:srgbClr val="FFFFFF"/>
                    </a:solidFill>
                  </a:tcPr>
                </a:tc>
                <a:tc>
                  <a:txBody>
                    <a:bodyPr/>
                    <a:lstStyle/>
                    <a:p>
                      <a:r>
                        <a:rPr sz="1800">
                          <a:solidFill>
                            <a:srgbClr val="213A47"/>
                          </a:solidFill>
                          <a:latin typeface="Arial"/>
                          <a:ea typeface="Arial"/>
                          <a:cs typeface="Arial"/>
                        </a:rPr>
                        <a:t>1929 to latest full year</a:t>
                      </a:r>
                    </a:p>
                  </a:txBody>
                  <a:tcPr marL="133350" marR="133350" marT="95250" marB="95250">
                    <a:solidFill>
                      <a:srgbClr val="FFFFFF"/>
                    </a:solidFill>
                  </a:tcPr>
                </a:tc>
                <a:tc>
                  <a:txBody>
                    <a:bodyPr/>
                    <a:lstStyle/>
                    <a:p>
                      <a:r>
                        <a:rPr sz="1800">
                          <a:solidFill>
                            <a:srgbClr val="213A47"/>
                          </a:solidFill>
                          <a:latin typeface="Arial"/>
                          <a:ea typeface="Arial"/>
                          <a:cs typeface="Arial"/>
                        </a:rPr>
                        <a:t>January 2003–December 2025</a:t>
                      </a:r>
                    </a:p>
                  </a:txBody>
                  <a:tcPr marL="133350" marR="133350" marT="95250" marB="95250">
                    <a:solidFill>
                      <a:srgbClr val="FFFFFF"/>
                    </a:solidFill>
                  </a:tcPr>
                </a:tc>
              </a:tr>
              <a:tr h="752475">
                <a:tc>
                  <a:txBody>
                    <a:bodyPr/>
                    <a:lstStyle/>
                    <a:p>
                      <a:r>
                        <a:rPr sz="1800">
                          <a:solidFill>
                            <a:srgbClr val="213A47"/>
                          </a:solidFill>
                          <a:latin typeface="Arial"/>
                          <a:ea typeface="Arial"/>
                          <a:cs typeface="Arial"/>
                        </a:rPr>
                        <a:t>Universe</a:t>
                      </a:r>
                    </a:p>
                  </a:txBody>
                  <a:tcPr marL="133350" marR="133350" marT="95250" marB="95250">
                    <a:solidFill>
                      <a:srgbClr val="FFFFFF"/>
                    </a:solidFill>
                  </a:tcPr>
                </a:tc>
                <a:tc>
                  <a:txBody>
                    <a:bodyPr/>
                    <a:lstStyle/>
                    <a:p>
                      <a:r>
                        <a:rPr sz="1800">
                          <a:solidFill>
                            <a:srgbClr val="213A47"/>
                          </a:solidFill>
                          <a:latin typeface="Arial"/>
                          <a:ea typeface="Arial"/>
                          <a:cs typeface="Arial"/>
                        </a:rPr>
                        <a:t>Historical eligible US stocks</a:t>
                      </a:r>
                    </a:p>
                  </a:txBody>
                  <a:tcPr marL="133350" marR="133350" marT="95250" marB="95250">
                    <a:solidFill>
                      <a:srgbClr val="FFFFFF"/>
                    </a:solidFill>
                  </a:tcPr>
                </a:tc>
                <a:tc>
                  <a:txBody>
                    <a:bodyPr/>
                    <a:lstStyle/>
                    <a:p>
                      <a:r>
                        <a:rPr sz="1800">
                          <a:solidFill>
                            <a:srgbClr val="213A47"/>
                          </a:solidFill>
                          <a:latin typeface="Arial"/>
                          <a:ea typeface="Arial"/>
                          <a:cs typeface="Arial"/>
                        </a:rPr>
                        <a:t>1,100 artificial securities</a:t>
                      </a:r>
                    </a:p>
                  </a:txBody>
                  <a:tcPr marL="133350" marR="133350" marT="95250" marB="95250">
                    <a:solidFill>
                      <a:srgbClr val="FFFFFF"/>
                    </a:solidFill>
                  </a:tcPr>
                </a:tc>
              </a:tr>
              <a:tr h="752475">
                <a:tc>
                  <a:txBody>
                    <a:bodyPr/>
                    <a:lstStyle/>
                    <a:p>
                      <a:r>
                        <a:rPr sz="1800">
                          <a:solidFill>
                            <a:srgbClr val="213A47"/>
                          </a:solidFill>
                          <a:latin typeface="Arial"/>
                          <a:ea typeface="Arial"/>
                          <a:cs typeface="Arial"/>
                        </a:rPr>
                        <a:t>Interpretation</a:t>
                      </a:r>
                    </a:p>
                  </a:txBody>
                  <a:tcPr marL="133350" marR="133350" marT="95250" marB="95250">
                    <a:solidFill>
                      <a:srgbClr val="FFFFFF"/>
                    </a:solidFill>
                  </a:tcPr>
                </a:tc>
                <a:tc>
                  <a:txBody>
                    <a:bodyPr/>
                    <a:lstStyle/>
                    <a:p>
                      <a:r>
                        <a:rPr sz="1800">
                          <a:solidFill>
                            <a:srgbClr val="213A47"/>
                          </a:solidFill>
                          <a:latin typeface="Arial"/>
                          <a:ea typeface="Arial"/>
                          <a:cs typeface="Arial"/>
                        </a:rPr>
                        <a:t>Test the paper’s findings</a:t>
                      </a:r>
                    </a:p>
                  </a:txBody>
                  <a:tcPr marL="133350" marR="133350" marT="95250" marB="95250">
                    <a:solidFill>
                      <a:srgbClr val="FFFFFF"/>
                    </a:solidFill>
                  </a:tcPr>
                </a:tc>
                <a:tc>
                  <a:txBody>
                    <a:bodyPr/>
                    <a:lstStyle/>
                    <a:p>
                      <a:r>
                        <a:rPr sz="1800">
                          <a:solidFill>
                            <a:srgbClr val="213A47"/>
                          </a:solidFill>
                          <a:latin typeface="Arial"/>
                          <a:ea typeface="Arial"/>
                          <a:cs typeface="Arial"/>
                        </a:rPr>
                        <a:t>Illustrate the research workflow</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0790D92-96E2-4752-9FD8-C68B5F6CF158}"/>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Historical work must retain delisted names and reconcile legacy versus CIZ return conventions.</a:t>
            </a:r>
          </a:p>
        </p:txBody>
      </p:sp>
    </p:spTree>
    <p:extLst>
      <p:ext uri="{BB962C8B-B14F-4D97-AF65-F5344CB8AC3E}">
        <p14:creationId xmlns:p14="http://schemas.microsoft.com/office/powerpoint/2010/main" val="7186737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3F7A22-4066-4D5B-81BE-BD97C9E78194}"/>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Data errors can create apparent performance</a:t>
            </a:r>
          </a:p>
        </p:txBody>
      </p:sp>
      <p:sp>
        <p:nvSpPr>
          <p:cNvPr id="2" name="">
            <a:extLst xmlns:a="http://schemas.openxmlformats.org/drawingml/2006/main">
              <a:ext uri="{FF2B5EF4-FFF2-40B4-BE49-F238E27FC236}">
                <a16:creationId xmlns:a16="http://schemas.microsoft.com/office/drawing/2014/main" id="{BF6A88ED-423F-4BA7-B1FC-D316815C5584}"/>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10</a:t>
            </a:r>
          </a:p>
        </p:txBody>
      </p:sp>
      <p:graphicFrame>
        <p:nvGraphicFramePr>
          <p:cNvPr id="7" name=""/>
          <p:cNvGraphicFramePr/>
          <p:nvPr/>
        </p:nvGraphicFramePr>
        <p:xfrm>
          <a:off xmlns:a="http://schemas.openxmlformats.org/drawingml/2006/main" x="609600" y="1619250"/>
          <a:ext xmlns:a="http://schemas.openxmlformats.org/drawingml/2006/main" cx="10972800" cy="4114800"/>
        </p:xfrm>
        <a:graphic xmlns:a="http://schemas.openxmlformats.org/drawingml/2006/main">
          <a:graphicData uri="http://schemas.openxmlformats.org/drawingml/2006/table">
            <a:tbl>
              <a:tblPr/>
              <a:tblGrid>
                <a:gridCol w="3333750"/>
                <a:gridCol w="7639050"/>
              </a:tblGrid>
              <a:tr h="685800">
                <a:tc>
                  <a:txBody>
                    <a:bodyPr/>
                    <a:lstStyle/>
                    <a:p>
                      <a:r>
                        <a:rPr sz="1800" b="1">
                          <a:solidFill>
                            <a:srgbClr val="FFFFFF"/>
                          </a:solidFill>
                          <a:latin typeface="Arial"/>
                          <a:ea typeface="Arial"/>
                          <a:cs typeface="Arial"/>
                        </a:rPr>
                        <a:t>Risk</a:t>
                      </a:r>
                    </a:p>
                  </a:txBody>
                  <a:tcPr marL="133350" marR="133350" marT="95250" marB="95250">
                    <a:solidFill>
                      <a:srgbClr val="152D3B"/>
                    </a:solidFill>
                  </a:tcPr>
                </a:tc>
                <a:tc>
                  <a:txBody>
                    <a:bodyPr/>
                    <a:lstStyle/>
                    <a:p>
                      <a:r>
                        <a:rPr sz="1800" b="1">
                          <a:solidFill>
                            <a:srgbClr val="FFFFFF"/>
                          </a:solidFill>
                          <a:latin typeface="Arial"/>
                          <a:ea typeface="Arial"/>
                          <a:cs typeface="Arial"/>
                        </a:rPr>
                        <a:t>Required control</a:t>
                      </a:r>
                    </a:p>
                  </a:txBody>
                  <a:tcPr marL="133350" marR="133350" marT="95250" marB="95250">
                    <a:solidFill>
                      <a:srgbClr val="152D3B"/>
                    </a:solidFill>
                  </a:tcPr>
                </a:tc>
              </a:tr>
              <a:tr h="685800">
                <a:tc>
                  <a:txBody>
                    <a:bodyPr/>
                    <a:lstStyle/>
                    <a:p>
                      <a:r>
                        <a:rPr sz="1800">
                          <a:solidFill>
                            <a:srgbClr val="213A47"/>
                          </a:solidFill>
                          <a:latin typeface="Arial"/>
                          <a:ea typeface="Arial"/>
                          <a:cs typeface="Arial"/>
                        </a:rPr>
                        <a:t>Survivorship bias</a:t>
                      </a:r>
                    </a:p>
                  </a:txBody>
                  <a:tcPr marL="133350" marR="133350" marT="95250" marB="95250">
                    <a:solidFill>
                      <a:srgbClr val="FFFFFF"/>
                    </a:solidFill>
                  </a:tcPr>
                </a:tc>
                <a:tc>
                  <a:txBody>
                    <a:bodyPr/>
                    <a:lstStyle/>
                    <a:p>
                      <a:r>
                        <a:rPr sz="1800">
                          <a:solidFill>
                            <a:srgbClr val="213A47"/>
                          </a:solidFill>
                          <a:latin typeface="Arial"/>
                          <a:ea typeface="Arial"/>
                          <a:cs typeface="Arial"/>
                        </a:rPr>
                        <a:t>Include inactive and delisted securities</a:t>
                      </a:r>
                    </a:p>
                  </a:txBody>
                  <a:tcPr marL="133350" marR="133350" marT="95250" marB="95250">
                    <a:solidFill>
                      <a:srgbClr val="FFFFFF"/>
                    </a:solidFill>
                  </a:tcPr>
                </a:tc>
              </a:tr>
              <a:tr h="685800">
                <a:tc>
                  <a:txBody>
                    <a:bodyPr/>
                    <a:lstStyle/>
                    <a:p>
                      <a:r>
                        <a:rPr sz="1800">
                          <a:solidFill>
                            <a:srgbClr val="213A47"/>
                          </a:solidFill>
                          <a:latin typeface="Arial"/>
                          <a:ea typeface="Arial"/>
                          <a:cs typeface="Arial"/>
                        </a:rPr>
                        <a:t>Future information</a:t>
                      </a:r>
                    </a:p>
                  </a:txBody>
                  <a:tcPr marL="133350" marR="133350" marT="95250" marB="95250">
                    <a:solidFill>
                      <a:srgbClr val="FFFFFF"/>
                    </a:solidFill>
                  </a:tcPr>
                </a:tc>
                <a:tc>
                  <a:txBody>
                    <a:bodyPr/>
                    <a:lstStyle/>
                    <a:p>
                      <a:r>
                        <a:rPr sz="1800">
                          <a:solidFill>
                            <a:srgbClr val="213A47"/>
                          </a:solidFill>
                          <a:latin typeface="Arial"/>
                          <a:ea typeface="Arial"/>
                          <a:cs typeface="Arial"/>
                        </a:rPr>
                        <a:t>Use classifications and inputs known at formation</a:t>
                      </a:r>
                    </a:p>
                  </a:txBody>
                  <a:tcPr marL="133350" marR="133350" marT="95250" marB="95250">
                    <a:solidFill>
                      <a:srgbClr val="FFFFFF"/>
                    </a:solidFill>
                  </a:tcPr>
                </a:tc>
              </a:tr>
              <a:tr h="685800">
                <a:tc>
                  <a:txBody>
                    <a:bodyPr/>
                    <a:lstStyle/>
                    <a:p>
                      <a:r>
                        <a:rPr sz="1800">
                          <a:solidFill>
                            <a:srgbClr val="213A47"/>
                          </a:solidFill>
                          <a:latin typeface="Arial"/>
                          <a:ea typeface="Arial"/>
                          <a:cs typeface="Arial"/>
                        </a:rPr>
                        <a:t>Corporate actions</a:t>
                      </a:r>
                    </a:p>
                  </a:txBody>
                  <a:tcPr marL="133350" marR="133350" marT="95250" marB="95250">
                    <a:solidFill>
                      <a:srgbClr val="FFFFFF"/>
                    </a:solidFill>
                  </a:tcPr>
                </a:tc>
                <a:tc>
                  <a:txBody>
                    <a:bodyPr/>
                    <a:lstStyle/>
                    <a:p>
                      <a:r>
                        <a:rPr sz="1800">
                          <a:solidFill>
                            <a:srgbClr val="213A47"/>
                          </a:solidFill>
                          <a:latin typeface="Arial"/>
                          <a:ea typeface="Arial"/>
                          <a:cs typeface="Arial"/>
                        </a:rPr>
                        <a:t>Keep prices, dividends, and shares on a consistent basis</a:t>
                      </a:r>
                    </a:p>
                  </a:txBody>
                  <a:tcPr marL="133350" marR="133350" marT="95250" marB="95250">
                    <a:solidFill>
                      <a:srgbClr val="FFFFFF"/>
                    </a:solidFill>
                  </a:tcPr>
                </a:tc>
              </a:tr>
              <a:tr h="685800">
                <a:tc>
                  <a:txBody>
                    <a:bodyPr/>
                    <a:lstStyle/>
                    <a:p>
                      <a:r>
                        <a:rPr sz="1800">
                          <a:solidFill>
                            <a:srgbClr val="213A47"/>
                          </a:solidFill>
                          <a:latin typeface="Arial"/>
                          <a:ea typeface="Arial"/>
                          <a:cs typeface="Arial"/>
                        </a:rPr>
                        <a:t>Missing months</a:t>
                      </a:r>
                    </a:p>
                  </a:txBody>
                  <a:tcPr marL="133350" marR="133350" marT="95250" marB="95250">
                    <a:solidFill>
                      <a:srgbClr val="FFFFFF"/>
                    </a:solidFill>
                  </a:tcPr>
                </a:tc>
                <a:tc>
                  <a:txBody>
                    <a:bodyPr/>
                    <a:lstStyle/>
                    <a:p>
                      <a:r>
                        <a:rPr sz="1800">
                          <a:solidFill>
                            <a:srgbClr val="213A47"/>
                          </a:solidFill>
                          <a:latin typeface="Arial"/>
                          <a:ea typeface="Arial"/>
                          <a:cs typeface="Arial"/>
                        </a:rPr>
                        <a:t>Require consecutive observations in rolling windows</a:t>
                      </a:r>
                    </a:p>
                  </a:txBody>
                  <a:tcPr marL="133350" marR="133350" marT="95250" marB="95250">
                    <a:solidFill>
                      <a:srgbClr val="FFFFFF"/>
                    </a:solidFill>
                  </a:tcPr>
                </a:tc>
              </a:tr>
              <a:tr h="685800">
                <a:tc>
                  <a:txBody>
                    <a:bodyPr/>
                    <a:lstStyle/>
                    <a:p>
                      <a:r>
                        <a:rPr sz="1800">
                          <a:solidFill>
                            <a:srgbClr val="213A47"/>
                          </a:solidFill>
                          <a:latin typeface="Arial"/>
                          <a:ea typeface="Arial"/>
                          <a:cs typeface="Arial"/>
                        </a:rPr>
                        <a:t>Terminal returns</a:t>
                      </a:r>
                    </a:p>
                  </a:txBody>
                  <a:tcPr marL="133350" marR="133350" marT="95250" marB="95250">
                    <a:solidFill>
                      <a:srgbClr val="FFFFFF"/>
                    </a:solidFill>
                  </a:tcPr>
                </a:tc>
                <a:tc>
                  <a:txBody>
                    <a:bodyPr/>
                    <a:lstStyle/>
                    <a:p>
                      <a:r>
                        <a:rPr sz="1800">
                          <a:solidFill>
                            <a:srgbClr val="213A47"/>
                          </a:solidFill>
                          <a:latin typeface="Arial"/>
                          <a:ea typeface="Arial"/>
                          <a:cs typeface="Arial"/>
                        </a:rPr>
                        <a:t>Reconcile exit data and avoid double counting</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E11DFEA-22BB-40A9-9F21-4F823A7CB3B3}"/>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Current draft: stop on unexplained missing holding returns and report formation sample sizes.</a:t>
            </a:r>
          </a:p>
        </p:txBody>
      </p:sp>
    </p:spTree>
    <p:extLst>
      <p:ext uri="{BB962C8B-B14F-4D97-AF65-F5344CB8AC3E}">
        <p14:creationId xmlns:p14="http://schemas.microsoft.com/office/powerpoint/2010/main" val="7675636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644808-306F-41B9-A793-DD957A89C023}"/>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Portfolio accounting</a:t>
            </a:r>
          </a:p>
        </p:txBody>
      </p:sp>
      <p:sp>
        <p:nvSpPr>
          <p:cNvPr id="2" name="">
            <a:extLst xmlns:a="http://schemas.openxmlformats.org/drawingml/2006/main">
              <a:ext uri="{FF2B5EF4-FFF2-40B4-BE49-F238E27FC236}">
                <a16:creationId xmlns:a16="http://schemas.microsoft.com/office/drawing/2014/main" id="{5E35816F-ADF4-4C1F-A91A-136D68730EB1}"/>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1317654B-D296-4C42-B4B1-B769AC8642D9}"/>
              </a:ext>
            </a:extLst>
          </p:cNvPr>
          <p:cNvSpPr>
            <a:spLocks xmlns:a="http://schemas.openxmlformats.org/drawingml/2006/main" noGrp="1"/>
          </p:cNvSpPr>
          <p:nvPr/>
        </p:nvSpPr>
        <p:spPr>
          <a:xfrm xmlns:a="http://schemas.openxmlformats.org/drawingml/2006/main">
            <a:off x="609600" y="1962150"/>
            <a:ext cx="385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Quarterly targets</a:t>
            </a:r>
          </a:p>
        </p:txBody>
      </p:sp>
      <p:sp>
        <p:nvSpPr>
          <p:cNvPr id="4" name="">
            <a:extLst xmlns:a="http://schemas.openxmlformats.org/drawingml/2006/main">
              <a:ext uri="{FF2B5EF4-FFF2-40B4-BE49-F238E27FC236}">
                <a16:creationId xmlns:a16="http://schemas.microsoft.com/office/drawing/2014/main" id="{A83E356E-EF79-490F-89C6-6871AA6960F9}"/>
              </a:ext>
            </a:extLst>
          </p:cNvPr>
          <p:cNvSpPr>
            <a:spLocks xmlns:a="http://schemas.openxmlformats.org/drawingml/2006/main" noGrp="1"/>
          </p:cNvSpPr>
          <p:nvPr/>
        </p:nvSpPr>
        <p:spPr>
          <a:xfrm xmlns:a="http://schemas.openxmlformats.org/drawingml/2006/main">
            <a:off x="4810125" y="196215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Weights drift between rebalances</a:t>
            </a:r>
          </a:p>
        </p:txBody>
      </p:sp>
      <p:sp>
        <p:nvSpPr>
          <p:cNvPr id="5" name="">
            <a:extLst xmlns:a="http://schemas.openxmlformats.org/drawingml/2006/main">
              <a:ext uri="{FF2B5EF4-FFF2-40B4-BE49-F238E27FC236}">
                <a16:creationId xmlns:a16="http://schemas.microsoft.com/office/drawing/2014/main" id="{07F8132F-666F-4E95-8E84-8A3266D8D568}"/>
              </a:ext>
            </a:extLst>
          </p:cNvPr>
          <p:cNvSpPr>
            <a:spLocks xmlns:a="http://schemas.openxmlformats.org/drawingml/2006/main" noGrp="1"/>
          </p:cNvSpPr>
          <p:nvPr/>
        </p:nvSpPr>
        <p:spPr>
          <a:xfrm xmlns:a="http://schemas.openxmlformats.org/drawingml/2006/main">
            <a:off x="609600" y="2847975"/>
            <a:ext cx="385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Trading costs</a:t>
            </a:r>
          </a:p>
        </p:txBody>
      </p:sp>
      <p:sp>
        <p:nvSpPr>
          <p:cNvPr id="6" name="">
            <a:extLst xmlns:a="http://schemas.openxmlformats.org/drawingml/2006/main">
              <a:ext uri="{FF2B5EF4-FFF2-40B4-BE49-F238E27FC236}">
                <a16:creationId xmlns:a16="http://schemas.microsoft.com/office/drawing/2014/main" id="{09571071-1000-474E-9B32-6C9DBD63DA36}"/>
              </a:ext>
            </a:extLst>
          </p:cNvPr>
          <p:cNvSpPr>
            <a:spLocks xmlns:a="http://schemas.openxmlformats.org/drawingml/2006/main" noGrp="1"/>
          </p:cNvSpPr>
          <p:nvPr/>
        </p:nvSpPr>
        <p:spPr>
          <a:xfrm xmlns:a="http://schemas.openxmlformats.org/drawingml/2006/main">
            <a:off x="4810125" y="2847975"/>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Charge both purchases and sales</a:t>
            </a:r>
          </a:p>
        </p:txBody>
      </p:sp>
      <p:sp>
        <p:nvSpPr>
          <p:cNvPr id="7" name="">
            <a:extLst xmlns:a="http://schemas.openxmlformats.org/drawingml/2006/main">
              <a:ext uri="{FF2B5EF4-FFF2-40B4-BE49-F238E27FC236}">
                <a16:creationId xmlns:a16="http://schemas.microsoft.com/office/drawing/2014/main" id="{156EC1F0-6797-45FC-ADCB-2E6631D5212C}"/>
              </a:ext>
            </a:extLst>
          </p:cNvPr>
          <p:cNvSpPr>
            <a:spLocks xmlns:a="http://schemas.openxmlformats.org/drawingml/2006/main" noGrp="1"/>
          </p:cNvSpPr>
          <p:nvPr/>
        </p:nvSpPr>
        <p:spPr>
          <a:xfrm xmlns:a="http://schemas.openxmlformats.org/drawingml/2006/main">
            <a:off x="609600" y="3733800"/>
            <a:ext cx="385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Terminal events</a:t>
            </a:r>
          </a:p>
        </p:txBody>
      </p:sp>
      <p:sp>
        <p:nvSpPr>
          <p:cNvPr id="8" name="">
            <a:extLst xmlns:a="http://schemas.openxmlformats.org/drawingml/2006/main">
              <a:ext uri="{FF2B5EF4-FFF2-40B4-BE49-F238E27FC236}">
                <a16:creationId xmlns:a16="http://schemas.microsoft.com/office/drawing/2014/main" id="{24A2AF7C-3203-47F2-86D9-566BEC8381E8}"/>
              </a:ext>
            </a:extLst>
          </p:cNvPr>
          <p:cNvSpPr>
            <a:spLocks xmlns:a="http://schemas.openxmlformats.org/drawingml/2006/main" noGrp="1"/>
          </p:cNvSpPr>
          <p:nvPr/>
        </p:nvSpPr>
        <p:spPr>
          <a:xfrm xmlns:a="http://schemas.openxmlformats.org/drawingml/2006/main">
            <a:off x="4810125" y="373380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Final proceeds move to cash</a:t>
            </a:r>
          </a:p>
        </p:txBody>
      </p:sp>
      <p:sp>
        <p:nvSpPr>
          <p:cNvPr id="9" name="">
            <a:extLst xmlns:a="http://schemas.openxmlformats.org/drawingml/2006/main">
              <a:ext uri="{FF2B5EF4-FFF2-40B4-BE49-F238E27FC236}">
                <a16:creationId xmlns:a16="http://schemas.microsoft.com/office/drawing/2014/main" id="{1F81B3CA-4A65-4C73-AEDC-AC41453D4D7B}"/>
              </a:ext>
            </a:extLst>
          </p:cNvPr>
          <p:cNvSpPr>
            <a:spLocks xmlns:a="http://schemas.openxmlformats.org/drawingml/2006/main" noGrp="1"/>
          </p:cNvSpPr>
          <p:nvPr/>
        </p:nvSpPr>
        <p:spPr>
          <a:xfrm xmlns:a="http://schemas.openxmlformats.org/drawingml/2006/main">
            <a:off x="609600" y="4619625"/>
            <a:ext cx="385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Missing held returns</a:t>
            </a:r>
          </a:p>
        </p:txBody>
      </p:sp>
      <p:sp>
        <p:nvSpPr>
          <p:cNvPr id="10" name="">
            <a:extLst xmlns:a="http://schemas.openxmlformats.org/drawingml/2006/main">
              <a:ext uri="{FF2B5EF4-FFF2-40B4-BE49-F238E27FC236}">
                <a16:creationId xmlns:a16="http://schemas.microsoft.com/office/drawing/2014/main" id="{DE78E3B3-FDF0-4C41-9876-01ED9C59EDC5}"/>
              </a:ext>
            </a:extLst>
          </p:cNvPr>
          <p:cNvSpPr>
            <a:spLocks xmlns:a="http://schemas.openxmlformats.org/drawingml/2006/main" noGrp="1"/>
          </p:cNvSpPr>
          <p:nvPr/>
        </p:nvSpPr>
        <p:spPr>
          <a:xfrm xmlns:a="http://schemas.openxmlformats.org/drawingml/2006/main">
            <a:off x="4810125" y="4619625"/>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3A47"/>
                </a:solidFill>
                <a:latin typeface="Arial"/>
                <a:ea typeface="Arial"/>
                <a:cs typeface="Arial"/>
              </a:defRPr>
            </a:pPr>
            <a:r>
              <a:rPr sz="2175" b="0">
                <a:solidFill>
                  <a:srgbClr val="213A47"/>
                </a:solidFill>
                <a:latin typeface="Arial"/>
                <a:ea typeface="Arial"/>
                <a:cs typeface="Arial"/>
              </a:rPr>
              <a:t>Stop and reconcile the data</a:t>
            </a:r>
          </a:p>
        </p:txBody>
      </p:sp>
      <p:sp>
        <p:nvSpPr>
          <p:cNvPr id="11" name="">
            <a:extLst xmlns:a="http://schemas.openxmlformats.org/drawingml/2006/main">
              <a:ext uri="{FF2B5EF4-FFF2-40B4-BE49-F238E27FC236}">
                <a16:creationId xmlns:a16="http://schemas.microsoft.com/office/drawing/2014/main" id="{AEA29264-DA60-4F41-9458-3BF94779DCA6}"/>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Costs, cash returns, and initial purchases enter the backtest explicitly.</a:t>
            </a:r>
          </a:p>
        </p:txBody>
      </p:sp>
    </p:spTree>
    <p:extLst>
      <p:ext uri="{BB962C8B-B14F-4D97-AF65-F5344CB8AC3E}">
        <p14:creationId xmlns:p14="http://schemas.microsoft.com/office/powerpoint/2010/main" val="12229994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613469-03D2-4150-AD6B-AB5929962615}"/>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A worked transaction-cost example</a:t>
            </a:r>
          </a:p>
        </p:txBody>
      </p:sp>
      <p:sp>
        <p:nvSpPr>
          <p:cNvPr id="2" name="">
            <a:extLst xmlns:a="http://schemas.openxmlformats.org/drawingml/2006/main">
              <a:ext uri="{FF2B5EF4-FFF2-40B4-BE49-F238E27FC236}">
                <a16:creationId xmlns:a16="http://schemas.microsoft.com/office/drawing/2014/main" id="{AAACADFE-E0B2-4AFC-A830-197BEBF96426}"/>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372766E1-CACD-49CA-969C-A960B63BEDB5}"/>
              </a:ext>
            </a:extLst>
          </p:cNvPr>
          <p:cNvSpPr>
            <a:spLocks xmlns:a="http://schemas.openxmlformats.org/drawingml/2006/main" noGrp="1"/>
          </p:cNvSpPr>
          <p:nvPr/>
        </p:nvSpPr>
        <p:spPr>
          <a:xfrm xmlns:a="http://schemas.openxmlformats.org/drawingml/2006/main">
            <a:off x="609600" y="118110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07D"/>
                </a:solidFill>
                <a:latin typeface="Arial"/>
                <a:ea typeface="Arial"/>
                <a:cs typeface="Arial"/>
              </a:defRPr>
            </a:pPr>
            <a:r>
              <a:rPr sz="1875" b="0">
                <a:solidFill>
                  <a:srgbClr val="56707D"/>
                </a:solidFill>
                <a:latin typeface="Arial"/>
                <a:ea typeface="Arial"/>
                <a:cs typeface="Arial"/>
              </a:rPr>
              <a:t>Illustration: rebalance 20% out of old positions and 20% into new positions</a:t>
            </a:r>
          </a:p>
        </p:txBody>
      </p:sp>
      <p:sp>
        <p:nvSpPr>
          <p:cNvPr id="4" name="">
            <a:extLst xmlns:a="http://schemas.openxmlformats.org/drawingml/2006/main">
              <a:ext uri="{FF2B5EF4-FFF2-40B4-BE49-F238E27FC236}">
                <a16:creationId xmlns:a16="http://schemas.microsoft.com/office/drawing/2014/main" id="{3C66F6FA-9F42-465C-87F9-E9F3809C628B}"/>
              </a:ext>
            </a:extLst>
          </p:cNvPr>
          <p:cNvSpPr>
            <a:spLocks xmlns:a="http://schemas.openxmlformats.org/drawingml/2006/main" noGrp="1"/>
          </p:cNvSpPr>
          <p:nvPr/>
        </p:nvSpPr>
        <p:spPr>
          <a:xfrm xmlns:a="http://schemas.openxmlformats.org/drawingml/2006/main">
            <a:off x="609600" y="20764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Total traded notional</a:t>
            </a:r>
          </a:p>
        </p:txBody>
      </p:sp>
      <p:sp>
        <p:nvSpPr>
          <p:cNvPr id="5" name="">
            <a:extLst xmlns:a="http://schemas.openxmlformats.org/drawingml/2006/main">
              <a:ext uri="{FF2B5EF4-FFF2-40B4-BE49-F238E27FC236}">
                <a16:creationId xmlns:a16="http://schemas.microsoft.com/office/drawing/2014/main" id="{4E237019-BE23-4017-82CD-D3BB2C0D63D2}"/>
              </a:ext>
            </a:extLst>
          </p:cNvPr>
          <p:cNvSpPr>
            <a:spLocks xmlns:a="http://schemas.openxmlformats.org/drawingml/2006/main" noGrp="1"/>
          </p:cNvSpPr>
          <p:nvPr/>
        </p:nvSpPr>
        <p:spPr>
          <a:xfrm xmlns:a="http://schemas.openxmlformats.org/drawingml/2006/main">
            <a:off x="609600" y="25812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13A47"/>
                </a:solidFill>
                <a:latin typeface="Arial"/>
                <a:ea typeface="Arial"/>
                <a:cs typeface="Arial"/>
              </a:defRPr>
            </a:pPr>
            <a:r>
              <a:rPr sz="2325" b="0">
                <a:solidFill>
                  <a:srgbClr val="213A47"/>
                </a:solidFill>
                <a:latin typeface="Arial"/>
                <a:ea typeface="Arial"/>
                <a:cs typeface="Arial"/>
              </a:rPr>
              <a:t>20% sold + 20% bought = 40% of NAV</a:t>
            </a:r>
          </a:p>
        </p:txBody>
      </p:sp>
      <p:sp>
        <p:nvSpPr>
          <p:cNvPr id="6" name="">
            <a:extLst xmlns:a="http://schemas.openxmlformats.org/drawingml/2006/main">
              <a:ext uri="{FF2B5EF4-FFF2-40B4-BE49-F238E27FC236}">
                <a16:creationId xmlns:a16="http://schemas.microsoft.com/office/drawing/2014/main" id="{7E80DD3D-03CE-46C6-AFBF-A7E07D883810}"/>
              </a:ext>
            </a:extLst>
          </p:cNvPr>
          <p:cNvSpPr>
            <a:spLocks xmlns:a="http://schemas.openxmlformats.org/drawingml/2006/main" noGrp="1"/>
          </p:cNvSpPr>
          <p:nvPr/>
        </p:nvSpPr>
        <p:spPr>
          <a:xfrm xmlns:a="http://schemas.openxmlformats.org/drawingml/2006/main">
            <a:off x="609600" y="34194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Cost at 10 bps per dollar traded</a:t>
            </a:r>
          </a:p>
        </p:txBody>
      </p:sp>
      <p:sp>
        <p:nvSpPr>
          <p:cNvPr id="7" name="">
            <a:extLst xmlns:a="http://schemas.openxmlformats.org/drawingml/2006/main">
              <a:ext uri="{FF2B5EF4-FFF2-40B4-BE49-F238E27FC236}">
                <a16:creationId xmlns:a16="http://schemas.microsoft.com/office/drawing/2014/main" id="{B5EC24D6-D569-442D-858A-75C4A6688CB6}"/>
              </a:ext>
            </a:extLst>
          </p:cNvPr>
          <p:cNvSpPr>
            <a:spLocks xmlns:a="http://schemas.openxmlformats.org/drawingml/2006/main" noGrp="1"/>
          </p:cNvSpPr>
          <p:nvPr/>
        </p:nvSpPr>
        <p:spPr>
          <a:xfrm xmlns:a="http://schemas.openxmlformats.org/drawingml/2006/main">
            <a:off x="609600" y="39243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13A47"/>
                </a:solidFill>
                <a:latin typeface="Arial"/>
                <a:ea typeface="Arial"/>
                <a:cs typeface="Arial"/>
              </a:defRPr>
            </a:pPr>
            <a:r>
              <a:rPr sz="2325" b="0">
                <a:solidFill>
                  <a:srgbClr val="213A47"/>
                </a:solidFill>
                <a:latin typeface="Arial"/>
                <a:ea typeface="Arial"/>
                <a:cs typeface="Arial"/>
              </a:rPr>
              <a:t>0.40 × 0.001 = 0.0004 = 4 bps of NAV</a:t>
            </a:r>
          </a:p>
        </p:txBody>
      </p:sp>
      <p:sp>
        <p:nvSpPr>
          <p:cNvPr id="8" name="">
            <a:extLst xmlns:a="http://schemas.openxmlformats.org/drawingml/2006/main">
              <a:ext uri="{FF2B5EF4-FFF2-40B4-BE49-F238E27FC236}">
                <a16:creationId xmlns:a16="http://schemas.microsoft.com/office/drawing/2014/main" id="{3CDE2594-B1CA-4D95-8005-E20632A29B2E}"/>
              </a:ext>
            </a:extLst>
          </p:cNvPr>
          <p:cNvSpPr>
            <a:spLocks xmlns:a="http://schemas.openxmlformats.org/drawingml/2006/main" noGrp="1"/>
          </p:cNvSpPr>
          <p:nvPr/>
        </p:nvSpPr>
        <p:spPr>
          <a:xfrm xmlns:a="http://schemas.openxmlformats.org/drawingml/2006/main">
            <a:off x="609600" y="48196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13A47"/>
                </a:solidFill>
                <a:latin typeface="Arial"/>
                <a:ea typeface="Arial"/>
                <a:cs typeface="Arial"/>
              </a:defRPr>
            </a:pPr>
            <a:r>
              <a:rPr sz="2025" b="0">
                <a:solidFill>
                  <a:srgbClr val="213A47"/>
                </a:solidFill>
                <a:latin typeface="Arial"/>
                <a:ea typeface="Arial"/>
                <a:cs typeface="Arial"/>
              </a:rPr>
              <a:t>If gross monthly return is 2%:</a:t>
            </a:r>
          </a:p>
        </p:txBody>
      </p:sp>
      <p:sp>
        <p:nvSpPr>
          <p:cNvPr id="9" name="">
            <a:extLst xmlns:a="http://schemas.openxmlformats.org/drawingml/2006/main">
              <a:ext uri="{FF2B5EF4-FFF2-40B4-BE49-F238E27FC236}">
                <a16:creationId xmlns:a16="http://schemas.microsoft.com/office/drawing/2014/main" id="{79779EE9-FD20-45C1-97C3-5A7C27E839CF}"/>
              </a:ext>
            </a:extLst>
          </p:cNvPr>
          <p:cNvSpPr>
            <a:spLocks xmlns:a="http://schemas.openxmlformats.org/drawingml/2006/main" noGrp="1"/>
          </p:cNvSpPr>
          <p:nvPr/>
        </p:nvSpPr>
        <p:spPr>
          <a:xfrm xmlns:a="http://schemas.openxmlformats.org/drawingml/2006/main">
            <a:off x="609600" y="52673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D3B"/>
                </a:solidFill>
                <a:latin typeface="Arial"/>
                <a:ea typeface="Arial"/>
                <a:cs typeface="Arial"/>
              </a:defRPr>
            </a:pPr>
            <a:r>
              <a:rPr sz="2250" b="1">
                <a:solidFill>
                  <a:srgbClr val="152D3B"/>
                </a:solidFill>
                <a:latin typeface="Arial"/>
                <a:ea typeface="Arial"/>
                <a:cs typeface="Arial"/>
              </a:rPr>
              <a:t>Net return = (1 − 0.0004) × 1.02 − 1 = 1.9592%</a:t>
            </a:r>
          </a:p>
        </p:txBody>
      </p:sp>
      <p:sp>
        <p:nvSpPr>
          <p:cNvPr id="10" name="">
            <a:extLst xmlns:a="http://schemas.openxmlformats.org/drawingml/2006/main">
              <a:ext uri="{FF2B5EF4-FFF2-40B4-BE49-F238E27FC236}">
                <a16:creationId xmlns:a16="http://schemas.microsoft.com/office/drawing/2014/main" id="{81C87363-C2C3-43D0-B134-7DBDDDA5D6B5}"/>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The notebook counts both trade directions and includes the initial purchase.</a:t>
            </a:r>
          </a:p>
        </p:txBody>
      </p:sp>
    </p:spTree>
    <p:extLst>
      <p:ext uri="{BB962C8B-B14F-4D97-AF65-F5344CB8AC3E}">
        <p14:creationId xmlns:p14="http://schemas.microsoft.com/office/powerpoint/2010/main" val="6268770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B5677B5-2D39-4DAC-8633-C00677D28F13}"/>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Experiments</a:t>
            </a:r>
          </a:p>
        </p:txBody>
      </p:sp>
      <p:sp>
        <p:nvSpPr>
          <p:cNvPr id="2" name="">
            <a:extLst xmlns:a="http://schemas.openxmlformats.org/drawingml/2006/main">
              <a:ext uri="{FF2B5EF4-FFF2-40B4-BE49-F238E27FC236}">
                <a16:creationId xmlns:a16="http://schemas.microsoft.com/office/drawing/2014/main" id="{CB13A230-8360-4B3A-A227-57B3DBA23910}"/>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13</a:t>
            </a:r>
          </a:p>
        </p:txBody>
      </p:sp>
      <p:graphicFrame>
        <p:nvGraphicFramePr>
          <p:cNvPr id="6" name=""/>
          <p:cNvGraphicFramePr/>
          <p:nvPr/>
        </p:nvGraphicFramePr>
        <p:xfrm>
          <a:off xmlns:a="http://schemas.openxmlformats.org/drawingml/2006/main" x="609600" y="1847850"/>
          <a:ext xmlns:a="http://schemas.openxmlformats.org/drawingml/2006/main" cx="10972800" cy="3810000"/>
        </p:xfrm>
        <a:graphic xmlns:a="http://schemas.openxmlformats.org/drawingml/2006/main">
          <a:graphicData uri="http://schemas.openxmlformats.org/drawingml/2006/table">
            <a:tbl>
              <a:tblPr/>
              <a:tblGrid>
                <a:gridCol w="4429125"/>
                <a:gridCol w="6543675"/>
              </a:tblGrid>
              <a:tr h="762000">
                <a:tc>
                  <a:txBody>
                    <a:bodyPr/>
                    <a:lstStyle/>
                    <a:p>
                      <a:r>
                        <a:rPr sz="1875" b="1">
                          <a:solidFill>
                            <a:srgbClr val="FFFFFF"/>
                          </a:solidFill>
                          <a:latin typeface="Arial"/>
                          <a:ea typeface="Arial"/>
                          <a:cs typeface="Arial"/>
                        </a:rPr>
                        <a:t>Comparison</a:t>
                      </a:r>
                    </a:p>
                  </a:txBody>
                  <a:tcPr marL="133350" marR="133350" marT="95250" marB="95250">
                    <a:solidFill>
                      <a:srgbClr val="152D3B"/>
                    </a:solidFill>
                  </a:tcPr>
                </a:tc>
                <a:tc>
                  <a:txBody>
                    <a:bodyPr/>
                    <a:lstStyle/>
                    <a:p>
                      <a:r>
                        <a:rPr sz="1875" b="1">
                          <a:solidFill>
                            <a:srgbClr val="FFFFFF"/>
                          </a:solidFill>
                          <a:latin typeface="Arial"/>
                          <a:ea typeface="Arial"/>
                          <a:cs typeface="Arial"/>
                        </a:rPr>
                        <a:t>Research purpose</a:t>
                      </a:r>
                    </a:p>
                  </a:txBody>
                  <a:tcPr marL="133350" marR="133350" marT="95250" marB="95250">
                    <a:solidFill>
                      <a:srgbClr val="152D3B"/>
                    </a:solidFill>
                  </a:tcPr>
                </a:tc>
              </a:tr>
              <a:tr h="762000">
                <a:tc>
                  <a:txBody>
                    <a:bodyPr/>
                    <a:lstStyle/>
                    <a:p>
                      <a:r>
                        <a:rPr sz="1875">
                          <a:solidFill>
                            <a:srgbClr val="213A47"/>
                          </a:solidFill>
                          <a:latin typeface="Arial"/>
                          <a:ea typeface="Arial"/>
                          <a:cs typeface="Arial"/>
                        </a:rPr>
                        <a:t>Remove momentum or payout</a:t>
                      </a:r>
                    </a:p>
                  </a:txBody>
                  <a:tcPr marL="133350" marR="133350" marT="95250" marB="95250">
                    <a:solidFill>
                      <a:srgbClr val="FFFFFF"/>
                    </a:solidFill>
                  </a:tcPr>
                </a:tc>
                <a:tc>
                  <a:txBody>
                    <a:bodyPr/>
                    <a:lstStyle/>
                    <a:p>
                      <a:r>
                        <a:rPr sz="1875">
                          <a:solidFill>
                            <a:srgbClr val="213A47"/>
                          </a:solidFill>
                          <a:latin typeface="Arial"/>
                          <a:ea typeface="Arial"/>
                          <a:cs typeface="Arial"/>
                        </a:rPr>
                        <a:t>Measure each signal’s incremental contribution</a:t>
                      </a:r>
                    </a:p>
                  </a:txBody>
                  <a:tcPr marL="133350" marR="133350" marT="95250" marB="95250">
                    <a:solidFill>
                      <a:srgbClr val="FFFFFF"/>
                    </a:solidFill>
                  </a:tcPr>
                </a:tc>
              </a:tr>
              <a:tr h="762000">
                <a:tc>
                  <a:txBody>
                    <a:bodyPr/>
                    <a:lstStyle/>
                    <a:p>
                      <a:r>
                        <a:rPr sz="1875">
                          <a:solidFill>
                            <a:srgbClr val="213A47"/>
                          </a:solidFill>
                          <a:latin typeface="Arial"/>
                          <a:ea typeface="Arial"/>
                          <a:cs typeface="Arial"/>
                        </a:rPr>
                        <a:t>Remove the volatility screen</a:t>
                      </a:r>
                    </a:p>
                  </a:txBody>
                  <a:tcPr marL="133350" marR="133350" marT="95250" marB="95250">
                    <a:solidFill>
                      <a:srgbClr val="FFFFFF"/>
                    </a:solidFill>
                  </a:tcPr>
                </a:tc>
                <a:tc>
                  <a:txBody>
                    <a:bodyPr/>
                    <a:lstStyle/>
                    <a:p>
                      <a:r>
                        <a:rPr sz="1875">
                          <a:solidFill>
                            <a:srgbClr val="213A47"/>
                          </a:solidFill>
                          <a:latin typeface="Arial"/>
                          <a:ea typeface="Arial"/>
                          <a:cs typeface="Arial"/>
                        </a:rPr>
                        <a:t>Test whether defensive selection matters</a:t>
                      </a:r>
                    </a:p>
                  </a:txBody>
                  <a:tcPr marL="133350" marR="133350" marT="95250" marB="95250">
                    <a:solidFill>
                      <a:srgbClr val="FFFFFF"/>
                    </a:solidFill>
                  </a:tcPr>
                </a:tc>
              </a:tr>
              <a:tr h="762000">
                <a:tc>
                  <a:txBody>
                    <a:bodyPr/>
                    <a:lstStyle/>
                    <a:p>
                      <a:r>
                        <a:rPr sz="1875">
                          <a:solidFill>
                            <a:srgbClr val="213A47"/>
                          </a:solidFill>
                          <a:latin typeface="Arial"/>
                          <a:ea typeface="Arial"/>
                          <a:cs typeface="Arial"/>
                        </a:rPr>
                        <a:t>Equal / cap-weight universe</a:t>
                      </a:r>
                    </a:p>
                  </a:txBody>
                  <a:tcPr marL="133350" marR="133350" marT="95250" marB="95250">
                    <a:solidFill>
                      <a:srgbClr val="FFFFFF"/>
                    </a:solidFill>
                  </a:tcPr>
                </a:tc>
                <a:tc>
                  <a:txBody>
                    <a:bodyPr/>
                    <a:lstStyle/>
                    <a:p>
                      <a:r>
                        <a:rPr sz="1875">
                          <a:solidFill>
                            <a:srgbClr val="213A47"/>
                          </a:solidFill>
                          <a:latin typeface="Arial"/>
                          <a:ea typeface="Arial"/>
                          <a:cs typeface="Arial"/>
                        </a:rPr>
                        <a:t>Separate selection effects from weighting</a:t>
                      </a:r>
                    </a:p>
                  </a:txBody>
                  <a:tcPr marL="133350" marR="133350" marT="95250" marB="95250">
                    <a:solidFill>
                      <a:srgbClr val="FFFFFF"/>
                    </a:solidFill>
                  </a:tcPr>
                </a:tc>
              </a:tr>
              <a:tr h="762000">
                <a:tc>
                  <a:txBody>
                    <a:bodyPr/>
                    <a:lstStyle/>
                    <a:p>
                      <a:r>
                        <a:rPr sz="1875">
                          <a:solidFill>
                            <a:srgbClr val="213A47"/>
                          </a:solidFill>
                          <a:latin typeface="Arial"/>
                          <a:ea typeface="Arial"/>
                          <a:cs typeface="Arial"/>
                        </a:rPr>
                        <a:t>Later periods and costs</a:t>
                      </a:r>
                    </a:p>
                  </a:txBody>
                  <a:tcPr marL="133350" marR="133350" marT="95250" marB="95250">
                    <a:solidFill>
                      <a:srgbClr val="FFFFFF"/>
                    </a:solidFill>
                  </a:tcPr>
                </a:tc>
                <a:tc>
                  <a:txBody>
                    <a:bodyPr/>
                    <a:lstStyle/>
                    <a:p>
                      <a:r>
                        <a:rPr sz="1875">
                          <a:solidFill>
                            <a:srgbClr val="213A47"/>
                          </a:solidFill>
                          <a:latin typeface="Arial"/>
                          <a:ea typeface="Arial"/>
                          <a:cs typeface="Arial"/>
                        </a:rPr>
                        <a:t>Assess stability and implementation sensitivity</a:t>
                      </a:r>
                    </a:p>
                  </a:txBody>
                  <a:tcPr marL="133350" marR="133350" marT="95250" marB="95250">
                    <a:solidFill>
                      <a:srgbClr val="FFFFFF"/>
                    </a:solidFill>
                  </a:tcPr>
                </a:tc>
              </a:tr>
            </a:tbl>
          </a:graphicData>
        </a:graphic>
      </p:graphicFrame>
    </p:spTree>
    <p:extLst>
      <p:ext uri="{BB962C8B-B14F-4D97-AF65-F5344CB8AC3E}">
        <p14:creationId xmlns:p14="http://schemas.microsoft.com/office/powerpoint/2010/main" val="4448880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4FC21C-84D0-4982-AE6A-B14CEC9870B2}"/>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Performance across time</a:t>
            </a:r>
          </a:p>
        </p:txBody>
      </p:sp>
      <p:sp>
        <p:nvSpPr>
          <p:cNvPr id="2" name="">
            <a:extLst xmlns:a="http://schemas.openxmlformats.org/drawingml/2006/main">
              <a:ext uri="{FF2B5EF4-FFF2-40B4-BE49-F238E27FC236}">
                <a16:creationId xmlns:a16="http://schemas.microsoft.com/office/drawing/2014/main" id="{DFD117C6-CB25-4C9F-9667-60B5FD9D61B3}"/>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14</a:t>
            </a:r>
          </a:p>
        </p:txBody>
      </p:sp>
      <p:graphicFrame>
        <p:nvGraphicFramePr>
          <p:cNvPr id="8" name=""/>
          <p:cNvGraphicFramePr/>
          <p:nvPr/>
        </p:nvGraphicFramePr>
        <p:xfrm>
          <a:off xmlns:a="http://schemas.openxmlformats.org/drawingml/2006/main" x="609600" y="1847850"/>
          <a:ext xmlns:a="http://schemas.openxmlformats.org/drawingml/2006/main" cx="10972800" cy="3352800"/>
        </p:xfrm>
        <a:graphic xmlns:a="http://schemas.openxmlformats.org/drawingml/2006/main">
          <a:graphicData uri="http://schemas.openxmlformats.org/drawingml/2006/table">
            <a:tbl>
              <a:tblPr/>
              <a:tblGrid>
                <a:gridCol w="2524125"/>
                <a:gridCol w="3667125"/>
                <a:gridCol w="4781550"/>
              </a:tblGrid>
              <a:tr h="838200">
                <a:tc>
                  <a:txBody>
                    <a:bodyPr/>
                    <a:lstStyle/>
                    <a:p>
                      <a:r>
                        <a:rPr sz="1800" b="1">
                          <a:solidFill>
                            <a:srgbClr val="FFFFFF"/>
                          </a:solidFill>
                          <a:latin typeface="Arial"/>
                          <a:ea typeface="Arial"/>
                          <a:cs typeface="Arial"/>
                        </a:rPr>
                        <a:t>Period</a:t>
                      </a:r>
                    </a:p>
                  </a:txBody>
                  <a:tcPr marL="133350" marR="133350" marT="95250" marB="95250">
                    <a:solidFill>
                      <a:srgbClr val="152D3B"/>
                    </a:solidFill>
                  </a:tcPr>
                </a:tc>
                <a:tc>
                  <a:txBody>
                    <a:bodyPr/>
                    <a:lstStyle/>
                    <a:p>
                      <a:r>
                        <a:rPr sz="1800" b="1">
                          <a:solidFill>
                            <a:srgbClr val="FFFFFF"/>
                          </a:solidFill>
                          <a:latin typeface="Arial"/>
                          <a:ea typeface="Arial"/>
                          <a:cs typeface="Arial"/>
                        </a:rPr>
                        <a:t>Purpose</a:t>
                      </a:r>
                    </a:p>
                  </a:txBody>
                  <a:tcPr marL="133350" marR="133350" marT="95250" marB="95250">
                    <a:solidFill>
                      <a:srgbClr val="152D3B"/>
                    </a:solidFill>
                  </a:tcPr>
                </a:tc>
                <a:tc>
                  <a:txBody>
                    <a:bodyPr/>
                    <a:lstStyle/>
                    <a:p>
                      <a:r>
                        <a:rPr sz="1800" b="1">
                          <a:solidFill>
                            <a:srgbClr val="FFFFFF"/>
                          </a:solidFill>
                          <a:latin typeface="Arial"/>
                          <a:ea typeface="Arial"/>
                          <a:cs typeface="Arial"/>
                        </a:rPr>
                        <a:t>Interpretation</a:t>
                      </a:r>
                    </a:p>
                  </a:txBody>
                  <a:tcPr marL="133350" marR="133350" marT="95250" marB="95250">
                    <a:solidFill>
                      <a:srgbClr val="152D3B"/>
                    </a:solidFill>
                  </a:tcPr>
                </a:tc>
              </a:tr>
              <a:tr h="838200">
                <a:tc>
                  <a:txBody>
                    <a:bodyPr/>
                    <a:lstStyle/>
                    <a:p>
                      <a:r>
                        <a:rPr sz="1800">
                          <a:solidFill>
                            <a:srgbClr val="213A47"/>
                          </a:solidFill>
                          <a:latin typeface="Arial"/>
                          <a:ea typeface="Arial"/>
                          <a:cs typeface="Arial"/>
                        </a:rPr>
                        <a:t>Through 2016</a:t>
                      </a:r>
                    </a:p>
                  </a:txBody>
                  <a:tcPr marL="133350" marR="133350" marT="95250" marB="95250">
                    <a:solidFill>
                      <a:srgbClr val="FFFFFF"/>
                    </a:solidFill>
                  </a:tcPr>
                </a:tc>
                <a:tc>
                  <a:txBody>
                    <a:bodyPr/>
                    <a:lstStyle/>
                    <a:p>
                      <a:r>
                        <a:rPr sz="1800">
                          <a:solidFill>
                            <a:srgbClr val="213A47"/>
                          </a:solidFill>
                          <a:latin typeface="Arial"/>
                          <a:ea typeface="Arial"/>
                          <a:cs typeface="Arial"/>
                        </a:rPr>
                        <a:t>Compare with the paper</a:t>
                      </a:r>
                    </a:p>
                  </a:txBody>
                  <a:tcPr marL="133350" marR="133350" marT="95250" marB="95250">
                    <a:solidFill>
                      <a:srgbClr val="FFFFFF"/>
                    </a:solidFill>
                  </a:tcPr>
                </a:tc>
                <a:tc>
                  <a:txBody>
                    <a:bodyPr/>
                    <a:lstStyle/>
                    <a:p>
                      <a:r>
                        <a:rPr sz="1800">
                          <a:solidFill>
                            <a:srgbClr val="213A47"/>
                          </a:solidFill>
                          <a:latin typeface="Arial"/>
                          <a:ea typeface="Arial"/>
                          <a:cs typeface="Arial"/>
                        </a:rPr>
                        <a:t>Match coverage and conventions first</a:t>
                      </a:r>
                    </a:p>
                  </a:txBody>
                  <a:tcPr marL="133350" marR="133350" marT="95250" marB="95250">
                    <a:solidFill>
                      <a:srgbClr val="FFFFFF"/>
                    </a:solidFill>
                  </a:tcPr>
                </a:tc>
              </a:tr>
              <a:tr h="838200">
                <a:tc>
                  <a:txBody>
                    <a:bodyPr/>
                    <a:lstStyle/>
                    <a:p>
                      <a:r>
                        <a:rPr sz="1800">
                          <a:solidFill>
                            <a:srgbClr val="213A47"/>
                          </a:solidFill>
                          <a:latin typeface="Arial"/>
                          <a:ea typeface="Arial"/>
                          <a:cs typeface="Arial"/>
                        </a:rPr>
                        <a:t>2017–2018</a:t>
                      </a:r>
                    </a:p>
                  </a:txBody>
                  <a:tcPr marL="133350" marR="133350" marT="95250" marB="95250">
                    <a:solidFill>
                      <a:srgbClr val="FFFFFF"/>
                    </a:solidFill>
                  </a:tcPr>
                </a:tc>
                <a:tc>
                  <a:txBody>
                    <a:bodyPr/>
                    <a:lstStyle/>
                    <a:p>
                      <a:r>
                        <a:rPr sz="1800">
                          <a:solidFill>
                            <a:srgbClr val="213A47"/>
                          </a:solidFill>
                          <a:latin typeface="Arial"/>
                          <a:ea typeface="Arial"/>
                          <a:cs typeface="Arial"/>
                        </a:rPr>
                        <a:t>Separate the transition</a:t>
                      </a:r>
                    </a:p>
                  </a:txBody>
                  <a:tcPr marL="133350" marR="133350" marT="95250" marB="95250">
                    <a:solidFill>
                      <a:srgbClr val="FFFFFF"/>
                    </a:solidFill>
                  </a:tcPr>
                </a:tc>
                <a:tc>
                  <a:txBody>
                    <a:bodyPr/>
                    <a:lstStyle/>
                    <a:p>
                      <a:r>
                        <a:rPr sz="1800">
                          <a:solidFill>
                            <a:srgbClr val="213A47"/>
                          </a:solidFill>
                          <a:latin typeface="Arial"/>
                          <a:ea typeface="Arial"/>
                          <a:cs typeface="Arial"/>
                        </a:rPr>
                        <a:t>Two years is a short sample</a:t>
                      </a:r>
                    </a:p>
                  </a:txBody>
                  <a:tcPr marL="133350" marR="133350" marT="95250" marB="95250">
                    <a:solidFill>
                      <a:srgbClr val="FFFFFF"/>
                    </a:solidFill>
                  </a:tcPr>
                </a:tc>
              </a:tr>
              <a:tr h="838200">
                <a:tc>
                  <a:txBody>
                    <a:bodyPr/>
                    <a:lstStyle/>
                    <a:p>
                      <a:r>
                        <a:rPr sz="1800">
                          <a:solidFill>
                            <a:srgbClr val="213A47"/>
                          </a:solidFill>
                          <a:latin typeface="Arial"/>
                          <a:ea typeface="Arial"/>
                          <a:cs typeface="Arial"/>
                        </a:rPr>
                        <a:t>2019 onward</a:t>
                      </a:r>
                    </a:p>
                  </a:txBody>
                  <a:tcPr marL="133350" marR="133350" marT="95250" marB="95250">
                    <a:solidFill>
                      <a:srgbClr val="FFFFFF"/>
                    </a:solidFill>
                  </a:tcPr>
                </a:tc>
                <a:tc>
                  <a:txBody>
                    <a:bodyPr/>
                    <a:lstStyle/>
                    <a:p>
                      <a:r>
                        <a:rPr sz="1800">
                          <a:solidFill>
                            <a:srgbClr val="213A47"/>
                          </a:solidFill>
                          <a:latin typeface="Arial"/>
                          <a:ea typeface="Arial"/>
                          <a:cs typeface="Arial"/>
                        </a:rPr>
                        <a:t>Evaluate later performance</a:t>
                      </a:r>
                    </a:p>
                  </a:txBody>
                  <a:tcPr marL="133350" marR="133350" marT="95250" marB="95250">
                    <a:solidFill>
                      <a:srgbClr val="FFFFFF"/>
                    </a:solidFill>
                  </a:tcPr>
                </a:tc>
                <a:tc>
                  <a:txBody>
                    <a:bodyPr/>
                    <a:lstStyle/>
                    <a:p>
                      <a:r>
                        <a:rPr sz="1800">
                          <a:solidFill>
                            <a:srgbClr val="213A47"/>
                          </a:solidFill>
                          <a:latin typeface="Arial"/>
                          <a:ea typeface="Arial"/>
                          <a:cs typeface="Arial"/>
                        </a:rPr>
                        <a:t>Keep portfolio rules unchanged</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44D299-9C6B-4827-8AB5-4B53DDCD07BC}"/>
              </a:ext>
            </a:extLst>
          </p:cNvPr>
          <p:cNvSpPr>
            <a:spLocks xmlns:a="http://schemas.openxmlformats.org/drawingml/2006/main" noGrp="1"/>
          </p:cNvSpPr>
          <p:nvPr/>
        </p:nvSpPr>
        <p:spPr>
          <a:xfrm xmlns:a="http://schemas.openxmlformats.org/drawingml/2006/main">
            <a:off x="609600" y="54673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7D8D"/>
                </a:solidFill>
                <a:latin typeface="Arial"/>
                <a:ea typeface="Arial"/>
                <a:cs typeface="Arial"/>
              </a:defRPr>
            </a:pPr>
            <a:r>
              <a:rPr sz="2100" b="1">
                <a:solidFill>
                  <a:srgbClr val="137D8D"/>
                </a:solidFill>
                <a:latin typeface="Arial"/>
                <a:ea typeface="Arial"/>
                <a:cs typeface="Arial"/>
              </a:rPr>
              <a:t>Report actual dates and observation counts for every comparison.</a:t>
            </a:r>
          </a:p>
        </p:txBody>
      </p:sp>
      <p:sp>
        <p:nvSpPr>
          <p:cNvPr id="5" name="">
            <a:extLst xmlns:a="http://schemas.openxmlformats.org/drawingml/2006/main">
              <a:ext uri="{FF2B5EF4-FFF2-40B4-BE49-F238E27FC236}">
                <a16:creationId xmlns:a16="http://schemas.microsoft.com/office/drawing/2014/main" id="{CE93DD0B-C5CA-4974-B928-96D6543F6608}"/>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Later historical data are not an untouched prospective holdout for a researcher working in 2026.</a:t>
            </a:r>
          </a:p>
        </p:txBody>
      </p:sp>
    </p:spTree>
    <p:extLst>
      <p:ext uri="{BB962C8B-B14F-4D97-AF65-F5344CB8AC3E}">
        <p14:creationId xmlns:p14="http://schemas.microsoft.com/office/powerpoint/2010/main" val="10369763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4F0A8B-5D89-4770-A426-88D4C7FBCF36}"/>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Demonstration wealth paths</a:t>
            </a:r>
          </a:p>
        </p:txBody>
      </p:sp>
      <p:sp>
        <p:nvSpPr>
          <p:cNvPr id="2" name="">
            <a:extLst xmlns:a="http://schemas.openxmlformats.org/drawingml/2006/main">
              <a:ext uri="{FF2B5EF4-FFF2-40B4-BE49-F238E27FC236}">
                <a16:creationId xmlns:a16="http://schemas.microsoft.com/office/drawing/2014/main" id="{5F798D5E-1569-4517-9353-89A8B9A01EBA}"/>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5F911824-F7D9-4B3F-9983-ECCB454A5292}"/>
              </a:ext>
            </a:extLst>
          </p:cNvPr>
          <p:cNvSpPr>
            <a:spLocks xmlns:a="http://schemas.openxmlformats.org/drawingml/2006/main" noGrp="1"/>
          </p:cNvSpPr>
          <p:nvPr/>
        </p:nvSpPr>
        <p:spPr>
          <a:xfrm xmlns:a="http://schemas.openxmlformats.org/drawingml/2006/main">
            <a:off x="609600" y="1200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96211"/>
                </a:solidFill>
                <a:latin typeface="Arial"/>
                <a:ea typeface="Arial"/>
                <a:cs typeface="Arial"/>
              </a:defRPr>
            </a:pPr>
            <a:r>
              <a:rPr sz="1725" b="1">
                <a:solidFill>
                  <a:srgbClr val="996211"/>
                </a:solidFill>
                <a:latin typeface="Arial"/>
                <a:ea typeface="Arial"/>
                <a:cs typeface="Arial"/>
              </a:rPr>
              <a:t>SYNTHETIC DEMONSTRATION</a:t>
            </a:r>
          </a:p>
        </p:txBody>
      </p:sp>
      <p:graphicFrame>
        <p:nvGraphicFramePr>
          <p:cNvPr id="9" name="Chart"/>
          <p:cNvGraphicFramePr/>
          <p:nvPr/>
        </p:nvGraphicFramePr>
        <p:xfrm>
          <a:off xmlns:a="http://schemas.openxmlformats.org/drawingml/2006/main" x="609600" y="1885950"/>
          <a:ext xmlns:a="http://schemas.openxmlformats.org/drawingml/2006/main" cx="10972800" cy="3810000"/>
        </p:xfrm>
        <a:graphic xmlns:a="http://schemas.openxmlformats.org/drawingml/2006/main">
          <a:graphicData uri="http://schemas.openxmlformats.org/drawingml/2006/chart">
            <c:chart xmlns:r="http://schemas.openxmlformats.org/officeDocument/2006/relationships" xmlns:c="http://schemas.openxmlformats.org/drawingml/2006/chart" r:id="Rd7ba26dc71ec4d6f"/>
          </a:graphicData>
        </a:graphic>
      </p:graphicFrame>
      <p:sp>
        <p:nvSpPr>
          <p:cNvPr id="5" name="">
            <a:extLst xmlns:a="http://schemas.openxmlformats.org/drawingml/2006/main">
              <a:ext uri="{FF2B5EF4-FFF2-40B4-BE49-F238E27FC236}">
                <a16:creationId xmlns:a16="http://schemas.microsoft.com/office/drawing/2014/main" id="{3378A08E-2133-4DAC-90B5-06E0A92DB501}"/>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Year-end wealth, 2002–2025. Strategies include 10 bps per dollar traded. Synthetic market is gross.</a:t>
            </a:r>
          </a:p>
        </p:txBody>
      </p:sp>
    </p:spTree>
    <p:extLst>
      <p:ext uri="{BB962C8B-B14F-4D97-AF65-F5344CB8AC3E}">
        <p14:creationId xmlns:p14="http://schemas.microsoft.com/office/powerpoint/2010/main" val="14751264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76B8E0-4391-429F-A1DB-CD097297436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How to read the performance measures</a:t>
            </a:r>
          </a:p>
        </p:txBody>
      </p:sp>
      <p:sp>
        <p:nvSpPr>
          <p:cNvPr id="2" name="">
            <a:extLst xmlns:a="http://schemas.openxmlformats.org/drawingml/2006/main">
              <a:ext uri="{FF2B5EF4-FFF2-40B4-BE49-F238E27FC236}">
                <a16:creationId xmlns:a16="http://schemas.microsoft.com/office/drawing/2014/main" id="{52D9D88F-1E0E-4185-86AA-2C21C383A948}"/>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16</a:t>
            </a:r>
          </a:p>
        </p:txBody>
      </p:sp>
      <p:graphicFrame>
        <p:nvGraphicFramePr>
          <p:cNvPr id="7" name=""/>
          <p:cNvGraphicFramePr/>
          <p:nvPr/>
        </p:nvGraphicFramePr>
        <p:xfrm>
          <a:off xmlns:a="http://schemas.openxmlformats.org/drawingml/2006/main" x="609600" y="1619250"/>
          <a:ext xmlns:a="http://schemas.openxmlformats.org/drawingml/2006/main" cx="10972800" cy="4114800"/>
        </p:xfrm>
        <a:graphic xmlns:a="http://schemas.openxmlformats.org/drawingml/2006/main">
          <a:graphicData uri="http://schemas.openxmlformats.org/drawingml/2006/table">
            <a:tbl>
              <a:tblPr/>
              <a:tblGrid>
                <a:gridCol w="2476500"/>
                <a:gridCol w="4048125"/>
                <a:gridCol w="4448175"/>
              </a:tblGrid>
              <a:tr h="685800">
                <a:tc>
                  <a:txBody>
                    <a:bodyPr/>
                    <a:lstStyle/>
                    <a:p>
                      <a:r>
                        <a:rPr sz="1725" b="1">
                          <a:solidFill>
                            <a:srgbClr val="FFFFFF"/>
                          </a:solidFill>
                          <a:latin typeface="Arial"/>
                          <a:ea typeface="Arial"/>
                          <a:cs typeface="Arial"/>
                        </a:rPr>
                        <a:t>Measure</a:t>
                      </a:r>
                    </a:p>
                  </a:txBody>
                  <a:tcPr marL="133350" marR="133350" marT="95250" marB="95250">
                    <a:solidFill>
                      <a:srgbClr val="152D3B"/>
                    </a:solidFill>
                  </a:tcPr>
                </a:tc>
                <a:tc>
                  <a:txBody>
                    <a:bodyPr/>
                    <a:lstStyle/>
                    <a:p>
                      <a:r>
                        <a:rPr sz="1725" b="1">
                          <a:solidFill>
                            <a:srgbClr val="FFFFFF"/>
                          </a:solidFill>
                          <a:latin typeface="Arial"/>
                          <a:ea typeface="Arial"/>
                          <a:cs typeface="Arial"/>
                        </a:rPr>
                        <a:t>Meaning</a:t>
                      </a:r>
                    </a:p>
                  </a:txBody>
                  <a:tcPr marL="133350" marR="133350" marT="95250" marB="95250">
                    <a:solidFill>
                      <a:srgbClr val="152D3B"/>
                    </a:solidFill>
                  </a:tcPr>
                </a:tc>
                <a:tc>
                  <a:txBody>
                    <a:bodyPr/>
                    <a:lstStyle/>
                    <a:p>
                      <a:r>
                        <a:rPr sz="1725" b="1">
                          <a:solidFill>
                            <a:srgbClr val="FFFFFF"/>
                          </a:solidFill>
                          <a:latin typeface="Arial"/>
                          <a:ea typeface="Arial"/>
                          <a:cs typeface="Arial"/>
                        </a:rPr>
                        <a:t>Question it answers</a:t>
                      </a:r>
                    </a:p>
                  </a:txBody>
                  <a:tcPr marL="133350" marR="133350" marT="95250" marB="95250">
                    <a:solidFill>
                      <a:srgbClr val="152D3B"/>
                    </a:solidFill>
                  </a:tcPr>
                </a:tc>
              </a:tr>
              <a:tr h="685800">
                <a:tc>
                  <a:txBody>
                    <a:bodyPr/>
                    <a:lstStyle/>
                    <a:p>
                      <a:r>
                        <a:rPr sz="1725">
                          <a:solidFill>
                            <a:srgbClr val="213A47"/>
                          </a:solidFill>
                          <a:latin typeface="Arial"/>
                          <a:ea typeface="Arial"/>
                          <a:cs typeface="Arial"/>
                        </a:rPr>
                        <a:t>CAGR</a:t>
                      </a:r>
                    </a:p>
                  </a:txBody>
                  <a:tcPr marL="133350" marR="133350" marT="95250" marB="95250">
                    <a:solidFill>
                      <a:srgbClr val="FFFFFF"/>
                    </a:solidFill>
                  </a:tcPr>
                </a:tc>
                <a:tc>
                  <a:txBody>
                    <a:bodyPr/>
                    <a:lstStyle/>
                    <a:p>
                      <a:r>
                        <a:rPr sz="1725">
                          <a:solidFill>
                            <a:srgbClr val="213A47"/>
                          </a:solidFill>
                          <a:latin typeface="Arial"/>
                          <a:ea typeface="Arial"/>
                          <a:cs typeface="Arial"/>
                        </a:rPr>
                        <a:t>Compounded annual growth</a:t>
                      </a:r>
                    </a:p>
                  </a:txBody>
                  <a:tcPr marL="133350" marR="133350" marT="95250" marB="95250">
                    <a:solidFill>
                      <a:srgbClr val="FFFFFF"/>
                    </a:solidFill>
                  </a:tcPr>
                </a:tc>
                <a:tc>
                  <a:txBody>
                    <a:bodyPr/>
                    <a:lstStyle/>
                    <a:p>
                      <a:r>
                        <a:rPr sz="1725">
                          <a:solidFill>
                            <a:srgbClr val="213A47"/>
                          </a:solidFill>
                          <a:latin typeface="Arial"/>
                          <a:ea typeface="Arial"/>
                          <a:cs typeface="Arial"/>
                        </a:rPr>
                        <a:t>How fast did wealth grow?</a:t>
                      </a:r>
                    </a:p>
                  </a:txBody>
                  <a:tcPr marL="133350" marR="133350" marT="95250" marB="95250">
                    <a:solidFill>
                      <a:srgbClr val="FFFFFF"/>
                    </a:solidFill>
                  </a:tcPr>
                </a:tc>
              </a:tr>
              <a:tr h="685800">
                <a:tc>
                  <a:txBody>
                    <a:bodyPr/>
                    <a:lstStyle/>
                    <a:p>
                      <a:r>
                        <a:rPr sz="1725">
                          <a:solidFill>
                            <a:srgbClr val="213A47"/>
                          </a:solidFill>
                          <a:latin typeface="Arial"/>
                          <a:ea typeface="Arial"/>
                          <a:cs typeface="Arial"/>
                        </a:rPr>
                        <a:t>Volatility</a:t>
                      </a:r>
                    </a:p>
                  </a:txBody>
                  <a:tcPr marL="133350" marR="133350" marT="95250" marB="95250">
                    <a:solidFill>
                      <a:srgbClr val="FFFFFF"/>
                    </a:solidFill>
                  </a:tcPr>
                </a:tc>
                <a:tc>
                  <a:txBody>
                    <a:bodyPr/>
                    <a:lstStyle/>
                    <a:p>
                      <a:r>
                        <a:rPr sz="1725">
                          <a:solidFill>
                            <a:srgbClr val="213A47"/>
                          </a:solidFill>
                          <a:latin typeface="Arial"/>
                          <a:ea typeface="Arial"/>
                          <a:cs typeface="Arial"/>
                        </a:rPr>
                        <a:t>Annualized monthly variability</a:t>
                      </a:r>
                    </a:p>
                  </a:txBody>
                  <a:tcPr marL="133350" marR="133350" marT="95250" marB="95250">
                    <a:solidFill>
                      <a:srgbClr val="FFFFFF"/>
                    </a:solidFill>
                  </a:tcPr>
                </a:tc>
                <a:tc>
                  <a:txBody>
                    <a:bodyPr/>
                    <a:lstStyle/>
                    <a:p>
                      <a:r>
                        <a:rPr sz="1725">
                          <a:solidFill>
                            <a:srgbClr val="213A47"/>
                          </a:solidFill>
                          <a:latin typeface="Arial"/>
                          <a:ea typeface="Arial"/>
                          <a:cs typeface="Arial"/>
                        </a:rPr>
                        <a:t>How variable were returns?</a:t>
                      </a:r>
                    </a:p>
                  </a:txBody>
                  <a:tcPr marL="133350" marR="133350" marT="95250" marB="95250">
                    <a:solidFill>
                      <a:srgbClr val="FFFFFF"/>
                    </a:solidFill>
                  </a:tcPr>
                </a:tc>
              </a:tr>
              <a:tr h="685800">
                <a:tc>
                  <a:txBody>
                    <a:bodyPr/>
                    <a:lstStyle/>
                    <a:p>
                      <a:r>
                        <a:rPr sz="1725">
                          <a:solidFill>
                            <a:srgbClr val="213A47"/>
                          </a:solidFill>
                          <a:latin typeface="Arial"/>
                          <a:ea typeface="Arial"/>
                          <a:cs typeface="Arial"/>
                        </a:rPr>
                        <a:t>Sharpe ratio</a:t>
                      </a:r>
                    </a:p>
                  </a:txBody>
                  <a:tcPr marL="133350" marR="133350" marT="95250" marB="95250">
                    <a:solidFill>
                      <a:srgbClr val="FFFFFF"/>
                    </a:solidFill>
                  </a:tcPr>
                </a:tc>
                <a:tc>
                  <a:txBody>
                    <a:bodyPr/>
                    <a:lstStyle/>
                    <a:p>
                      <a:r>
                        <a:rPr sz="1725">
                          <a:solidFill>
                            <a:srgbClr val="213A47"/>
                          </a:solidFill>
                          <a:latin typeface="Arial"/>
                          <a:ea typeface="Arial"/>
                          <a:cs typeface="Arial"/>
                        </a:rPr>
                        <a:t>Excess return per unit of variability</a:t>
                      </a:r>
                    </a:p>
                  </a:txBody>
                  <a:tcPr marL="133350" marR="133350" marT="95250" marB="95250">
                    <a:solidFill>
                      <a:srgbClr val="FFFFFF"/>
                    </a:solidFill>
                  </a:tcPr>
                </a:tc>
                <a:tc>
                  <a:txBody>
                    <a:bodyPr/>
                    <a:lstStyle/>
                    <a:p>
                      <a:r>
                        <a:rPr sz="1725">
                          <a:solidFill>
                            <a:srgbClr val="213A47"/>
                          </a:solidFill>
                          <a:latin typeface="Arial"/>
                          <a:ea typeface="Arial"/>
                          <a:cs typeface="Arial"/>
                        </a:rPr>
                        <a:t>Was return attractive relative to risk?</a:t>
                      </a:r>
                    </a:p>
                  </a:txBody>
                  <a:tcPr marL="133350" marR="133350" marT="95250" marB="95250">
                    <a:solidFill>
                      <a:srgbClr val="FFFFFF"/>
                    </a:solidFill>
                  </a:tcPr>
                </a:tc>
              </a:tr>
              <a:tr h="685800">
                <a:tc>
                  <a:txBody>
                    <a:bodyPr/>
                    <a:lstStyle/>
                    <a:p>
                      <a:r>
                        <a:rPr sz="1725">
                          <a:solidFill>
                            <a:srgbClr val="213A47"/>
                          </a:solidFill>
                          <a:latin typeface="Arial"/>
                          <a:ea typeface="Arial"/>
                          <a:cs typeface="Arial"/>
                        </a:rPr>
                        <a:t>Maximum drawdown</a:t>
                      </a:r>
                    </a:p>
                  </a:txBody>
                  <a:tcPr marL="133350" marR="133350" marT="95250" marB="95250">
                    <a:solidFill>
                      <a:srgbClr val="FFFFFF"/>
                    </a:solidFill>
                  </a:tcPr>
                </a:tc>
                <a:tc>
                  <a:txBody>
                    <a:bodyPr/>
                    <a:lstStyle/>
                    <a:p>
                      <a:r>
                        <a:rPr sz="1725">
                          <a:solidFill>
                            <a:srgbClr val="213A47"/>
                          </a:solidFill>
                          <a:latin typeface="Arial"/>
                          <a:ea typeface="Arial"/>
                          <a:cs typeface="Arial"/>
                        </a:rPr>
                        <a:t>Worst loss from a prior wealth peak</a:t>
                      </a:r>
                    </a:p>
                  </a:txBody>
                  <a:tcPr marL="133350" marR="133350" marT="95250" marB="95250">
                    <a:solidFill>
                      <a:srgbClr val="FFFFFF"/>
                    </a:solidFill>
                  </a:tcPr>
                </a:tc>
                <a:tc>
                  <a:txBody>
                    <a:bodyPr/>
                    <a:lstStyle/>
                    <a:p>
                      <a:r>
                        <a:rPr sz="1725">
                          <a:solidFill>
                            <a:srgbClr val="213A47"/>
                          </a:solidFill>
                          <a:latin typeface="Arial"/>
                          <a:ea typeface="Arial"/>
                          <a:cs typeface="Arial"/>
                        </a:rPr>
                        <a:t>How severe was the deepest decline?</a:t>
                      </a:r>
                    </a:p>
                  </a:txBody>
                  <a:tcPr marL="133350" marR="133350" marT="95250" marB="95250">
                    <a:solidFill>
                      <a:srgbClr val="FFFFFF"/>
                    </a:solidFill>
                  </a:tcPr>
                </a:tc>
              </a:tr>
              <a:tr h="685800">
                <a:tc>
                  <a:txBody>
                    <a:bodyPr/>
                    <a:lstStyle/>
                    <a:p>
                      <a:r>
                        <a:rPr sz="1725">
                          <a:solidFill>
                            <a:srgbClr val="213A47"/>
                          </a:solidFill>
                          <a:latin typeface="Arial"/>
                          <a:ea typeface="Arial"/>
                          <a:cs typeface="Arial"/>
                        </a:rPr>
                        <a:t>Turnover</a:t>
                      </a:r>
                    </a:p>
                  </a:txBody>
                  <a:tcPr marL="133350" marR="133350" marT="95250" marB="95250">
                    <a:solidFill>
                      <a:srgbClr val="FFFFFF"/>
                    </a:solidFill>
                  </a:tcPr>
                </a:tc>
                <a:tc>
                  <a:txBody>
                    <a:bodyPr/>
                    <a:lstStyle/>
                    <a:p>
                      <a:r>
                        <a:rPr sz="1725">
                          <a:solidFill>
                            <a:srgbClr val="213A47"/>
                          </a:solidFill>
                          <a:latin typeface="Arial"/>
                          <a:ea typeface="Arial"/>
                          <a:cs typeface="Arial"/>
                        </a:rPr>
                        <a:t>Trading relative to portfolio size</a:t>
                      </a:r>
                    </a:p>
                  </a:txBody>
                  <a:tcPr marL="133350" marR="133350" marT="95250" marB="95250">
                    <a:solidFill>
                      <a:srgbClr val="FFFFFF"/>
                    </a:solidFill>
                  </a:tcPr>
                </a:tc>
                <a:tc>
                  <a:txBody>
                    <a:bodyPr/>
                    <a:lstStyle/>
                    <a:p>
                      <a:r>
                        <a:rPr sz="1725">
                          <a:solidFill>
                            <a:srgbClr val="213A47"/>
                          </a:solidFill>
                          <a:latin typeface="Arial"/>
                          <a:ea typeface="Arial"/>
                          <a:cs typeface="Arial"/>
                        </a:rPr>
                        <a:t>How much implementation activity?</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53903FB-6114-4C70-ADD2-31D7A3F8D7BE}"/>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The market benchmark is gross. Strategy results include the chosen cost scenario.</a:t>
            </a:r>
          </a:p>
        </p:txBody>
      </p:sp>
    </p:spTree>
    <p:extLst>
      <p:ext uri="{BB962C8B-B14F-4D97-AF65-F5344CB8AC3E}">
        <p14:creationId xmlns:p14="http://schemas.microsoft.com/office/powerpoint/2010/main" val="2430740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D65A57-741C-4B39-9054-DA97B31E4047}"/>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Demonstration performance measures</a:t>
            </a:r>
          </a:p>
        </p:txBody>
      </p:sp>
      <p:sp>
        <p:nvSpPr>
          <p:cNvPr id="2" name="">
            <a:extLst xmlns:a="http://schemas.openxmlformats.org/drawingml/2006/main">
              <a:ext uri="{FF2B5EF4-FFF2-40B4-BE49-F238E27FC236}">
                <a16:creationId xmlns:a16="http://schemas.microsoft.com/office/drawing/2014/main" id="{5360B80A-50DE-4ED0-A83A-C35F2FF11812}"/>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F064FCEB-E113-4699-A307-C7D5A716185A}"/>
              </a:ext>
            </a:extLst>
          </p:cNvPr>
          <p:cNvSpPr>
            <a:spLocks xmlns:a="http://schemas.openxmlformats.org/drawingml/2006/main" noGrp="1"/>
          </p:cNvSpPr>
          <p:nvPr/>
        </p:nvSpPr>
        <p:spPr>
          <a:xfrm xmlns:a="http://schemas.openxmlformats.org/drawingml/2006/main">
            <a:off x="609600" y="1200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96211"/>
                </a:solidFill>
                <a:latin typeface="Arial"/>
                <a:ea typeface="Arial"/>
                <a:cs typeface="Arial"/>
              </a:defRPr>
            </a:pPr>
            <a:r>
              <a:rPr sz="1725" b="1">
                <a:solidFill>
                  <a:srgbClr val="996211"/>
                </a:solidFill>
                <a:latin typeface="Arial"/>
                <a:ea typeface="Arial"/>
                <a:cs typeface="Arial"/>
              </a:rPr>
              <a:t>SYNTHETIC DEMONSTRATION</a:t>
            </a:r>
          </a:p>
        </p:txBody>
      </p:sp>
      <p:graphicFrame>
        <p:nvGraphicFramePr>
          <p:cNvPr id="9" name=""/>
          <p:cNvGraphicFramePr/>
          <p:nvPr/>
        </p:nvGraphicFramePr>
        <p:xfrm>
          <a:off xmlns:a="http://schemas.openxmlformats.org/drawingml/2006/main" x="609600" y="1905000"/>
          <a:ext xmlns:a="http://schemas.openxmlformats.org/drawingml/2006/main" cx="10972800" cy="3619500"/>
        </p:xfrm>
        <a:graphic xmlns:a="http://schemas.openxmlformats.org/drawingml/2006/main">
          <a:graphicData uri="http://schemas.openxmlformats.org/drawingml/2006/table">
            <a:tbl>
              <a:tblPr/>
              <a:tblGrid>
                <a:gridCol w="3429000"/>
                <a:gridCol w="1638300"/>
                <a:gridCol w="1828800"/>
                <a:gridCol w="1485900"/>
                <a:gridCol w="2590800"/>
              </a:tblGrid>
              <a:tr h="723900">
                <a:tc>
                  <a:txBody>
                    <a:bodyPr/>
                    <a:lstStyle/>
                    <a:p>
                      <a:r>
                        <a:rPr sz="1800" b="1">
                          <a:solidFill>
                            <a:srgbClr val="FFFFFF"/>
                          </a:solidFill>
                          <a:latin typeface="Arial"/>
                          <a:ea typeface="Arial"/>
                          <a:cs typeface="Arial"/>
                        </a:rPr>
                        <a:t>Portfolio</a:t>
                      </a:r>
                    </a:p>
                  </a:txBody>
                  <a:tcPr marL="133350" marR="133350" marT="95250" marB="95250">
                    <a:solidFill>
                      <a:srgbClr val="152D3B"/>
                    </a:solidFill>
                  </a:tcPr>
                </a:tc>
                <a:tc>
                  <a:txBody>
                    <a:bodyPr/>
                    <a:lstStyle/>
                    <a:p>
                      <a:r>
                        <a:rPr sz="1800" b="1">
                          <a:solidFill>
                            <a:srgbClr val="FFFFFF"/>
                          </a:solidFill>
                          <a:latin typeface="Arial"/>
                          <a:ea typeface="Arial"/>
                          <a:cs typeface="Arial"/>
                        </a:rPr>
                        <a:t>CAGR</a:t>
                      </a:r>
                    </a:p>
                  </a:txBody>
                  <a:tcPr marL="133350" marR="133350" marT="95250" marB="95250">
                    <a:solidFill>
                      <a:srgbClr val="152D3B"/>
                    </a:solidFill>
                  </a:tcPr>
                </a:tc>
                <a:tc>
                  <a:txBody>
                    <a:bodyPr/>
                    <a:lstStyle/>
                    <a:p>
                      <a:r>
                        <a:rPr sz="1800" b="1">
                          <a:solidFill>
                            <a:srgbClr val="FFFFFF"/>
                          </a:solidFill>
                          <a:latin typeface="Arial"/>
                          <a:ea typeface="Arial"/>
                          <a:cs typeface="Arial"/>
                        </a:rPr>
                        <a:t>Volatility</a:t>
                      </a:r>
                    </a:p>
                  </a:txBody>
                  <a:tcPr marL="133350" marR="133350" marT="95250" marB="95250">
                    <a:solidFill>
                      <a:srgbClr val="152D3B"/>
                    </a:solidFill>
                  </a:tcPr>
                </a:tc>
                <a:tc>
                  <a:txBody>
                    <a:bodyPr/>
                    <a:lstStyle/>
                    <a:p>
                      <a:r>
                        <a:rPr sz="1800" b="1">
                          <a:solidFill>
                            <a:srgbClr val="FFFFFF"/>
                          </a:solidFill>
                          <a:latin typeface="Arial"/>
                          <a:ea typeface="Arial"/>
                          <a:cs typeface="Arial"/>
                        </a:rPr>
                        <a:t>Sharpe</a:t>
                      </a:r>
                    </a:p>
                  </a:txBody>
                  <a:tcPr marL="133350" marR="133350" marT="95250" marB="95250">
                    <a:solidFill>
                      <a:srgbClr val="152D3B"/>
                    </a:solidFill>
                  </a:tcPr>
                </a:tc>
                <a:tc>
                  <a:txBody>
                    <a:bodyPr/>
                    <a:lstStyle/>
                    <a:p>
                      <a:r>
                        <a:rPr sz="1800" b="1">
                          <a:solidFill>
                            <a:srgbClr val="FFFFFF"/>
                          </a:solidFill>
                          <a:latin typeface="Arial"/>
                          <a:ea typeface="Arial"/>
                          <a:cs typeface="Arial"/>
                        </a:rPr>
                        <a:t>Max drawdown</a:t>
                      </a:r>
                    </a:p>
                  </a:txBody>
                  <a:tcPr marL="133350" marR="133350" marT="95250" marB="95250">
                    <a:solidFill>
                      <a:srgbClr val="152D3B"/>
                    </a:solidFill>
                  </a:tcPr>
                </a:tc>
              </a:tr>
              <a:tr h="723900">
                <a:tc>
                  <a:txBody>
                    <a:bodyPr/>
                    <a:lstStyle/>
                    <a:p>
                      <a:r>
                        <a:rPr sz="1800">
                          <a:solidFill>
                            <a:srgbClr val="213A47"/>
                          </a:solidFill>
                          <a:latin typeface="Arial"/>
                          <a:ea typeface="Arial"/>
                          <a:cs typeface="Arial"/>
                        </a:rPr>
                        <a:t>Conservative</a:t>
                      </a:r>
                    </a:p>
                  </a:txBody>
                  <a:tcPr marL="133350" marR="133350" marT="95250" marB="95250">
                    <a:solidFill>
                      <a:srgbClr val="FFFFFF"/>
                    </a:solidFill>
                  </a:tcPr>
                </a:tc>
                <a:tc>
                  <a:txBody>
                    <a:bodyPr/>
                    <a:lstStyle/>
                    <a:p>
                      <a:r>
                        <a:rPr sz="1800">
                          <a:solidFill>
                            <a:srgbClr val="213A47"/>
                          </a:solidFill>
                          <a:latin typeface="Arial"/>
                          <a:ea typeface="Arial"/>
                          <a:cs typeface="Arial"/>
                        </a:rPr>
                        <a:t>5.66%</a:t>
                      </a:r>
                    </a:p>
                  </a:txBody>
                  <a:tcPr marL="133350" marR="133350" marT="95250" marB="95250">
                    <a:solidFill>
                      <a:srgbClr val="FFFFFF"/>
                    </a:solidFill>
                  </a:tcPr>
                </a:tc>
                <a:tc>
                  <a:txBody>
                    <a:bodyPr/>
                    <a:lstStyle/>
                    <a:p>
                      <a:r>
                        <a:rPr sz="1800">
                          <a:solidFill>
                            <a:srgbClr val="213A47"/>
                          </a:solidFill>
                          <a:latin typeface="Arial"/>
                          <a:ea typeface="Arial"/>
                          <a:cs typeface="Arial"/>
                        </a:rPr>
                        <a:t>13.61%</a:t>
                      </a:r>
                    </a:p>
                  </a:txBody>
                  <a:tcPr marL="133350" marR="133350" marT="95250" marB="95250">
                    <a:solidFill>
                      <a:srgbClr val="FFFFFF"/>
                    </a:solidFill>
                  </a:tcPr>
                </a:tc>
                <a:tc>
                  <a:txBody>
                    <a:bodyPr/>
                    <a:lstStyle/>
                    <a:p>
                      <a:r>
                        <a:rPr sz="1800">
                          <a:solidFill>
                            <a:srgbClr val="213A47"/>
                          </a:solidFill>
                          <a:latin typeface="Arial"/>
                          <a:ea typeface="Arial"/>
                          <a:cs typeface="Arial"/>
                        </a:rPr>
                        <a:t>0.34</a:t>
                      </a:r>
                    </a:p>
                  </a:txBody>
                  <a:tcPr marL="133350" marR="133350" marT="95250" marB="95250">
                    <a:solidFill>
                      <a:srgbClr val="FFFFFF"/>
                    </a:solidFill>
                  </a:tcPr>
                </a:tc>
                <a:tc>
                  <a:txBody>
                    <a:bodyPr/>
                    <a:lstStyle/>
                    <a:p>
                      <a:r>
                        <a:rPr sz="1800">
                          <a:solidFill>
                            <a:srgbClr val="213A47"/>
                          </a:solidFill>
                          <a:latin typeface="Arial"/>
                          <a:ea typeface="Arial"/>
                          <a:cs typeface="Arial"/>
                        </a:rPr>
                        <a:t>-38.28%</a:t>
                      </a:r>
                    </a:p>
                  </a:txBody>
                  <a:tcPr marL="133350" marR="133350" marT="95250" marB="95250">
                    <a:solidFill>
                      <a:srgbClr val="FFFFFF"/>
                    </a:solidFill>
                  </a:tcPr>
                </a:tc>
              </a:tr>
              <a:tr h="723900">
                <a:tc>
                  <a:txBody>
                    <a:bodyPr/>
                    <a:lstStyle/>
                    <a:p>
                      <a:r>
                        <a:rPr sz="1800">
                          <a:solidFill>
                            <a:srgbClr val="213A47"/>
                          </a:solidFill>
                          <a:latin typeface="Arial"/>
                          <a:ea typeface="Arial"/>
                          <a:cs typeface="Arial"/>
                        </a:rPr>
                        <a:t>Low volatility only</a:t>
                      </a:r>
                    </a:p>
                  </a:txBody>
                  <a:tcPr marL="133350" marR="133350" marT="95250" marB="95250">
                    <a:solidFill>
                      <a:srgbClr val="FFFFFF"/>
                    </a:solidFill>
                  </a:tcPr>
                </a:tc>
                <a:tc>
                  <a:txBody>
                    <a:bodyPr/>
                    <a:lstStyle/>
                    <a:p>
                      <a:r>
                        <a:rPr sz="1800">
                          <a:solidFill>
                            <a:srgbClr val="213A47"/>
                          </a:solidFill>
                          <a:latin typeface="Arial"/>
                          <a:ea typeface="Arial"/>
                          <a:cs typeface="Arial"/>
                        </a:rPr>
                        <a:t>4.91%</a:t>
                      </a:r>
                    </a:p>
                  </a:txBody>
                  <a:tcPr marL="133350" marR="133350" marT="95250" marB="95250">
                    <a:solidFill>
                      <a:srgbClr val="FFFFFF"/>
                    </a:solidFill>
                  </a:tcPr>
                </a:tc>
                <a:tc>
                  <a:txBody>
                    <a:bodyPr/>
                    <a:lstStyle/>
                    <a:p>
                      <a:r>
                        <a:rPr sz="1800">
                          <a:solidFill>
                            <a:srgbClr val="213A47"/>
                          </a:solidFill>
                          <a:latin typeface="Arial"/>
                          <a:ea typeface="Arial"/>
                          <a:cs typeface="Arial"/>
                        </a:rPr>
                        <a:t>9.99%</a:t>
                      </a:r>
                    </a:p>
                  </a:txBody>
                  <a:tcPr marL="133350" marR="133350" marT="95250" marB="95250">
                    <a:solidFill>
                      <a:srgbClr val="FFFFFF"/>
                    </a:solidFill>
                  </a:tcPr>
                </a:tc>
                <a:tc>
                  <a:txBody>
                    <a:bodyPr/>
                    <a:lstStyle/>
                    <a:p>
                      <a:r>
                        <a:rPr sz="1800">
                          <a:solidFill>
                            <a:srgbClr val="213A47"/>
                          </a:solidFill>
                          <a:latin typeface="Arial"/>
                          <a:ea typeface="Arial"/>
                          <a:cs typeface="Arial"/>
                        </a:rPr>
                        <a:t>0.35</a:t>
                      </a:r>
                    </a:p>
                  </a:txBody>
                  <a:tcPr marL="133350" marR="133350" marT="95250" marB="95250">
                    <a:solidFill>
                      <a:srgbClr val="FFFFFF"/>
                    </a:solidFill>
                  </a:tcPr>
                </a:tc>
                <a:tc>
                  <a:txBody>
                    <a:bodyPr/>
                    <a:lstStyle/>
                    <a:p>
                      <a:r>
                        <a:rPr sz="1800">
                          <a:solidFill>
                            <a:srgbClr val="213A47"/>
                          </a:solidFill>
                          <a:latin typeface="Arial"/>
                          <a:ea typeface="Arial"/>
                          <a:cs typeface="Arial"/>
                        </a:rPr>
                        <a:t>-28.22%</a:t>
                      </a:r>
                    </a:p>
                  </a:txBody>
                  <a:tcPr marL="133350" marR="133350" marT="95250" marB="95250">
                    <a:solidFill>
                      <a:srgbClr val="FFFFFF"/>
                    </a:solidFill>
                  </a:tcPr>
                </a:tc>
              </a:tr>
              <a:tr h="723900">
                <a:tc>
                  <a:txBody>
                    <a:bodyPr/>
                    <a:lstStyle/>
                    <a:p>
                      <a:r>
                        <a:rPr sz="1800">
                          <a:solidFill>
                            <a:srgbClr val="213A47"/>
                          </a:solidFill>
                          <a:latin typeface="Arial"/>
                          <a:ea typeface="Arial"/>
                          <a:cs typeface="Arial"/>
                        </a:rPr>
                        <a:t>Universe equal weight</a:t>
                      </a:r>
                    </a:p>
                  </a:txBody>
                  <a:tcPr marL="133350" marR="133350" marT="95250" marB="95250">
                    <a:solidFill>
                      <a:srgbClr val="FFFFFF"/>
                    </a:solidFill>
                  </a:tcPr>
                </a:tc>
                <a:tc>
                  <a:txBody>
                    <a:bodyPr/>
                    <a:lstStyle/>
                    <a:p>
                      <a:r>
                        <a:rPr sz="1800">
                          <a:solidFill>
                            <a:srgbClr val="213A47"/>
                          </a:solidFill>
                          <a:latin typeface="Arial"/>
                          <a:ea typeface="Arial"/>
                          <a:cs typeface="Arial"/>
                        </a:rPr>
                        <a:t>6.03%</a:t>
                      </a:r>
                    </a:p>
                  </a:txBody>
                  <a:tcPr marL="133350" marR="133350" marT="95250" marB="95250">
                    <a:solidFill>
                      <a:srgbClr val="FFFFFF"/>
                    </a:solidFill>
                  </a:tcPr>
                </a:tc>
                <a:tc>
                  <a:txBody>
                    <a:bodyPr/>
                    <a:lstStyle/>
                    <a:p>
                      <a:r>
                        <a:rPr sz="1800">
                          <a:solidFill>
                            <a:srgbClr val="213A47"/>
                          </a:solidFill>
                          <a:latin typeface="Arial"/>
                          <a:ea typeface="Arial"/>
                          <a:cs typeface="Arial"/>
                        </a:rPr>
                        <a:t>14.08%</a:t>
                      </a:r>
                    </a:p>
                  </a:txBody>
                  <a:tcPr marL="133350" marR="133350" marT="95250" marB="95250">
                    <a:solidFill>
                      <a:srgbClr val="FFFFFF"/>
                    </a:solidFill>
                  </a:tcPr>
                </a:tc>
                <a:tc>
                  <a:txBody>
                    <a:bodyPr/>
                    <a:lstStyle/>
                    <a:p>
                      <a:r>
                        <a:rPr sz="1800">
                          <a:solidFill>
                            <a:srgbClr val="213A47"/>
                          </a:solidFill>
                          <a:latin typeface="Arial"/>
                          <a:ea typeface="Arial"/>
                          <a:cs typeface="Arial"/>
                        </a:rPr>
                        <a:t>0.36</a:t>
                      </a:r>
                    </a:p>
                  </a:txBody>
                  <a:tcPr marL="133350" marR="133350" marT="95250" marB="95250">
                    <a:solidFill>
                      <a:srgbClr val="FFFFFF"/>
                    </a:solidFill>
                  </a:tcPr>
                </a:tc>
                <a:tc>
                  <a:txBody>
                    <a:bodyPr/>
                    <a:lstStyle/>
                    <a:p>
                      <a:r>
                        <a:rPr sz="1800">
                          <a:solidFill>
                            <a:srgbClr val="213A47"/>
                          </a:solidFill>
                          <a:latin typeface="Arial"/>
                          <a:ea typeface="Arial"/>
                          <a:cs typeface="Arial"/>
                        </a:rPr>
                        <a:t>-38.84%</a:t>
                      </a:r>
                    </a:p>
                  </a:txBody>
                  <a:tcPr marL="133350" marR="133350" marT="95250" marB="95250">
                    <a:solidFill>
                      <a:srgbClr val="FFFFFF"/>
                    </a:solidFill>
                  </a:tcPr>
                </a:tc>
              </a:tr>
              <a:tr h="723900">
                <a:tc>
                  <a:txBody>
                    <a:bodyPr/>
                    <a:lstStyle/>
                    <a:p>
                      <a:r>
                        <a:rPr sz="1800">
                          <a:solidFill>
                            <a:srgbClr val="213A47"/>
                          </a:solidFill>
                          <a:latin typeface="Arial"/>
                          <a:ea typeface="Arial"/>
                          <a:cs typeface="Arial"/>
                        </a:rPr>
                        <a:t>Market</a:t>
                      </a:r>
                    </a:p>
                  </a:txBody>
                  <a:tcPr marL="133350" marR="133350" marT="95250" marB="95250">
                    <a:solidFill>
                      <a:srgbClr val="FFFFFF"/>
                    </a:solidFill>
                  </a:tcPr>
                </a:tc>
                <a:tc>
                  <a:txBody>
                    <a:bodyPr/>
                    <a:lstStyle/>
                    <a:p>
                      <a:r>
                        <a:rPr sz="1800">
                          <a:solidFill>
                            <a:srgbClr val="213A47"/>
                          </a:solidFill>
                          <a:latin typeface="Arial"/>
                          <a:ea typeface="Arial"/>
                          <a:cs typeface="Arial"/>
                        </a:rPr>
                        <a:t>4.75%</a:t>
                      </a:r>
                    </a:p>
                  </a:txBody>
                  <a:tcPr marL="133350" marR="133350" marT="95250" marB="95250">
                    <a:solidFill>
                      <a:srgbClr val="FFFFFF"/>
                    </a:solidFill>
                  </a:tcPr>
                </a:tc>
                <a:tc>
                  <a:txBody>
                    <a:bodyPr/>
                    <a:lstStyle/>
                    <a:p>
                      <a:r>
                        <a:rPr sz="1800">
                          <a:solidFill>
                            <a:srgbClr val="213A47"/>
                          </a:solidFill>
                          <a:latin typeface="Arial"/>
                          <a:ea typeface="Arial"/>
                          <a:cs typeface="Arial"/>
                        </a:rPr>
                        <a:t>14.16%</a:t>
                      </a:r>
                    </a:p>
                  </a:txBody>
                  <a:tcPr marL="133350" marR="133350" marT="95250" marB="95250">
                    <a:solidFill>
                      <a:srgbClr val="FFFFFF"/>
                    </a:solidFill>
                  </a:tcPr>
                </a:tc>
                <a:tc>
                  <a:txBody>
                    <a:bodyPr/>
                    <a:lstStyle/>
                    <a:p>
                      <a:r>
                        <a:rPr sz="1800">
                          <a:solidFill>
                            <a:srgbClr val="213A47"/>
                          </a:solidFill>
                          <a:latin typeface="Arial"/>
                          <a:ea typeface="Arial"/>
                          <a:cs typeface="Arial"/>
                        </a:rPr>
                        <a:t>0.27</a:t>
                      </a:r>
                    </a:p>
                  </a:txBody>
                  <a:tcPr marL="133350" marR="133350" marT="95250" marB="95250">
                    <a:solidFill>
                      <a:srgbClr val="FFFFFF"/>
                    </a:solidFill>
                  </a:tcPr>
                </a:tc>
                <a:tc>
                  <a:txBody>
                    <a:bodyPr/>
                    <a:lstStyle/>
                    <a:p>
                      <a:r>
                        <a:rPr sz="1800">
                          <a:solidFill>
                            <a:srgbClr val="213A47"/>
                          </a:solidFill>
                          <a:latin typeface="Arial"/>
                          <a:ea typeface="Arial"/>
                          <a:cs typeface="Arial"/>
                        </a:rPr>
                        <a:t>-41.06%</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E07111-A6C8-4F7B-A05E-8FA7FEFA5129}"/>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January 2003–December 2025. Synthetic results provide no evidence of real-world outperformance.</a:t>
            </a:r>
          </a:p>
        </p:txBody>
      </p:sp>
    </p:spTree>
    <p:extLst>
      <p:ext uri="{BB962C8B-B14F-4D97-AF65-F5344CB8AC3E}">
        <p14:creationId xmlns:p14="http://schemas.microsoft.com/office/powerpoint/2010/main" val="24408493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694988-B606-4230-ACA1-BE87F69BF5BD}"/>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Synthetic signal comparisons</a:t>
            </a:r>
          </a:p>
        </p:txBody>
      </p:sp>
      <p:sp>
        <p:nvSpPr>
          <p:cNvPr id="2" name="">
            <a:extLst xmlns:a="http://schemas.openxmlformats.org/drawingml/2006/main">
              <a:ext uri="{FF2B5EF4-FFF2-40B4-BE49-F238E27FC236}">
                <a16:creationId xmlns:a16="http://schemas.microsoft.com/office/drawing/2014/main" id="{6637D564-16EC-4B19-9911-7979C4DFFD56}"/>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9546A24E-11FC-4344-8318-4273F230E4DC}"/>
              </a:ext>
            </a:extLst>
          </p:cNvPr>
          <p:cNvSpPr>
            <a:spLocks xmlns:a="http://schemas.openxmlformats.org/drawingml/2006/main" noGrp="1"/>
          </p:cNvSpPr>
          <p:nvPr/>
        </p:nvSpPr>
        <p:spPr>
          <a:xfrm xmlns:a="http://schemas.openxmlformats.org/drawingml/2006/main">
            <a:off x="609600" y="1200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96211"/>
                </a:solidFill>
                <a:latin typeface="Arial"/>
                <a:ea typeface="Arial"/>
                <a:cs typeface="Arial"/>
              </a:defRPr>
            </a:pPr>
            <a:r>
              <a:rPr sz="1725" b="1">
                <a:solidFill>
                  <a:srgbClr val="996211"/>
                </a:solidFill>
                <a:latin typeface="Arial"/>
                <a:ea typeface="Arial"/>
                <a:cs typeface="Arial"/>
              </a:rPr>
              <a:t>SYNTHETIC DEMONSTRATION</a:t>
            </a:r>
          </a:p>
        </p:txBody>
      </p:sp>
      <p:graphicFrame>
        <p:nvGraphicFramePr>
          <p:cNvPr id="9" name="Chart"/>
          <p:cNvGraphicFramePr/>
          <p:nvPr/>
        </p:nvGraphicFramePr>
        <p:xfrm>
          <a:off xmlns:a="http://schemas.openxmlformats.org/drawingml/2006/main" x="609600" y="1885950"/>
          <a:ext xmlns:a="http://schemas.openxmlformats.org/drawingml/2006/main" cx="10972800" cy="3810000"/>
        </p:xfrm>
        <a:graphic xmlns:a="http://schemas.openxmlformats.org/drawingml/2006/main">
          <a:graphicData uri="http://schemas.openxmlformats.org/drawingml/2006/chart">
            <c:chart xmlns:r="http://schemas.openxmlformats.org/officeDocument/2006/relationships" xmlns:c="http://schemas.openxmlformats.org/drawingml/2006/chart" r:id="R8a1254ab4eaf468d"/>
          </a:graphicData>
        </a:graphic>
      </p:graphicFrame>
      <p:sp>
        <p:nvSpPr>
          <p:cNvPr id="5" name="">
            <a:extLst xmlns:a="http://schemas.openxmlformats.org/drawingml/2006/main">
              <a:ext uri="{FF2B5EF4-FFF2-40B4-BE49-F238E27FC236}">
                <a16:creationId xmlns:a16="http://schemas.microsoft.com/office/drawing/2014/main" id="{9D1D4FC1-DDD5-4EE0-95A2-6C47148478F4}"/>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Annualized Sharpe, January 2003–December 2025. Interpretation awaits historical equity data.</a:t>
            </a:r>
          </a:p>
        </p:txBody>
      </p:sp>
    </p:spTree>
    <p:extLst>
      <p:ext uri="{BB962C8B-B14F-4D97-AF65-F5344CB8AC3E}">
        <p14:creationId xmlns:p14="http://schemas.microsoft.com/office/powerpoint/2010/main" val="8246252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D25132-D3E3-41B8-8722-B2A8A02AFF99}"/>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Synthetic trading-cost sensitivity</a:t>
            </a:r>
          </a:p>
        </p:txBody>
      </p:sp>
      <p:sp>
        <p:nvSpPr>
          <p:cNvPr id="2" name="">
            <a:extLst xmlns:a="http://schemas.openxmlformats.org/drawingml/2006/main">
              <a:ext uri="{FF2B5EF4-FFF2-40B4-BE49-F238E27FC236}">
                <a16:creationId xmlns:a16="http://schemas.microsoft.com/office/drawing/2014/main" id="{3B2DD55D-95CB-43BA-BBCB-C1BEAFA8009A}"/>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6D3E3FE2-2396-4963-B084-F4C3FD9C9246}"/>
              </a:ext>
            </a:extLst>
          </p:cNvPr>
          <p:cNvSpPr>
            <a:spLocks xmlns:a="http://schemas.openxmlformats.org/drawingml/2006/main" noGrp="1"/>
          </p:cNvSpPr>
          <p:nvPr/>
        </p:nvSpPr>
        <p:spPr>
          <a:xfrm xmlns:a="http://schemas.openxmlformats.org/drawingml/2006/main">
            <a:off x="609600" y="1200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96211"/>
                </a:solidFill>
                <a:latin typeface="Arial"/>
                <a:ea typeface="Arial"/>
                <a:cs typeface="Arial"/>
              </a:defRPr>
            </a:pPr>
            <a:r>
              <a:rPr sz="1725" b="1">
                <a:solidFill>
                  <a:srgbClr val="996211"/>
                </a:solidFill>
                <a:latin typeface="Arial"/>
                <a:ea typeface="Arial"/>
                <a:cs typeface="Arial"/>
              </a:rPr>
              <a:t>SYNTHETIC DEMONSTRATION</a:t>
            </a:r>
          </a:p>
        </p:txBody>
      </p:sp>
      <p:graphicFrame>
        <p:nvGraphicFramePr>
          <p:cNvPr id="9" name="Chart"/>
          <p:cNvGraphicFramePr/>
          <p:nvPr/>
        </p:nvGraphicFramePr>
        <p:xfrm>
          <a:off xmlns:a="http://schemas.openxmlformats.org/drawingml/2006/main" x="609600" y="1885950"/>
          <a:ext xmlns:a="http://schemas.openxmlformats.org/drawingml/2006/main" cx="10972800" cy="3810000"/>
        </p:xfrm>
        <a:graphic xmlns:a="http://schemas.openxmlformats.org/drawingml/2006/main">
          <a:graphicData uri="http://schemas.openxmlformats.org/drawingml/2006/chart">
            <c:chart xmlns:r="http://schemas.openxmlformats.org/officeDocument/2006/relationships" xmlns:c="http://schemas.openxmlformats.org/drawingml/2006/chart" r:id="Rc544017bc1e14fa4"/>
          </a:graphicData>
        </a:graphic>
      </p:graphicFrame>
      <p:sp>
        <p:nvSpPr>
          <p:cNvPr id="5" name="">
            <a:extLst xmlns:a="http://schemas.openxmlformats.org/drawingml/2006/main">
              <a:ext uri="{FF2B5EF4-FFF2-40B4-BE49-F238E27FC236}">
                <a16:creationId xmlns:a16="http://schemas.microsoft.com/office/drawing/2014/main" id="{6D87B6E7-0BAA-404A-ADBB-FC72CF0460B3}"/>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Synthetic CAGR, 2003–2025. Basis points apply to each dollar traded. These are assumed cost scenarios.</a:t>
            </a:r>
          </a:p>
        </p:txBody>
      </p:sp>
    </p:spTree>
    <p:extLst>
      <p:ext uri="{BB962C8B-B14F-4D97-AF65-F5344CB8AC3E}">
        <p14:creationId xmlns:p14="http://schemas.microsoft.com/office/powerpoint/2010/main" val="7950323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8B2337-7D14-43C4-9CC4-2C1CD16EA573}"/>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What the demonstration illustrates</a:t>
            </a:r>
          </a:p>
        </p:txBody>
      </p:sp>
      <p:sp>
        <p:nvSpPr>
          <p:cNvPr id="2" name="">
            <a:extLst xmlns:a="http://schemas.openxmlformats.org/drawingml/2006/main">
              <a:ext uri="{FF2B5EF4-FFF2-40B4-BE49-F238E27FC236}">
                <a16:creationId xmlns:a16="http://schemas.microsoft.com/office/drawing/2014/main" id="{00F040B5-AF30-4A40-8A0A-0172C806F72E}"/>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BF550C07-4C8B-4B3C-84D2-9290DA958F11}"/>
              </a:ext>
            </a:extLst>
          </p:cNvPr>
          <p:cNvSpPr>
            <a:spLocks xmlns:a="http://schemas.openxmlformats.org/drawingml/2006/main" noGrp="1"/>
          </p:cNvSpPr>
          <p:nvPr/>
        </p:nvSpPr>
        <p:spPr>
          <a:xfrm xmlns:a="http://schemas.openxmlformats.org/drawingml/2006/main">
            <a:off x="609600" y="12001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96211"/>
                </a:solidFill>
                <a:latin typeface="Arial"/>
                <a:ea typeface="Arial"/>
                <a:cs typeface="Arial"/>
              </a:defRPr>
            </a:pPr>
            <a:r>
              <a:rPr sz="1725" b="1">
                <a:solidFill>
                  <a:srgbClr val="996211"/>
                </a:solidFill>
                <a:latin typeface="Arial"/>
                <a:ea typeface="Arial"/>
                <a:cs typeface="Arial"/>
              </a:rPr>
              <a:t>SYNTHETIC DEMONSTRATION</a:t>
            </a:r>
          </a:p>
        </p:txBody>
      </p:sp>
      <p:graphicFrame>
        <p:nvGraphicFramePr>
          <p:cNvPr id="9" name=""/>
          <p:cNvGraphicFramePr/>
          <p:nvPr/>
        </p:nvGraphicFramePr>
        <p:xfrm>
          <a:off xmlns:a="http://schemas.openxmlformats.org/drawingml/2006/main" x="609600" y="1809750"/>
          <a:ext xmlns:a="http://schemas.openxmlformats.org/drawingml/2006/main" cx="10972800" cy="3952875"/>
        </p:xfrm>
        <a:graphic xmlns:a="http://schemas.openxmlformats.org/drawingml/2006/main">
          <a:graphicData uri="http://schemas.openxmlformats.org/drawingml/2006/table">
            <a:tbl>
              <a:tblPr/>
              <a:tblGrid>
                <a:gridCol w="3333750"/>
                <a:gridCol w="3238500"/>
                <a:gridCol w="4400550"/>
              </a:tblGrid>
              <a:tr h="790575">
                <a:tc>
                  <a:txBody>
                    <a:bodyPr/>
                    <a:lstStyle/>
                    <a:p>
                      <a:r>
                        <a:rPr sz="1725" b="1">
                          <a:solidFill>
                            <a:srgbClr val="FFFFFF"/>
                          </a:solidFill>
                          <a:latin typeface="Arial"/>
                          <a:ea typeface="Arial"/>
                          <a:cs typeface="Arial"/>
                        </a:rPr>
                        <a:t>Comparison</a:t>
                      </a:r>
                    </a:p>
                  </a:txBody>
                  <a:tcPr marL="133350" marR="133350" marT="95250" marB="95250">
                    <a:solidFill>
                      <a:srgbClr val="152D3B"/>
                    </a:solidFill>
                  </a:tcPr>
                </a:tc>
                <a:tc>
                  <a:txBody>
                    <a:bodyPr/>
                    <a:lstStyle/>
                    <a:p>
                      <a:r>
                        <a:rPr sz="1725" b="1">
                          <a:solidFill>
                            <a:srgbClr val="FFFFFF"/>
                          </a:solidFill>
                          <a:latin typeface="Arial"/>
                          <a:ea typeface="Arial"/>
                          <a:cs typeface="Arial"/>
                        </a:rPr>
                        <a:t>Synthetic result</a:t>
                      </a:r>
                    </a:p>
                  </a:txBody>
                  <a:tcPr marL="133350" marR="133350" marT="95250" marB="95250">
                    <a:solidFill>
                      <a:srgbClr val="152D3B"/>
                    </a:solidFill>
                  </a:tcPr>
                </a:tc>
                <a:tc>
                  <a:txBody>
                    <a:bodyPr/>
                    <a:lstStyle/>
                    <a:p>
                      <a:r>
                        <a:rPr sz="1725" b="1">
                          <a:solidFill>
                            <a:srgbClr val="FFFFFF"/>
                          </a:solidFill>
                          <a:latin typeface="Arial"/>
                          <a:ea typeface="Arial"/>
                          <a:cs typeface="Arial"/>
                        </a:rPr>
                        <a:t>Interpretation</a:t>
                      </a:r>
                    </a:p>
                  </a:txBody>
                  <a:tcPr marL="133350" marR="133350" marT="95250" marB="95250">
                    <a:solidFill>
                      <a:srgbClr val="152D3B"/>
                    </a:solidFill>
                  </a:tcPr>
                </a:tc>
              </a:tr>
              <a:tr h="790575">
                <a:tc>
                  <a:txBody>
                    <a:bodyPr/>
                    <a:lstStyle/>
                    <a:p>
                      <a:r>
                        <a:rPr sz="1725">
                          <a:solidFill>
                            <a:srgbClr val="213A47"/>
                          </a:solidFill>
                          <a:latin typeface="Arial"/>
                          <a:ea typeface="Arial"/>
                          <a:cs typeface="Arial"/>
                        </a:rPr>
                        <a:t>Growth vs low volatility</a:t>
                      </a:r>
                    </a:p>
                  </a:txBody>
                  <a:tcPr marL="133350" marR="133350" marT="95250" marB="95250">
                    <a:solidFill>
                      <a:srgbClr val="FFFFFF"/>
                    </a:solidFill>
                  </a:tcPr>
                </a:tc>
                <a:tc>
                  <a:txBody>
                    <a:bodyPr/>
                    <a:lstStyle/>
                    <a:p>
                      <a:r>
                        <a:rPr sz="1725">
                          <a:solidFill>
                            <a:srgbClr val="213A47"/>
                          </a:solidFill>
                          <a:latin typeface="Arial"/>
                          <a:ea typeface="Arial"/>
                          <a:cs typeface="Arial"/>
                        </a:rPr>
                        <a:t>5.66% vs 4.91% CAGR</a:t>
                      </a:r>
                    </a:p>
                  </a:txBody>
                  <a:tcPr marL="133350" marR="133350" marT="95250" marB="95250">
                    <a:solidFill>
                      <a:srgbClr val="FFFFFF"/>
                    </a:solidFill>
                  </a:tcPr>
                </a:tc>
                <a:tc>
                  <a:txBody>
                    <a:bodyPr/>
                    <a:lstStyle/>
                    <a:p>
                      <a:r>
                        <a:rPr sz="1725">
                          <a:solidFill>
                            <a:srgbClr val="213A47"/>
                          </a:solidFill>
                          <a:latin typeface="Arial"/>
                          <a:ea typeface="Arial"/>
                          <a:cs typeface="Arial"/>
                        </a:rPr>
                        <a:t>Higher growth in this simulation</a:t>
                      </a:r>
                    </a:p>
                  </a:txBody>
                  <a:tcPr marL="133350" marR="133350" marT="95250" marB="95250">
                    <a:solidFill>
                      <a:srgbClr val="FFFFFF"/>
                    </a:solidFill>
                  </a:tcPr>
                </a:tc>
              </a:tr>
              <a:tr h="790575">
                <a:tc>
                  <a:txBody>
                    <a:bodyPr/>
                    <a:lstStyle/>
                    <a:p>
                      <a:r>
                        <a:rPr sz="1725">
                          <a:solidFill>
                            <a:srgbClr val="213A47"/>
                          </a:solidFill>
                          <a:latin typeface="Arial"/>
                          <a:ea typeface="Arial"/>
                          <a:cs typeface="Arial"/>
                        </a:rPr>
                        <a:t>Risk-adjusted performance</a:t>
                      </a:r>
                    </a:p>
                  </a:txBody>
                  <a:tcPr marL="133350" marR="133350" marT="95250" marB="95250">
                    <a:solidFill>
                      <a:srgbClr val="FFFFFF"/>
                    </a:solidFill>
                  </a:tcPr>
                </a:tc>
                <a:tc>
                  <a:txBody>
                    <a:bodyPr/>
                    <a:lstStyle/>
                    <a:p>
                      <a:r>
                        <a:rPr sz="1725">
                          <a:solidFill>
                            <a:srgbClr val="213A47"/>
                          </a:solidFill>
                          <a:latin typeface="Arial"/>
                          <a:ea typeface="Arial"/>
                          <a:cs typeface="Arial"/>
                        </a:rPr>
                        <a:t>0.34 vs 0.35 Sharpe</a:t>
                      </a:r>
                    </a:p>
                  </a:txBody>
                  <a:tcPr marL="133350" marR="133350" marT="95250" marB="95250">
                    <a:solidFill>
                      <a:srgbClr val="FFFFFF"/>
                    </a:solidFill>
                  </a:tcPr>
                </a:tc>
                <a:tc>
                  <a:txBody>
                    <a:bodyPr/>
                    <a:lstStyle/>
                    <a:p>
                      <a:r>
                        <a:rPr sz="1725">
                          <a:solidFill>
                            <a:srgbClr val="213A47"/>
                          </a:solidFill>
                          <a:latin typeface="Arial"/>
                          <a:ea typeface="Arial"/>
                          <a:cs typeface="Arial"/>
                        </a:rPr>
                        <a:t>The full formula is not uniformly better</a:t>
                      </a:r>
                    </a:p>
                  </a:txBody>
                  <a:tcPr marL="133350" marR="133350" marT="95250" marB="95250">
                    <a:solidFill>
                      <a:srgbClr val="FFFFFF"/>
                    </a:solidFill>
                  </a:tcPr>
                </a:tc>
              </a:tr>
              <a:tr h="790575">
                <a:tc>
                  <a:txBody>
                    <a:bodyPr/>
                    <a:lstStyle/>
                    <a:p>
                      <a:r>
                        <a:rPr sz="1725">
                          <a:solidFill>
                            <a:srgbClr val="213A47"/>
                          </a:solidFill>
                          <a:latin typeface="Arial"/>
                          <a:ea typeface="Arial"/>
                          <a:cs typeface="Arial"/>
                        </a:rPr>
                        <a:t>Worst decline</a:t>
                      </a:r>
                    </a:p>
                  </a:txBody>
                  <a:tcPr marL="133350" marR="133350" marT="95250" marB="95250">
                    <a:solidFill>
                      <a:srgbClr val="FFFFFF"/>
                    </a:solidFill>
                  </a:tcPr>
                </a:tc>
                <a:tc>
                  <a:txBody>
                    <a:bodyPr/>
                    <a:lstStyle/>
                    <a:p>
                      <a:r>
                        <a:rPr sz="1725">
                          <a:solidFill>
                            <a:srgbClr val="213A47"/>
                          </a:solidFill>
                          <a:latin typeface="Arial"/>
                          <a:ea typeface="Arial"/>
                          <a:cs typeface="Arial"/>
                        </a:rPr>
                        <a:t>-38.28% vs -28.22%</a:t>
                      </a:r>
                    </a:p>
                  </a:txBody>
                  <a:tcPr marL="133350" marR="133350" marT="95250" marB="95250">
                    <a:solidFill>
                      <a:srgbClr val="FFFFFF"/>
                    </a:solidFill>
                  </a:tcPr>
                </a:tc>
                <a:tc>
                  <a:txBody>
                    <a:bodyPr/>
                    <a:lstStyle/>
                    <a:p>
                      <a:r>
                        <a:rPr sz="1725">
                          <a:solidFill>
                            <a:srgbClr val="213A47"/>
                          </a:solidFill>
                          <a:latin typeface="Arial"/>
                          <a:ea typeface="Arial"/>
                          <a:cs typeface="Arial"/>
                        </a:rPr>
                        <a:t>Low volatility has a smaller drawdown</a:t>
                      </a:r>
                    </a:p>
                  </a:txBody>
                  <a:tcPr marL="133350" marR="133350" marT="95250" marB="95250">
                    <a:solidFill>
                      <a:srgbClr val="FFFFFF"/>
                    </a:solidFill>
                  </a:tcPr>
                </a:tc>
              </a:tr>
              <a:tr h="790575">
                <a:tc>
                  <a:txBody>
                    <a:bodyPr/>
                    <a:lstStyle/>
                    <a:p>
                      <a:r>
                        <a:rPr sz="1725">
                          <a:solidFill>
                            <a:srgbClr val="213A47"/>
                          </a:solidFill>
                          <a:latin typeface="Arial"/>
                          <a:ea typeface="Arial"/>
                          <a:cs typeface="Arial"/>
                        </a:rPr>
                        <a:t>Cost sensitivity</a:t>
                      </a:r>
                    </a:p>
                  </a:txBody>
                  <a:tcPr marL="133350" marR="133350" marT="95250" marB="95250">
                    <a:solidFill>
                      <a:srgbClr val="FFFFFF"/>
                    </a:solidFill>
                  </a:tcPr>
                </a:tc>
                <a:tc>
                  <a:txBody>
                    <a:bodyPr/>
                    <a:lstStyle/>
                    <a:p>
                      <a:r>
                        <a:rPr sz="1725">
                          <a:solidFill>
                            <a:srgbClr val="213A47"/>
                          </a:solidFill>
                          <a:latin typeface="Arial"/>
                          <a:ea typeface="Arial"/>
                          <a:cs typeface="Arial"/>
                        </a:rPr>
                        <a:t>5.99% to 4.34% CAGR</a:t>
                      </a:r>
                    </a:p>
                  </a:txBody>
                  <a:tcPr marL="133350" marR="133350" marT="95250" marB="95250">
                    <a:solidFill>
                      <a:srgbClr val="FFFFFF"/>
                    </a:solidFill>
                  </a:tcPr>
                </a:tc>
                <a:tc>
                  <a:txBody>
                    <a:bodyPr/>
                    <a:lstStyle/>
                    <a:p>
                      <a:r>
                        <a:rPr sz="1725">
                          <a:solidFill>
                            <a:srgbClr val="213A47"/>
                          </a:solidFill>
                          <a:latin typeface="Arial"/>
                          <a:ea typeface="Arial"/>
                          <a:cs typeface="Arial"/>
                        </a:rPr>
                        <a:t>0 to 50 bps assumed cost per dollar</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18A80E8-ED66-43E0-9BB4-03772B73707E}"/>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All comparisons use 2003–2025 synthetic returns. They do not validate or refute the paper.</a:t>
            </a:r>
          </a:p>
        </p:txBody>
      </p:sp>
    </p:spTree>
    <p:extLst>
      <p:ext uri="{BB962C8B-B14F-4D97-AF65-F5344CB8AC3E}">
        <p14:creationId xmlns:p14="http://schemas.microsoft.com/office/powerpoint/2010/main" val="12740952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667444-DCB2-41B6-87CD-23B3226F346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Empirical conclusions remain open</a:t>
            </a:r>
          </a:p>
        </p:txBody>
      </p:sp>
      <p:sp>
        <p:nvSpPr>
          <p:cNvPr id="2" name="">
            <a:extLst xmlns:a="http://schemas.openxmlformats.org/drawingml/2006/main">
              <a:ext uri="{FF2B5EF4-FFF2-40B4-BE49-F238E27FC236}">
                <a16:creationId xmlns:a16="http://schemas.microsoft.com/office/drawing/2014/main" id="{07C03DB8-8977-40E3-9AA1-96C5670EF148}"/>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C235548F-EF70-43AB-9C18-9F836E476C16}"/>
              </a:ext>
            </a:extLst>
          </p:cNvPr>
          <p:cNvSpPr>
            <a:spLocks xmlns:a="http://schemas.openxmlformats.org/drawingml/2006/main" noGrp="1"/>
          </p:cNvSpPr>
          <p:nvPr/>
        </p:nvSpPr>
        <p:spPr>
          <a:xfrm xmlns:a="http://schemas.openxmlformats.org/drawingml/2006/main">
            <a:off x="609600" y="16859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2D3B"/>
                </a:solidFill>
                <a:latin typeface="Arial"/>
                <a:ea typeface="Arial"/>
                <a:cs typeface="Arial"/>
              </a:defRPr>
            </a:pPr>
            <a:r>
              <a:rPr sz="3000" b="1">
                <a:solidFill>
                  <a:srgbClr val="152D3B"/>
                </a:solidFill>
                <a:latin typeface="Arial"/>
                <a:ea typeface="Arial"/>
                <a:cs typeface="Arial"/>
              </a:rPr>
              <a:t>The draft defines a reproducible test</a:t>
            </a:r>
          </a:p>
          <a:p xmlns:a="http://schemas.openxmlformats.org/drawingml/2006/main">
            <a:pPr>
              <a:defRPr sz="3000" b="1">
                <a:solidFill>
                  <a:srgbClr val="152D3B"/>
                </a:solidFill>
                <a:latin typeface="Arial"/>
                <a:ea typeface="Arial"/>
                <a:cs typeface="Arial"/>
              </a:defRPr>
            </a:pPr>
            <a:r>
              <a:rPr sz="3000" b="1">
                <a:solidFill>
                  <a:srgbClr val="152D3B"/>
                </a:solidFill>
                <a:latin typeface="Arial"/>
                <a:ea typeface="Arial"/>
                <a:cs typeface="Arial"/>
              </a:rPr>
              <a:t>of the Conservative Formula</a:t>
            </a:r>
          </a:p>
        </p:txBody>
      </p:sp>
      <p:sp>
        <p:nvSpPr>
          <p:cNvPr id="4" name="">
            <a:extLst xmlns:a="http://schemas.openxmlformats.org/drawingml/2006/main">
              <a:ext uri="{FF2B5EF4-FFF2-40B4-BE49-F238E27FC236}">
                <a16:creationId xmlns:a16="http://schemas.microsoft.com/office/drawing/2014/main" id="{B088A826-EA53-468A-8A55-2CFE298C0D90}"/>
              </a:ext>
            </a:extLst>
          </p:cNvPr>
          <p:cNvSpPr>
            <a:spLocks xmlns:a="http://schemas.openxmlformats.org/drawingml/2006/main" noGrp="1"/>
          </p:cNvSpPr>
          <p:nvPr/>
        </p:nvSpPr>
        <p:spPr>
          <a:xfrm xmlns:a="http://schemas.openxmlformats.org/drawingml/2006/main">
            <a:off x="609600" y="33432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Remaining work</a:t>
            </a:r>
          </a:p>
        </p:txBody>
      </p:sp>
      <p:sp>
        <p:nvSpPr>
          <p:cNvPr id="5" name="">
            <a:extLst xmlns:a="http://schemas.openxmlformats.org/drawingml/2006/main">
              <a:ext uri="{FF2B5EF4-FFF2-40B4-BE49-F238E27FC236}">
                <a16:creationId xmlns:a16="http://schemas.microsoft.com/office/drawing/2014/main" id="{5F60B9DD-12D7-4D35-82ED-18A42AB72BF6}"/>
              </a:ext>
            </a:extLst>
          </p:cNvPr>
          <p:cNvSpPr>
            <a:spLocks xmlns:a="http://schemas.openxmlformats.org/drawingml/2006/main" noGrp="1"/>
          </p:cNvSpPr>
          <p:nvPr/>
        </p:nvSpPr>
        <p:spPr>
          <a:xfrm xmlns:a="http://schemas.openxmlformats.org/drawingml/2006/main">
            <a:off x="609600" y="4010025"/>
            <a:ext cx="10668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13A47"/>
                </a:solidFill>
                <a:latin typeface="Arial"/>
                <a:ea typeface="Arial"/>
                <a:cs typeface="Arial"/>
              </a:defRPr>
            </a:pPr>
            <a:r>
              <a:rPr sz="2250" b="0">
                <a:solidFill>
                  <a:srgbClr val="213A47"/>
                </a:solidFill>
                <a:latin typeface="Arial"/>
                <a:ea typeface="Arial"/>
                <a:cs typeface="Arial"/>
              </a:rPr>
              <a:t>Historical CRSP data and corporate-action audit</a:t>
            </a:r>
          </a:p>
          <a:p xmlns:a="http://schemas.openxmlformats.org/drawingml/2006/main">
            <a:pPr>
              <a:defRPr sz="2250" b="0">
                <a:solidFill>
                  <a:srgbClr val="213A47"/>
                </a:solidFill>
                <a:latin typeface="Arial"/>
                <a:ea typeface="Arial"/>
                <a:cs typeface="Arial"/>
              </a:defRPr>
            </a:pPr>
            <a:r>
              <a:rPr sz="2250" b="0">
                <a:solidFill>
                  <a:srgbClr val="213A47"/>
                </a:solidFill>
                <a:latin typeface="Arial"/>
                <a:ea typeface="Arial"/>
                <a:cs typeface="Arial"/>
              </a:rPr>
              <a:t>Payout definition and sample reconciliation</a:t>
            </a:r>
          </a:p>
          <a:p xmlns:a="http://schemas.openxmlformats.org/drawingml/2006/main">
            <a:pPr>
              <a:defRPr sz="2250" b="0">
                <a:solidFill>
                  <a:srgbClr val="213A47"/>
                </a:solidFill>
                <a:latin typeface="Arial"/>
                <a:ea typeface="Arial"/>
                <a:cs typeface="Arial"/>
              </a:defRPr>
            </a:pPr>
            <a:r>
              <a:rPr sz="2250" b="0">
                <a:solidFill>
                  <a:srgbClr val="213A47"/>
                </a:solidFill>
                <a:latin typeface="Arial"/>
                <a:ea typeface="Arial"/>
                <a:cs typeface="Arial"/>
              </a:rPr>
              <a:t>Empirical comparisons and uncertainty estimates</a:t>
            </a:r>
          </a:p>
        </p:txBody>
      </p:sp>
      <p:sp>
        <p:nvSpPr>
          <p:cNvPr id="6" name="">
            <a:extLst xmlns:a="http://schemas.openxmlformats.org/drawingml/2006/main">
              <a:ext uri="{FF2B5EF4-FFF2-40B4-BE49-F238E27FC236}">
                <a16:creationId xmlns:a16="http://schemas.microsoft.com/office/drawing/2014/main" id="{99DA0F3F-24D1-43F4-B6D2-2695C318F9E4}"/>
              </a:ext>
            </a:extLst>
          </p:cNvPr>
          <p:cNvSpPr>
            <a:spLocks xmlns:a="http://schemas.openxmlformats.org/drawingml/2006/main" noGrp="1"/>
          </p:cNvSpPr>
          <p:nvPr/>
        </p:nvSpPr>
        <p:spPr>
          <a:xfrm xmlns:a="http://schemas.openxmlformats.org/drawingml/2006/main">
            <a:off x="609600" y="6010275"/>
            <a:ext cx="1021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07D"/>
                </a:solidFill>
                <a:latin typeface="Arial"/>
                <a:ea typeface="Arial"/>
                <a:cs typeface="Arial"/>
              </a:defRPr>
            </a:pPr>
            <a:r>
              <a:rPr sz="1350" b="0">
                <a:solidFill>
                  <a:srgbClr val="56707D"/>
                </a:solidFill>
                <a:latin typeface="Arial"/>
                <a:ea typeface="Arial"/>
                <a:cs typeface="Arial"/>
              </a:rPr>
              <a:t>A successful replication may confirm, weaken, or reject the original findings.</a:t>
            </a:r>
          </a:p>
        </p:txBody>
      </p:sp>
    </p:spTree>
    <p:extLst>
      <p:ext uri="{BB962C8B-B14F-4D97-AF65-F5344CB8AC3E}">
        <p14:creationId xmlns:p14="http://schemas.microsoft.com/office/powerpoint/2010/main" val="2318565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51D030-B503-4321-9744-68D495E2627F}"/>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B"/>
                </a:solidFill>
                <a:latin typeface="Arial"/>
                <a:ea typeface="Arial"/>
                <a:cs typeface="Arial"/>
              </a:defRPr>
            </a:pPr>
            <a:r>
              <a:rPr sz="3300" b="1">
                <a:solidFill>
                  <a:srgbClr val="152D3B"/>
                </a:solidFill>
                <a:latin typeface="Arial"/>
                <a:ea typeface="Arial"/>
                <a:cs typeface="Arial"/>
              </a:rPr>
              <a:t>References and project files</a:t>
            </a:r>
          </a:p>
        </p:txBody>
      </p:sp>
      <p:sp>
        <p:nvSpPr>
          <p:cNvPr id="2" name="">
            <a:extLst xmlns:a="http://schemas.openxmlformats.org/drawingml/2006/main">
              <a:ext uri="{FF2B5EF4-FFF2-40B4-BE49-F238E27FC236}">
                <a16:creationId xmlns:a16="http://schemas.microsoft.com/office/drawing/2014/main" id="{6487EBDF-EF44-49EF-8EF6-F1EE700123FD}"/>
              </a:ext>
            </a:extLst>
          </p:cNvPr>
          <p:cNvSpPr>
            <a:spLocks xmlns:a="http://schemas.openxmlformats.org/drawingml/2006/main" noGrp="1"/>
          </p:cNvSpPr>
          <p:nvPr/>
        </p:nvSpPr>
        <p:spPr>
          <a:xfrm xmlns:a="http://schemas.openxmlformats.org/drawingml/2006/main">
            <a:off x="110871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707D"/>
                </a:solidFill>
                <a:latin typeface="Arial"/>
                <a:ea typeface="Arial"/>
                <a:cs typeface="Arial"/>
              </a:defRPr>
            </a:pPr>
            <a:r>
              <a:rPr sz="1275" b="0">
                <a:solidFill>
                  <a:srgbClr val="56707D"/>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A7AF89EF-5AEA-4E1F-8B61-BB708E44A7BF}"/>
              </a:ext>
            </a:extLst>
          </p:cNvPr>
          <p:cNvSpPr>
            <a:spLocks xmlns:a="http://schemas.openxmlformats.org/drawingml/2006/main" noGrp="1"/>
          </p:cNvSpPr>
          <p:nvPr/>
        </p:nvSpPr>
        <p:spPr>
          <a:xfrm xmlns:a="http://schemas.openxmlformats.org/drawingml/2006/main">
            <a:off x="609600" y="17526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Van Vliet and Blitz (2018)</a:t>
            </a:r>
          </a:p>
        </p:txBody>
      </p:sp>
      <p:sp>
        <p:nvSpPr>
          <p:cNvPr id="4" name="">
            <a:extLst xmlns:a="http://schemas.openxmlformats.org/drawingml/2006/main">
              <a:ext uri="{FF2B5EF4-FFF2-40B4-BE49-F238E27FC236}">
                <a16:creationId xmlns:a16="http://schemas.microsoft.com/office/drawing/2014/main" id="{FDA59E55-930D-4562-9EA9-022B7FEBC923}"/>
              </a:ext>
            </a:extLst>
          </p:cNvPr>
          <p:cNvSpPr>
            <a:spLocks xmlns:a="http://schemas.openxmlformats.org/drawingml/2006/main" noGrp="1"/>
          </p:cNvSpPr>
          <p:nvPr/>
        </p:nvSpPr>
        <p:spPr>
          <a:xfrm xmlns:a="http://schemas.openxmlformats.org/drawingml/2006/main">
            <a:off x="609600" y="22288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3A47"/>
                </a:solidFill>
                <a:latin typeface="Arial"/>
                <a:ea typeface="Arial"/>
                <a:cs typeface="Arial"/>
              </a:defRPr>
            </a:pPr>
            <a:r>
              <a:rPr sz="1950" b="0">
                <a:solidFill>
                  <a:srgbClr val="213A47"/>
                </a:solidFill>
                <a:latin typeface="Arial"/>
                <a:ea typeface="Arial"/>
                <a:cs typeface="Arial"/>
              </a:rPr>
              <a:t>The Conservative Formula: Quantitative Investing Made Easy</a:t>
            </a:r>
          </a:p>
          <a:p xmlns:a="http://schemas.openxmlformats.org/drawingml/2006/main">
            <a:pPr>
              <a:defRPr sz="1950" b="0">
                <a:solidFill>
                  <a:srgbClr val="213A47"/>
                </a:solidFill>
                <a:latin typeface="Arial"/>
                <a:ea typeface="Arial"/>
                <a:cs typeface="Arial"/>
              </a:defRPr>
            </a:pPr>
            <a:r>
              <a:rPr sz="1950" b="0">
                <a:solidFill>
                  <a:srgbClr val="213A47"/>
                </a:solidFill>
                <a:latin typeface="Arial"/>
                <a:ea typeface="Arial"/>
                <a:cs typeface="Arial"/>
              </a:rPr>
              <a:t>SSRN 3145152</a:t>
            </a:r>
          </a:p>
        </p:txBody>
      </p:sp>
      <p:sp>
        <p:nvSpPr>
          <p:cNvPr id="5" name="">
            <a:extLst xmlns:a="http://schemas.openxmlformats.org/drawingml/2006/main">
              <a:ext uri="{FF2B5EF4-FFF2-40B4-BE49-F238E27FC236}">
                <a16:creationId xmlns:a16="http://schemas.microsoft.com/office/drawing/2014/main" id="{A5FAB736-FF0B-4DE4-A3A3-A327CEE59239}"/>
              </a:ext>
            </a:extLst>
          </p:cNvPr>
          <p:cNvSpPr>
            <a:spLocks xmlns:a="http://schemas.openxmlformats.org/drawingml/2006/main" noGrp="1"/>
          </p:cNvSpPr>
          <p:nvPr/>
        </p:nvSpPr>
        <p:spPr>
          <a:xfrm xmlns:a="http://schemas.openxmlformats.org/drawingml/2006/main">
            <a:off x="609600" y="33528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D8D"/>
                </a:solidFill>
                <a:latin typeface="Arial"/>
                <a:ea typeface="Arial"/>
                <a:cs typeface="Arial"/>
              </a:defRPr>
            </a:pPr>
            <a:r>
              <a:rPr sz="2175" b="1">
                <a:solidFill>
                  <a:srgbClr val="137D8D"/>
                </a:solidFill>
                <a:latin typeface="Arial"/>
                <a:ea typeface="Arial"/>
                <a:cs typeface="Arial"/>
              </a:rPr>
              <a:t>Supporting sources</a:t>
            </a:r>
          </a:p>
        </p:txBody>
      </p:sp>
      <p:sp>
        <p:nvSpPr>
          <p:cNvPr id="6" name="">
            <a:extLst xmlns:a="http://schemas.openxmlformats.org/drawingml/2006/main">
              <a:ext uri="{FF2B5EF4-FFF2-40B4-BE49-F238E27FC236}">
                <a16:creationId xmlns:a16="http://schemas.microsoft.com/office/drawing/2014/main" id="{E78182C7-1197-47E9-863A-78BDBA09690F}"/>
              </a:ext>
            </a:extLst>
          </p:cNvPr>
          <p:cNvSpPr>
            <a:spLocks xmlns:a="http://schemas.openxmlformats.org/drawingml/2006/main" noGrp="1"/>
          </p:cNvSpPr>
          <p:nvPr/>
        </p:nvSpPr>
        <p:spPr>
          <a:xfrm xmlns:a="http://schemas.openxmlformats.org/drawingml/2006/main">
            <a:off x="609600" y="3829050"/>
            <a:ext cx="10858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3A47"/>
                </a:solidFill>
                <a:latin typeface="Arial"/>
                <a:ea typeface="Arial"/>
                <a:cs typeface="Arial"/>
              </a:defRPr>
            </a:pPr>
            <a:r>
              <a:rPr sz="1950" b="0">
                <a:solidFill>
                  <a:srgbClr val="213A47"/>
                </a:solidFill>
                <a:latin typeface="Arial"/>
                <a:ea typeface="Arial"/>
                <a:cs typeface="Arial"/>
              </a:rPr>
              <a:t>Robeco, Guide to Conservative Investing (2023)</a:t>
            </a:r>
          </a:p>
          <a:p xmlns:a="http://schemas.openxmlformats.org/drawingml/2006/main">
            <a:pPr>
              <a:defRPr sz="1950" b="0">
                <a:solidFill>
                  <a:srgbClr val="213A47"/>
                </a:solidFill>
                <a:latin typeface="Arial"/>
                <a:ea typeface="Arial"/>
                <a:cs typeface="Arial"/>
              </a:defRPr>
            </a:pPr>
            <a:r>
              <a:rPr sz="1950" b="0">
                <a:solidFill>
                  <a:srgbClr val="213A47"/>
                </a:solidFill>
                <a:latin typeface="Arial"/>
                <a:ea typeface="Arial"/>
                <a:cs typeface="Arial"/>
              </a:rPr>
              <a:t>CRSP, Summary of CIZ Differences to Legacy Files</a:t>
            </a:r>
          </a:p>
          <a:p xmlns:a="http://schemas.openxmlformats.org/drawingml/2006/main">
            <a:pPr>
              <a:defRPr sz="1950" b="0">
                <a:solidFill>
                  <a:srgbClr val="213A47"/>
                </a:solidFill>
                <a:latin typeface="Arial"/>
                <a:ea typeface="Arial"/>
                <a:cs typeface="Arial"/>
              </a:defRPr>
            </a:pPr>
            <a:r>
              <a:rPr sz="1950" b="0">
                <a:solidFill>
                  <a:srgbClr val="213A47"/>
                </a:solidFill>
                <a:latin typeface="Arial"/>
                <a:ea typeface="Arial"/>
                <a:cs typeface="Arial"/>
              </a:rPr>
              <a:t>MTH 9897, Final Projects 2026</a:t>
            </a:r>
          </a:p>
        </p:txBody>
      </p:sp>
      <p:sp>
        <p:nvSpPr>
          <p:cNvPr id="7" name="">
            <a:extLst xmlns:a="http://schemas.openxmlformats.org/drawingml/2006/main">
              <a:ext uri="{FF2B5EF4-FFF2-40B4-BE49-F238E27FC236}">
                <a16:creationId xmlns:a16="http://schemas.microsoft.com/office/drawing/2014/main" id="{B3108C9B-B77C-48AA-B7BF-832C35F33FE8}"/>
              </a:ext>
            </a:extLst>
          </p:cNvPr>
          <p:cNvSpPr>
            <a:spLocks xmlns:a="http://schemas.openxmlformats.org/drawingml/2006/main" noGrp="1"/>
          </p:cNvSpPr>
          <p:nvPr/>
        </p:nvSpPr>
        <p:spPr>
          <a:xfrm xmlns:a="http://schemas.openxmlformats.org/drawingml/2006/main">
            <a:off x="609600" y="53911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7D8D"/>
                </a:solidFill>
                <a:latin typeface="Arial"/>
                <a:ea typeface="Arial"/>
                <a:cs typeface="Arial"/>
              </a:defRPr>
            </a:pPr>
            <a:r>
              <a:rPr sz="1800" b="1">
                <a:solidFill>
                  <a:srgbClr val="137D8D"/>
                </a:solidFill>
                <a:latin typeface="Arial"/>
                <a:ea typeface="Arial"/>
                <a:cs typeface="Arial"/>
              </a:rPr>
              <a:t>Notebook, slides, and generator code</a:t>
            </a:r>
          </a:p>
        </p:txBody>
      </p:sp>
      <p:sp>
        <p:nvSpPr>
          <p:cNvPr id="8" name="">
            <a:extLst xmlns:a="http://schemas.openxmlformats.org/drawingml/2006/main">
              <a:ext uri="{FF2B5EF4-FFF2-40B4-BE49-F238E27FC236}">
                <a16:creationId xmlns:a16="http://schemas.microsoft.com/office/drawing/2014/main" id="{3A424A26-5D73-4C80-A64D-C99CB782F3A1}"/>
              </a:ext>
            </a:extLst>
          </p:cNvPr>
          <p:cNvSpPr>
            <a:spLocks xmlns:a="http://schemas.openxmlformats.org/drawingml/2006/main" noGrp="1"/>
          </p:cNvSpPr>
          <p:nvPr/>
        </p:nvSpPr>
        <p:spPr>
          <a:xfrm xmlns:a="http://schemas.openxmlformats.org/drawingml/2006/main">
            <a:off x="609600" y="5781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13A47"/>
                </a:solidFill>
                <a:latin typeface="Arial"/>
                <a:ea typeface="Arial"/>
                <a:cs typeface="Arial"/>
              </a:defRPr>
            </a:pPr>
            <a:r>
              <a:rPr sz="1725" b="0">
                <a:solidFill>
                  <a:srgbClr val="213A47"/>
                </a:solidFill>
                <a:latin typeface="Arial"/>
                <a:ea typeface="Arial"/>
                <a:cs typeface="Arial"/>
              </a:rPr>
              <a:t>github.com/yingnichang/MTH9897/tree/main/Final</a:t>
            </a:r>
          </a:p>
        </p:txBody>
      </p:sp>
    </p:spTree>
    <p:extLst>
      <p:ext uri="{BB962C8B-B14F-4D97-AF65-F5344CB8AC3E}">
        <p14:creationId xmlns:p14="http://schemas.microsoft.com/office/powerpoint/2010/main" val="135915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2026-09-29T23:22:19.8210000Z</dcterms:created>
  <dcterms:modified xsi:type="dcterms:W3CDTF">2026-09-29T23:22:19.8210000Z</dcterms:modified>
</coreProperties>
</file>