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replication is the benchmark, not the conclusion. The three questions and their periods were fixed before any 2017–2024 return was computed; the first load of those data is time-stamped 2026-10-11T00:50:37+00:00.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CAPM alphas are shown only for comparison with the paper. A positive average return is not treated as evidence unless its interval excludes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audit tables (coverage, exclusions, missing returns, delistings, dividends, benchmark) are in the notebook's data section; no security-level row appears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deviation is disclosed with its direction or magnitude in the notebook's deviations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Gross of costs, paper definitions. Every gap above 1 pp has a documented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t-values are compared with our OLS t; Newey–West t-statistics are reported alongside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Break-even is the cost per dollar traded at which the net excess return or net Carhart alpha reaches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evidence of outperformance in 2017–2024, rather than proof of failure: the interval is 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 does not support the claim that the formula beats the market on recent data once known factors and realistic costs are taken into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Signals are industry-neutralized, standardized and clipped at ±3; returns are industry-adjusted.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Labels matter: the long/short convention and the optimizer's alpha-scaling sensitivity were chosen after results were seen.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buffer recovers part of the cost drag but does not change the answer to the critical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statements follow the accepted conclusions of the replication, attribution and critical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slide number is read from results/ through the loader, which refuses a file whose hash differs from the manifest. Security-level rows stay in the git-ignored output/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The Conservative Formula: a critical replication on CRSP, 1929–2024</a:t>
            </a:r>
          </a:p>
          <a:p>
            <a:pPr>
              <a:defRPr sz="1500">
                <a:solidFill>
                  <a:srgbClr val="6B757D"/>
                </a:solidFill>
              </a:defRPr>
            </a:pPr>
            <a:r>
              <a:t>MTH 9897 Systematic Trading · Project 8 · [Add names and team number]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Paper: Blitz and van Vliet (2018), The Conservative Formula, Journal of Portfolio Management 44(7)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Replicate the US results on the paper's sample, 1929–2016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Then test three questions fixed in advance: known factors, decay, costs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Headline period: 1990–2024 (2017–2024 is post-sample)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The rule: 1,000 largest US stocks → low-volatility half → rank on 12-1 momentum and net payout yield → best 100, equal weight, quarterly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1. Known factors: is the return explained by Carhart (primary) or FF5 + momentum (robustness)?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2. Decay: fixed periods 1929–1962, 1963–1989, 1990–2016, 2017–2024, plus rolling 120-month windows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3. Costs: net of 10 and 30 bps per dollar traded; break-even cost of the excess return and the alpha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All estimates with Newey–West (12 lags) or block-bootstrap intervals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Data and 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CRSP monthly stock file via WRDS, extracted 2026-10-10; months 1925-12 to 2024-12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3,954,476 security-months, 26,746 securities, 22,869 delistings (110 imputed, 27 set to zero)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Universe: 393 stocks in December 1928; the full 1,000 from 1964-06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One share class per company; dividends implied from total minus price return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Held stocks without a monthly return: stale-price carry or in-gap price ratio, every case counted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No release identifier on WRDS: the extract is identified by time stamp and file hashes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Baseline rule and deviations from the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Paper order: history screen → top 1,000 by market cap → low-volatility half → ranks among complete signals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Weights drift between rebalances; delisted holdings become cash; costs charged per dollar traded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Controls: Speculative (high-volatility half, weakest scores), standalone signals, Small, CRSP VW market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Excluded: Value (no book equity in CRSP) and Table 2 panels C–D (factors not in our sources)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760720" y="1280160"/>
          <a:ext cx="5943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deviation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our convention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Share-class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largest common class of each PERMCO per month (shrcd 10/11)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Size 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security market cap for the top-1,000 cut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Dividends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implied from ret - retx (legacy retx includes non-ordinary distributions)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Missing-signal rule (NB-007)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partition first; complete cases ranked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Small early universe (DATA-001)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all history-eligible names when &lt; 1,000 (393 at 1928-12; 500-name pool from 1964-06)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Missing monthly returns (DATA-002/010)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stale carry (0) or in-gap price ratio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Replication 1929–2016: close on return and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4572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Conservative 14.85% compounded, 17.06% volatility (paper 15.1%, 16.5%)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Market 9.15% (paper 9.3%)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Speculative 3.21% with 35.9% volatility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Conservative beats the market in 9 of 10 decades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Turnover 38.9% a quarter vs the paper's 32% (unexplained; measure not stated)</a:t>
            </a:r>
          </a:p>
        </p:txBody>
      </p:sp>
      <p:pic>
        <p:nvPicPr>
          <p:cNvPr id="4" name="Picture 3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280160"/>
            <a:ext cx="5943600" cy="326898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686300"/>
          <a:ext cx="1124712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paper / 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Momentum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Lowvol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NPY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Return (compounded)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15.1%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9.3% / 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12.0% / 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15.9%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10.2% / 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14.5% / 14.2%</a:t>
                      </a:r>
                    </a:p>
                  </a:txBody>
                  <a:tcPr/>
                </a:tc>
              </a:tr>
              <a:tr h="27432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16.5%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18.7%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31.4%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25.7%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13.3%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20.1% / 21.2%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Factor attribution (Table 2): largely known premia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CMS (Conservative − Speculative), 1963–2016: CAPM 14.24% vs 14.0%; FF5 8.70% vs 8.8%; FF5 + MOM 3.14% vs 3.3%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1929–2016: CAPM 12.41% vs 13.9%; Carhart 7.81% vs 8.8% (gap is pre-1963)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Conservative long-only: Carhart alpha 3.28% (t 4.69)</a:t>
            </a:r>
          </a:p>
          <a:p>
            <a:pPr lvl="1">
              <a:spcAft>
                <a:spcPts val="600"/>
              </a:spcAft>
              <a:defRPr sz="1300">
                <a:solidFill>
                  <a:srgbClr val="6B757D"/>
                </a:solidFill>
              </a:defRPr>
            </a:pPr>
            <a:r>
              <a:t>FF5 + momentum, 1963–2016: −0.04% (t −0.06) — profitability and investment explain it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CMS net of 30 bps, both legs paying: Carhart 5.86% (t 4.03)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Costs (Table 4) and break-even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Paper cost arithmetic reproduced: turnover × 8 × cost; our turnover 38.9% vs 32%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Net of 30 bps, 1929–2016: 13.78% compounded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1990–2024 break-even: 53 bps (excess return), 37 bps (alpha)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2017–2024: gross excess return and alpha already ≤ 0, so no break-even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Early-period break-evens are high, but so were real trading costs then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280160"/>
          <a:ext cx="50292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break-even, 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excess return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1929–1962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1963–1989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2017–2024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Decay: alphas fade after 1990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400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Carhart alpha (gross): 4.7% → 2.2% → 1.8% → −1.2%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Significant before 1990, not after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2017–2024 is only 96 months: interval [−5.1%, 2.7%]</a:t>
            </a:r>
          </a:p>
        </p:txBody>
      </p:sp>
      <p:pic>
        <p:nvPicPr>
          <p:cNvPr id="4" name="Picture 3" descr="fig_ro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280160"/>
            <a:ext cx="4572000" cy="2909455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326775"/>
          <a:ext cx="112471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excess, gross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Carhart α gross (t)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Carhart α net 30 (t)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1929–1962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4.7% (5.05)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3.8% (4.16)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1963–1989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2.2% (3.01)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1.2% (1.68)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1.8% (1.37)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0.8% (0.59)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2017–2024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−1.2% (−0.62)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−2.1% (−1.06)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1990–2024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1.2% (1.07)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0.2% (0.21)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Headline 1990–2024: no significant net alpha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Gross: excess over market 1.72% [−2.0%, 5.4%]; Carhart alpha 1.20% (t 1.07)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Net of 30 bps: excess 0.76% [−2.9%, 4.5%]; alpha 0.23% [−2.0%, 2.4%]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FF5 + momentum alpha, net of 30 bps: −1.97% (t −2.30)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Still lower risk: 12.3% compounded with 13.5% volatility (market 10.1%, 15.2%)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Cost-inclusive CMS alpha 3.77% (t 2.23)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Signal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Composite rank IC (1 month): 0.047 (NW t 8.8)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Decile spread D10−D1: 1.04% (1963–1989), 0.69% (1990–2016), 0.40% (2017–2024)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Factor-mimicking paper portfolio: IR 0.51 at K = 1, 0.20 at K = 12</a:t>
            </a:r>
          </a:p>
          <a:p>
            <a:pPr lvl="1">
              <a:spcAft>
                <a:spcPts val="600"/>
              </a:spcAft>
              <a:defRPr sz="1300">
                <a:solidFill>
                  <a:srgbClr val="6B757D"/>
                </a:solidFill>
              </a:defRPr>
            </a:pPr>
            <a:r>
              <a:t>2017–2024 IR at K = 1: 0.13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Low volatility: positive rank IC, flat mean spread (right-skewed high-volatility deciles)</a:t>
            </a:r>
          </a:p>
        </p:txBody>
      </p:sp>
      <p:pic>
        <p:nvPicPr>
          <p:cNvPr id="4" name="Picture 3" descr="fig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80160"/>
            <a:ext cx="5943600" cy="22288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Construction: long/short and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486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2A33"/>
                </a:solidFill>
              </a:defRPr>
            </a:pPr>
            <a:r>
              <a:t>Decile long/short, n = 3, 10 bps, borrow: 0.86% a year, IR 0.03, max drawdown −100.0%</a:t>
            </a:r>
          </a:p>
          <a:p>
            <a:pPr lvl="1">
              <a:spcAft>
                <a:spcPts val="600"/>
              </a:spcAft>
              <a:defRPr sz="1100">
                <a:solidFill>
                  <a:srgbClr val="6B757D"/>
                </a:solidFill>
              </a:defRPr>
            </a:pPr>
            <a:r>
              <a:t>Monthly re-weighted cohorts: chosen after the pre-specified buy-and-hold cohorts were ruined (1932-08, 1933-05)</a:t>
            </a:r>
          </a:p>
          <a:p>
            <a:pPr lvl="1">
              <a:spcAft>
                <a:spcPts val="600"/>
              </a:spcAft>
              <a:defRPr sz="1100">
                <a:solidFill>
                  <a:srgbClr val="6B757D"/>
                </a:solidFill>
              </a:defRPr>
            </a:pPr>
            <a:r>
              <a:t>Capacity 2020s ≈ $7.9B (10% of volume at the 95th percentile; no impact model)</a:t>
            </a:r>
          </a:p>
          <a:p>
            <a:pPr>
              <a:spcAft>
                <a:spcPts val="600"/>
              </a:spcAft>
              <a:defRPr sz="1300">
                <a:solidFill>
                  <a:srgbClr val="1F2A33"/>
                </a:solidFill>
              </a:defRPr>
            </a:pPr>
            <a:r>
              <a:t>Linear optimizer, 1990–2024 net 30: Carhart alpha 1.42%–1.97% (2–5% bands, 20–40% turnover budget); three of the four 95% intervals exclude zero</a:t>
            </a:r>
          </a:p>
          <a:p>
            <a:pPr lvl="1">
              <a:spcAft>
                <a:spcPts val="600"/>
              </a:spcAft>
              <a:defRPr sz="1100">
                <a:solidFill>
                  <a:srgbClr val="6B757D"/>
                </a:solidFill>
              </a:defRPr>
            </a:pPr>
            <a:r>
              <a:t>Unadjusted intervals, selected from a 24-run grid; 2017–2024 alphas −2.70% to 0.06% (none of the twelve 95% intervals excludes zero); return-scaled alpha is a post-spec sensitivity</a:t>
            </a:r>
          </a:p>
          <a:p>
            <a:pPr>
              <a:spcAft>
                <a:spcPts val="600"/>
              </a:spcAft>
              <a:defRPr sz="1300">
                <a:solidFill>
                  <a:srgbClr val="1F2A33"/>
                </a:solidFill>
              </a:defRPr>
            </a:pPr>
            <a:r>
              <a:t>Quadratic optimization excluded: no commercial risk model</a:t>
            </a:r>
          </a:p>
        </p:txBody>
      </p:sp>
      <p:pic>
        <p:nvPicPr>
          <p:cNvPr id="4" name="Picture 3" descr="fig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577840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Declared improvement: rank buffer of 150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1206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Declared before any result: keep holdings ranked within the best 150; success = turnover −25% and positive net difference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Verdict: succeeds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Turnover 39.8% → 28.4% a quarter (28.7% lower)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Net-of-30 paired difference 0.34% a year [−0.10%, 0.78%]: not significant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Gross difference 0.06%: no signal lost, costs saved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2017–2024 was already seen: not a holdout</a:t>
            </a:r>
          </a:p>
        </p:txBody>
      </p:sp>
      <p:pic>
        <p:nvPicPr>
          <p:cNvPr id="4" name="Picture 3" descr="fig_paired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80160"/>
            <a:ext cx="594360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Conclusion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Replication close on return and risk; Table 2 panel B reproduced almost exactly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The return is largely a bundle of low-volatility, momentum, profitability and investment premia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Alphas decay; 1990–2024 net of 30 bps: alpha 0.23% [−2.0%, 2.4%]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No evidence that the formula beats the market on recent data after known factors and costs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A cheap, transparent way to hold these premia with lower volatility than the market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Limitations: no CRSP release identifier; implied dividends; share-class and size conventions; turnover above the paper's; selection across grids; a short post-sample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33"/>
                </a:solidFill>
              </a:defRPr>
            </a:pPr>
            <a: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-m crsp_pipeline extract --user &lt;wrds_username&gt;   (licensed data; not in the repository)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-m crsp_pipeline build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-m research.run_all   → results/ (aggregates) + results/manifest.json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build_notebook.py &amp;&amp; python execute_notebook.py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python presentation/build_deck.py</a:t>
            </a:r>
          </a:p>
          <a:p>
            <a:pPr>
              <a:spcAft>
                <a:spcPts val="600"/>
              </a:spcAft>
              <a:defRPr sz="1500">
                <a:solidFill>
                  <a:srgbClr val="1F2A33"/>
                </a:solidFill>
              </a:defRPr>
            </a:pPr>
            <a:r>
              <a:t>73 result files with sha256 hashes; data manifest 5eada288fe2c…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