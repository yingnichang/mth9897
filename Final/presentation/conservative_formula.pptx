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 monthly CRSP data to implement the paper's rule, then extend the backtest through 2024. The first comparison uses the paper's own sample. The later analysis asks whether the return survives factor adjustment and trading costs.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 the published return and risk first. Then we examine known factors, changes across periods and trading costs. These comparisons were fixed before computing the post-2016 portfolio returns. The additional variants are separate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work matters here. We retain delisted stocks, use historical company and exchange information, and separate missing signal inputs from returns on already-held positions. The early universe is much smaller than 1,000 names.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require 36 months of return history before the size cut. After that, we use the low-volatility half and combine momentum and payout ranks. The largest share class represents each company. We document the choices that the paper leaves open.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Momentum uses price returns and excludes the latest month. Portfolio returns include distributions. For payout, both prices and shares need split adjustment: a split should not appear as a repurchase. The 12-month dividend window is our disclosed convention.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return and volatility figures are close. The turnover difference is larger and remains unresolved. We have not changed the rule to force agreement. Share classes, the size measure and payout estimation may affect the result, but we cannot separate their effects.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 model changes the interpretation of the historical return. Adding profitability and investment reduces estimated alpha substantially. The post-1963 comparisons are closer than the full-sample ones; a different sample should not be mistaken for evidence of the cause of the gap.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charge both purchases and sales. Break-even is the cost per dollar traded at which market excess return or Carhart alpha reaches zero. Flat cost scenarios do not capture historical changes in liquidity or market impact.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earlier estimates are stronger than the recent ones. The sample after 2016 is only eight years, so its interval is wide. We do not interpret an insignificant estimate as proof that expected alpha is exactly zero.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costs, the recent alpha interval includes zero. The portfolio still has lower volatility than the market. The Conservative-minus-Speculative contrast remains different from the long-only portfolio's performance against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payout issue raised in the assignment. We compare NPY with dividends alone using otherwise identical portfolio rules. The share-count term changes both selections and returns. It measures net repurchases after issuance, rather than reported buyback cash spending.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 with the same formation universe so that industry allocation is not confused with a broad-market universe difference. The attribution includes the selection interaction. We then apply the course's count-proportional quotas, which change the paper's global screen.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tests use industry-neutral exposures and industry-adjusted returns. Rank IC and a mean decile spread can tell different stories when returns are skewed. The factor-mimicking portfolios are gross diagnostic portfolios and may have substantial leverage.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initial buy-and-hold long/short loses all capital in the early data. Monthly reweighting was considered after seeing that outcome, and still gives severe drawdowns. The linear optimizer results also need caution: the displayed intervals are unadjusted for testing several settings.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only 36 observations for about 1,000 stocks, sample covariance needs regularization. We use half sample covariance and half diagonal covariance. More risk aversion lowers realized volatility, but these long-only portfolios remain highly correlated with the market. We chose these settings after examining the baseline.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fixed the 150-rank buffer before testing it. It reduces turnover, and its net point estimate is positive, but the paired interval includes zero. Since it also changes holdings, we cannot attribute the entire difference to cost savings.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reproduce much of the historical return-and-risk pattern. The remaining turnover and regression gaps prevent an exact replication claim. For recent data, lower volatility is more consistent than positive net alpha. The extra strategies need an unseen test before stronger claims would be justified.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notebook and both PDFs read saved aggregate results. The full calculation starts with the private CRSP inputs and runs through research.run_all. Source data, cleaning audits and run instructions are included in the private submission package.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Replicating the Conservative Formula</a:t>
            </a:r>
          </a:p>
          <a:p>
            <a:pPr>
              <a:defRPr sz="1500">
                <a:solidFill>
                  <a:srgbClr val="6B757D"/>
                </a:solidFill>
              </a:defRPr>
            </a:pPr>
            <a:r>
              <a:t>Yingni Chang and Yikai Shen · MTH 9897 Project 8 · CRSP replication, 1929–2024</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Paper: Blitz and van Vliet (2018), The Conservative Formula, Journal of Portfolio Management 44(7)</a:t>
            </a:r>
          </a:p>
          <a:p>
            <a:pPr>
              <a:spcAft>
                <a:spcPts val="600"/>
              </a:spcAft>
              <a:defRPr sz="1500">
                <a:solidFill>
                  <a:srgbClr val="1F2A33"/>
                </a:solidFill>
              </a:defRPr>
            </a:pPr>
            <a:r>
              <a:t>Replicate the US results on the paper's sample, 1929–2016</a:t>
            </a:r>
          </a:p>
          <a:p>
            <a:pPr>
              <a:spcAft>
                <a:spcPts val="600"/>
              </a:spcAft>
              <a:defRPr sz="1500">
                <a:solidFill>
                  <a:srgbClr val="1F2A33"/>
                </a:solidFill>
              </a:defRPr>
            </a:pPr>
            <a:r>
              <a:t>Then examine factor exposure, later periods and trading costs</a:t>
            </a:r>
          </a:p>
          <a:p>
            <a:pPr>
              <a:spcAft>
                <a:spcPts val="600"/>
              </a:spcAft>
              <a:defRPr sz="1500">
                <a:solidFill>
                  <a:srgbClr val="1F2A33"/>
                </a:solidFill>
              </a:defRPr>
            </a:pPr>
            <a:r>
              <a:t>Main recent comparison: 1990–2024; the paper ends in 2016</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What we test</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The rule: 1,000 largest US stocks → low-volatility half → rank on 12-1 momentum and net payout yield → best 100, equal weight, quarterly</a:t>
            </a:r>
          </a:p>
          <a:p>
            <a:pPr>
              <a:spcAft>
                <a:spcPts val="600"/>
              </a:spcAft>
              <a:defRPr sz="1500">
                <a:solidFill>
                  <a:srgbClr val="1F2A33"/>
                </a:solidFill>
              </a:defRPr>
            </a:pPr>
            <a:r>
              <a:t>1. Known factors: is the return explained by Carhart (primary) or FF5 + momentum (robustness)?</a:t>
            </a:r>
          </a:p>
          <a:p>
            <a:pPr>
              <a:spcAft>
                <a:spcPts val="600"/>
              </a:spcAft>
              <a:defRPr sz="1500">
                <a:solidFill>
                  <a:srgbClr val="1F2A33"/>
                </a:solidFill>
              </a:defRPr>
            </a:pPr>
            <a:r>
              <a:t>2. Decay: fixed periods 1929–1962, 1963–1989, 1990–2016, 2017–2024, plus rolling 120-month windows</a:t>
            </a:r>
          </a:p>
          <a:p>
            <a:pPr>
              <a:spcAft>
                <a:spcPts val="600"/>
              </a:spcAft>
              <a:defRPr sz="1500">
                <a:solidFill>
                  <a:srgbClr val="1F2A33"/>
                </a:solidFill>
              </a:defRPr>
            </a:pPr>
            <a:r>
              <a:t>3. Costs: net of 10 and 30 bps per dollar traded; break-even cost of the excess return and the alpha</a:t>
            </a:r>
          </a:p>
          <a:p>
            <a:pPr>
              <a:spcAft>
                <a:spcPts val="600"/>
              </a:spcAft>
              <a:defRPr sz="1500">
                <a:solidFill>
                  <a:srgbClr val="1F2A33"/>
                </a:solidFill>
              </a:defRPr>
            </a:pPr>
            <a:r>
              <a:t>All estimates with Newey–West (12 lags) or block-bootstrap intervals</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The data</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CRSP monthly stock file via WRDS, extracted 2026-10-13; months 1925-12 to 2024-12</a:t>
            </a:r>
          </a:p>
          <a:p>
            <a:pPr>
              <a:spcAft>
                <a:spcPts val="600"/>
              </a:spcAft>
              <a:defRPr sz="1500">
                <a:solidFill>
                  <a:srgbClr val="1F2A33"/>
                </a:solidFill>
              </a:defRPr>
            </a:pPr>
            <a:r>
              <a:t>3,954,591 security-months, 26,746 securities, 22,869 delistings (2530 imputed, 317 set to zero)</a:t>
            </a:r>
          </a:p>
          <a:p>
            <a:pPr>
              <a:spcAft>
                <a:spcPts val="600"/>
              </a:spcAft>
              <a:defRPr sz="1500">
                <a:solidFill>
                  <a:srgbClr val="1F2A33"/>
                </a:solidFill>
              </a:defRPr>
            </a:pPr>
            <a:r>
              <a:t>Universe: 393 stocks in December 1928; the full 1,000 from 1964-06</a:t>
            </a:r>
          </a:p>
          <a:p>
            <a:pPr>
              <a:spcAft>
                <a:spcPts val="600"/>
              </a:spcAft>
              <a:defRPr sz="1500">
                <a:solidFill>
                  <a:srgbClr val="1F2A33"/>
                </a:solidFill>
              </a:defRPr>
            </a:pPr>
            <a:r>
              <a:t>One share class per company; dividends implied from total minus price return</a:t>
            </a:r>
          </a:p>
          <a:p>
            <a:pPr>
              <a:spcAft>
                <a:spcPts val="600"/>
              </a:spcAft>
              <a:defRPr sz="1500">
                <a:solidFill>
                  <a:srgbClr val="1F2A33"/>
                </a:solidFill>
              </a:defRPr>
            </a:pPr>
            <a:r>
              <a:t>Held stocks without a monthly return: stale-price carry or in-gap price ratio, every case counted</a:t>
            </a:r>
          </a:p>
          <a:p>
            <a:pPr>
              <a:spcAft>
                <a:spcPts val="600"/>
              </a:spcAft>
              <a:defRPr sz="1500">
                <a:solidFill>
                  <a:srgbClr val="1F2A33"/>
                </a:solidFill>
              </a:defRPr>
            </a:pPr>
            <a:r>
              <a:t>No release identifier on WRDS: the extract is identified by time stamp and file hashes</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The portfolio rule</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Paper order: history screen → top 1,000 by market cap → low-volatility half → ranks among complete signals</a:t>
            </a:r>
          </a:p>
          <a:p>
            <a:pPr>
              <a:spcAft>
                <a:spcPts val="600"/>
              </a:spcAft>
              <a:defRPr sz="1500">
                <a:solidFill>
                  <a:srgbClr val="1F2A33"/>
                </a:solidFill>
              </a:defRPr>
            </a:pPr>
            <a:r>
              <a:t>Weights drift between rebalances; delisted holdings become cash; costs charged per dollar traded</a:t>
            </a:r>
          </a:p>
          <a:p>
            <a:pPr>
              <a:spcAft>
                <a:spcPts val="600"/>
              </a:spcAft>
              <a:defRPr sz="1500">
                <a:solidFill>
                  <a:srgbClr val="1F2A33"/>
                </a:solidFill>
              </a:defRPr>
            </a:pPr>
            <a:r>
              <a:t>Controls: Speculative (high-volatility half, weakest scores), standalone signals, Small, CRSP VW market</a:t>
            </a:r>
          </a:p>
          <a:p>
            <a:pPr>
              <a:spcAft>
                <a:spcPts val="600"/>
              </a:spcAft>
              <a:defRPr sz="1500">
                <a:solidFill>
                  <a:srgbClr val="1F2A33"/>
                </a:solidFill>
              </a:defRPr>
            </a:pPr>
            <a:r>
              <a:t>Excluded: Value (no book equity in CRSP) and Table 2 panels C–D (factors not in our sources)</a:t>
            </a:r>
          </a:p>
        </p:txBody>
      </p:sp>
      <p:graphicFrame>
        <p:nvGraphicFramePr>
          <p:cNvPr id="4" name="Table 3"/>
          <p:cNvGraphicFramePr>
            <a:graphicFrameLocks noGrp="1"/>
          </p:cNvGraphicFramePr>
          <p:nvPr/>
        </p:nvGraphicFramePr>
        <p:xfrm>
          <a:off x="5760720" y="1280160"/>
          <a:ext cx="5943600" cy="1920240"/>
        </p:xfrm>
        <a:graphic>
          <a:graphicData uri="http://schemas.openxmlformats.org/drawingml/2006/table">
            <a:tbl>
              <a:tblPr firstRow="1" bandRow="1">
                <a:tableStyleId>{5C22544A-7EE6-4342-B048-85BDC9FD1C3A}</a:tableStyleId>
              </a:tblPr>
              <a:tblGrid>
                <a:gridCol w="2971800"/>
                <a:gridCol w="2971800"/>
              </a:tblGrid>
              <a:tr h="274320">
                <a:tc>
                  <a:txBody>
                    <a:bodyPr/>
                    <a:lstStyle/>
                    <a:p>
                      <a:pPr>
                        <a:defRPr sz="1100" b="1"/>
                      </a:pPr>
                      <a:r>
                        <a:t>deviation</a:t>
                      </a:r>
                    </a:p>
                  </a:txBody>
                  <a:tcPr/>
                </a:tc>
                <a:tc>
                  <a:txBody>
                    <a:bodyPr/>
                    <a:lstStyle/>
                    <a:p>
                      <a:pPr>
                        <a:defRPr sz="1100" b="1"/>
                      </a:pPr>
                      <a:r>
                        <a:t>our convention</a:t>
                      </a:r>
                    </a:p>
                  </a:txBody>
                  <a:tcPr/>
                </a:tc>
              </a:tr>
              <a:tr h="274320">
                <a:tc>
                  <a:txBody>
                    <a:bodyPr/>
                    <a:lstStyle/>
                    <a:p>
                      <a:pPr>
                        <a:defRPr sz="1100" b="0"/>
                      </a:pPr>
                      <a:r>
                        <a:t>Share-class selection</a:t>
                      </a:r>
                    </a:p>
                  </a:txBody>
                  <a:tcPr/>
                </a:tc>
                <a:tc>
                  <a:txBody>
                    <a:bodyPr/>
                    <a:lstStyle/>
                    <a:p>
                      <a:pPr>
                        <a:defRPr sz="1100" b="0"/>
                      </a:pPr>
                      <a:r>
                        <a:t>largest common class of each PERMCO per month (shrcd 10/11)</a:t>
                      </a:r>
                    </a:p>
                  </a:txBody>
                  <a:tcPr/>
                </a:tc>
              </a:tr>
              <a:tr h="274320">
                <a:tc>
                  <a:txBody>
                    <a:bodyPr/>
                    <a:lstStyle/>
                    <a:p>
                      <a:pPr>
                        <a:defRPr sz="1100" b="0"/>
                      </a:pPr>
                      <a:r>
                        <a:t>Size measure</a:t>
                      </a:r>
                    </a:p>
                  </a:txBody>
                  <a:tcPr/>
                </a:tc>
                <a:tc>
                  <a:txBody>
                    <a:bodyPr/>
                    <a:lstStyle/>
                    <a:p>
                      <a:pPr>
                        <a:defRPr sz="1100" b="0"/>
                      </a:pPr>
                      <a:r>
                        <a:t>security market cap for the top-1,000 cut</a:t>
                      </a:r>
                    </a:p>
                  </a:txBody>
                  <a:tcPr/>
                </a:tc>
              </a:tr>
              <a:tr h="274320">
                <a:tc>
                  <a:txBody>
                    <a:bodyPr/>
                    <a:lstStyle/>
                    <a:p>
                      <a:pPr>
                        <a:defRPr sz="1100" b="0"/>
                      </a:pPr>
                      <a:r>
                        <a:t>Dividends</a:t>
                      </a:r>
                    </a:p>
                  </a:txBody>
                  <a:tcPr/>
                </a:tc>
                <a:tc>
                  <a:txBody>
                    <a:bodyPr/>
                    <a:lstStyle/>
                    <a:p>
                      <a:pPr>
                        <a:defRPr sz="1100" b="0"/>
                      </a:pPr>
                      <a:r>
                        <a:t>implied from ret - retx (legacy retx includes non-ordinary distributions)</a:t>
                      </a:r>
                    </a:p>
                  </a:txBody>
                  <a:tcPr/>
                </a:tc>
              </a:tr>
              <a:tr h="274320">
                <a:tc>
                  <a:txBody>
                    <a:bodyPr/>
                    <a:lstStyle/>
                    <a:p>
                      <a:pPr>
                        <a:defRPr sz="1100" b="0"/>
                      </a:pPr>
                      <a:r>
                        <a:t>Missing-signal rule (NB-007)</a:t>
                      </a:r>
                    </a:p>
                  </a:txBody>
                  <a:tcPr/>
                </a:tc>
                <a:tc>
                  <a:txBody>
                    <a:bodyPr/>
                    <a:lstStyle/>
                    <a:p>
                      <a:pPr>
                        <a:defRPr sz="1100" b="0"/>
                      </a:pPr>
                      <a:r>
                        <a:t>partition first; complete cases ranked</a:t>
                      </a:r>
                    </a:p>
                  </a:txBody>
                  <a:tcPr/>
                </a:tc>
              </a:tr>
              <a:tr h="274320">
                <a:tc>
                  <a:txBody>
                    <a:bodyPr/>
                    <a:lstStyle/>
                    <a:p>
                      <a:pPr>
                        <a:defRPr sz="1100" b="0"/>
                      </a:pPr>
                      <a:r>
                        <a:t>Small early universe (DATA-001)</a:t>
                      </a:r>
                    </a:p>
                  </a:txBody>
                  <a:tcPr/>
                </a:tc>
                <a:tc>
                  <a:txBody>
                    <a:bodyPr/>
                    <a:lstStyle/>
                    <a:p>
                      <a:pPr>
                        <a:defRPr sz="1100" b="0"/>
                      </a:pPr>
                      <a:r>
                        <a:t>all history-eligible names when &lt; 1,000 (393 at 1928-12; 500-name pool from 1964-06)</a:t>
                      </a:r>
                    </a:p>
                  </a:txBody>
                  <a:tcPr/>
                </a:tc>
              </a:tr>
              <a:tr h="274320">
                <a:tc>
                  <a:txBody>
                    <a:bodyPr/>
                    <a:lstStyle/>
                    <a:p>
                      <a:pPr>
                        <a:defRPr sz="1100" b="0"/>
                      </a:pPr>
                      <a:r>
                        <a:t>Missing monthly returns (DATA-002/010)</a:t>
                      </a:r>
                    </a:p>
                  </a:txBody>
                  <a:tcPr/>
                </a:tc>
                <a:tc>
                  <a:txBody>
                    <a:bodyPr/>
                    <a:lstStyle/>
                    <a:p>
                      <a:pPr>
                        <a:defRPr sz="1100" b="0"/>
                      </a:pPr>
                      <a:r>
                        <a:t>stale carry (0) or in-gap price ratio</a:t>
                      </a:r>
                    </a:p>
                  </a:txBody>
                  <a:tcPr/>
                </a:tc>
              </a:tr>
            </a:tbl>
          </a:graphicData>
        </a:graphic>
      </p:graphicFrame>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Building the signals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Volatility: annualized standard deviation of 36 consecutive monthly total returns</a:t>
            </a:r>
          </a:p>
          <a:p>
            <a:pPr>
              <a:spcAft>
                <a:spcPts val="600"/>
              </a:spcAft>
              <a:defRPr sz="1500">
                <a:solidFill>
                  <a:srgbClr val="1F2A33"/>
                </a:solidFill>
              </a:defRPr>
            </a:pPr>
            <a:r>
              <a:t>Momentum: compound 11 monthly price returns, excluding the most recent month</a:t>
            </a:r>
          </a:p>
          <a:p>
            <a:pPr>
              <a:spcAft>
                <a:spcPts val="600"/>
              </a:spcAft>
              <a:defRPr sz="1500">
                <a:solidFill>
                  <a:srgbClr val="1F2A33"/>
                </a:solidFill>
              </a:defRPr>
            </a:pPr>
            <a:r>
              <a:t>Dividend yield: trailing 12 months of split-adjusted dividends divided by the current adjusted price</a:t>
            </a:r>
          </a:p>
          <a:p>
            <a:pPr>
              <a:spcAft>
                <a:spcPts val="600"/>
              </a:spcAft>
              <a:defRPr sz="1500">
                <a:solidFill>
                  <a:srgbClr val="1F2A33"/>
                </a:solidFill>
              </a:defRPr>
            </a:pPr>
            <a:r>
              <a:t>Net payout yield: dividend yield + 1 − latest adjusted shares / average adjusted shares over 24 months</a:t>
            </a:r>
          </a:p>
          <a:p>
            <a:pPr>
              <a:spcAft>
                <a:spcPts val="600"/>
              </a:spcAft>
              <a:defRPr sz="1500">
                <a:solidFill>
                  <a:srgbClr val="1F2A33"/>
                </a:solidFill>
              </a:defRPr>
            </a:pPr>
            <a:r>
              <a:t>A falling share count raises payout yield; new share issuance lowers it</a:t>
            </a:r>
          </a:p>
          <a:p>
            <a:pPr>
              <a:spcAft>
                <a:spcPts val="600"/>
              </a:spcAft>
              <a:defRPr sz="1500">
                <a:solidFill>
                  <a:srgbClr val="1F2A33"/>
                </a:solidFill>
              </a:defRPr>
            </a:pPr>
            <a:r>
              <a:t>Quarter-end information determines next month's holdings. No forward return enters selection.</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Our results versus the paper</a:t>
            </a:r>
          </a:p>
        </p:txBody>
      </p:sp>
      <p:sp>
        <p:nvSpPr>
          <p:cNvPr id="3" name="TextBox 2"/>
          <p:cNvSpPr txBox="1"/>
          <p:nvPr/>
        </p:nvSpPr>
        <p:spPr>
          <a:xfrm>
            <a:off x="457200" y="1280160"/>
            <a:ext cx="4572000" cy="5212080"/>
          </a:xfrm>
          <a:prstGeom prst="rect">
            <a:avLst/>
          </a:prstGeom>
          <a:noFill/>
        </p:spPr>
        <p:txBody>
          <a:bodyPr wrap="square">
            <a:spAutoFit/>
          </a:bodyPr>
          <a:lstStyle/>
          <a:p>
            <a:pPr>
              <a:spcAft>
                <a:spcPts val="600"/>
              </a:spcAft>
              <a:defRPr sz="1500">
                <a:solidFill>
                  <a:srgbClr val="1F2A33"/>
                </a:solidFill>
              </a:defRPr>
            </a:pPr>
            <a:r>
              <a:t>Conservative 14.80% compounded, 17.06% volatility (paper 15.1%, 16.5%)</a:t>
            </a:r>
          </a:p>
          <a:p>
            <a:pPr>
              <a:spcAft>
                <a:spcPts val="600"/>
              </a:spcAft>
              <a:defRPr sz="1500">
                <a:solidFill>
                  <a:srgbClr val="1F2A33"/>
                </a:solidFill>
              </a:defRPr>
            </a:pPr>
            <a:r>
              <a:t>Market 9.15% (paper 9.3%)</a:t>
            </a:r>
          </a:p>
          <a:p>
            <a:pPr>
              <a:spcAft>
                <a:spcPts val="600"/>
              </a:spcAft>
              <a:defRPr sz="1500">
                <a:solidFill>
                  <a:srgbClr val="1F2A33"/>
                </a:solidFill>
              </a:defRPr>
            </a:pPr>
            <a:r>
              <a:t>Speculative 3.24% with 35.9% volatility</a:t>
            </a:r>
          </a:p>
          <a:p>
            <a:pPr>
              <a:spcAft>
                <a:spcPts val="600"/>
              </a:spcAft>
              <a:defRPr sz="1500">
                <a:solidFill>
                  <a:srgbClr val="1F2A33"/>
                </a:solidFill>
              </a:defRPr>
            </a:pPr>
            <a:r>
              <a:t>Conservative beats the market in 9 of 10 decades</a:t>
            </a:r>
          </a:p>
          <a:p>
            <a:pPr>
              <a:spcAft>
                <a:spcPts val="600"/>
              </a:spcAft>
              <a:defRPr sz="1500">
                <a:solidFill>
                  <a:srgbClr val="1F2A33"/>
                </a:solidFill>
              </a:defRPr>
            </a:pPr>
            <a:r>
              <a:t>Turnover 38.9% a quarter vs the paper's 32% (unexplained; measure not stated)</a:t>
            </a:r>
          </a:p>
        </p:txBody>
      </p:sp>
      <p:pic>
        <p:nvPicPr>
          <p:cNvPr id="4" name="Picture 3" descr="fig3.png"/>
          <p:cNvPicPr>
            <a:picLocks noChangeAspect="1"/>
          </p:cNvPicPr>
          <p:nvPr/>
        </p:nvPicPr>
        <p:blipFill>
          <a:blip r:embed="rId2"/>
          <a:stretch>
            <a:fillRect/>
          </a:stretch>
        </p:blipFill>
        <p:spPr>
          <a:xfrm>
            <a:off x="5212080" y="1280160"/>
            <a:ext cx="5943600" cy="3268980"/>
          </a:xfrm>
          <a:prstGeom prst="rect">
            <a:avLst/>
          </a:prstGeom>
        </p:spPr>
      </p:pic>
      <p:graphicFrame>
        <p:nvGraphicFramePr>
          <p:cNvPr id="5" name="Table 4"/>
          <p:cNvGraphicFramePr>
            <a:graphicFrameLocks noGrp="1"/>
          </p:cNvGraphicFramePr>
          <p:nvPr/>
        </p:nvGraphicFramePr>
        <p:xfrm>
          <a:off x="457200" y="4686300"/>
          <a:ext cx="11247120" cy="822959"/>
        </p:xfrm>
        <a:graphic>
          <a:graphicData uri="http://schemas.openxmlformats.org/drawingml/2006/table">
            <a:tbl>
              <a:tblPr firstRow="1" bandRow="1">
                <a:tableStyleId>{5C22544A-7EE6-4342-B048-85BDC9FD1C3A}</a:tableStyleId>
              </a:tblPr>
              <a:tblGrid>
                <a:gridCol w="1606731"/>
                <a:gridCol w="1606731"/>
                <a:gridCol w="1606731"/>
                <a:gridCol w="1606731"/>
                <a:gridCol w="1606731"/>
                <a:gridCol w="1606731"/>
                <a:gridCol w="1606734"/>
              </a:tblGrid>
              <a:tr h="274319">
                <a:tc>
                  <a:txBody>
                    <a:bodyPr/>
                    <a:lstStyle/>
                    <a:p>
                      <a:pPr>
                        <a:defRPr sz="1100" b="1"/>
                      </a:pPr>
                      <a:r>
                        <a:t>paper / ours</a:t>
                      </a:r>
                    </a:p>
                  </a:txBody>
                  <a:tcPr/>
                </a:tc>
                <a:tc>
                  <a:txBody>
                    <a:bodyPr/>
                    <a:lstStyle/>
                    <a:p>
                      <a:pPr>
                        <a:defRPr sz="1100" b="1"/>
                      </a:pPr>
                      <a:r>
                        <a:t>Formula</a:t>
                      </a:r>
                    </a:p>
                  </a:txBody>
                  <a:tcPr/>
                </a:tc>
                <a:tc>
                  <a:txBody>
                    <a:bodyPr/>
                    <a:lstStyle/>
                    <a:p>
                      <a:pPr>
                        <a:defRPr sz="1100" b="1"/>
                      </a:pPr>
                      <a:r>
                        <a:t>Market</a:t>
                      </a:r>
                    </a:p>
                  </a:txBody>
                  <a:tcPr/>
                </a:tc>
                <a:tc>
                  <a:txBody>
                    <a:bodyPr/>
                    <a:lstStyle/>
                    <a:p>
                      <a:pPr>
                        <a:defRPr sz="1100" b="1"/>
                      </a:pPr>
                      <a:r>
                        <a:t>Small</a:t>
                      </a:r>
                    </a:p>
                  </a:txBody>
                  <a:tcPr/>
                </a:tc>
                <a:tc>
                  <a:txBody>
                    <a:bodyPr/>
                    <a:lstStyle/>
                    <a:p>
                      <a:pPr>
                        <a:defRPr sz="1100" b="1"/>
                      </a:pPr>
                      <a:r>
                        <a:t>Momentum</a:t>
                      </a:r>
                    </a:p>
                  </a:txBody>
                  <a:tcPr/>
                </a:tc>
                <a:tc>
                  <a:txBody>
                    <a:bodyPr/>
                    <a:lstStyle/>
                    <a:p>
                      <a:pPr>
                        <a:defRPr sz="1100" b="1"/>
                      </a:pPr>
                      <a:r>
                        <a:t>Lowvol</a:t>
                      </a:r>
                    </a:p>
                  </a:txBody>
                  <a:tcPr/>
                </a:tc>
                <a:tc>
                  <a:txBody>
                    <a:bodyPr/>
                    <a:lstStyle/>
                    <a:p>
                      <a:pPr>
                        <a:defRPr sz="1100" b="1"/>
                      </a:pPr>
                      <a:r>
                        <a:t>NPY</a:t>
                      </a:r>
                    </a:p>
                  </a:txBody>
                  <a:tcPr/>
                </a:tc>
              </a:tr>
              <a:tr h="274319">
                <a:tc>
                  <a:txBody>
                    <a:bodyPr/>
                    <a:lstStyle/>
                    <a:p>
                      <a:pPr>
                        <a:defRPr sz="1100" b="0"/>
                      </a:pPr>
                      <a:r>
                        <a:t>Return (compounded)</a:t>
                      </a:r>
                    </a:p>
                  </a:txBody>
                  <a:tcPr/>
                </a:tc>
                <a:tc>
                  <a:txBody>
                    <a:bodyPr/>
                    <a:lstStyle/>
                    <a:p>
                      <a:pPr>
                        <a:defRPr sz="1100" b="0"/>
                      </a:pPr>
                      <a:r>
                        <a:t>15.1% / 14.8%</a:t>
                      </a:r>
                    </a:p>
                  </a:txBody>
                  <a:tcPr/>
                </a:tc>
                <a:tc>
                  <a:txBody>
                    <a:bodyPr/>
                    <a:lstStyle/>
                    <a:p>
                      <a:pPr>
                        <a:defRPr sz="1100" b="0"/>
                      </a:pPr>
                      <a:r>
                        <a:t>9.3% / 9.1%</a:t>
                      </a:r>
                    </a:p>
                  </a:txBody>
                  <a:tcPr/>
                </a:tc>
                <a:tc>
                  <a:txBody>
                    <a:bodyPr/>
                    <a:lstStyle/>
                    <a:p>
                      <a:pPr>
                        <a:defRPr sz="1100" b="0"/>
                      </a:pPr>
                      <a:r>
                        <a:t>12.0% / 13.0%</a:t>
                      </a:r>
                    </a:p>
                  </a:txBody>
                  <a:tcPr/>
                </a:tc>
                <a:tc>
                  <a:txBody>
                    <a:bodyPr/>
                    <a:lstStyle/>
                    <a:p>
                      <a:pPr>
                        <a:defRPr sz="1100" b="0"/>
                      </a:pPr>
                      <a:r>
                        <a:t>15.9% / 15.5%</a:t>
                      </a:r>
                    </a:p>
                  </a:txBody>
                  <a:tcPr/>
                </a:tc>
                <a:tc>
                  <a:txBody>
                    <a:bodyPr/>
                    <a:lstStyle/>
                    <a:p>
                      <a:pPr>
                        <a:defRPr sz="1100" b="0"/>
                      </a:pPr>
                      <a:r>
                        <a:t>10.2% / 10.4%</a:t>
                      </a:r>
                    </a:p>
                  </a:txBody>
                  <a:tcPr/>
                </a:tc>
                <a:tc>
                  <a:txBody>
                    <a:bodyPr/>
                    <a:lstStyle/>
                    <a:p>
                      <a:pPr>
                        <a:defRPr sz="1100" b="0"/>
                      </a:pPr>
                      <a:r>
                        <a:t>14.5% / 14.2%</a:t>
                      </a:r>
                    </a:p>
                  </a:txBody>
                  <a:tcPr/>
                </a:tc>
              </a:tr>
              <a:tr h="274321">
                <a:tc>
                  <a:txBody>
                    <a:bodyPr/>
                    <a:lstStyle/>
                    <a:p>
                      <a:pPr>
                        <a:defRPr sz="1100" b="0"/>
                      </a:pPr>
                      <a:r>
                        <a:t>Volatility</a:t>
                      </a:r>
                    </a:p>
                  </a:txBody>
                  <a:tcPr/>
                </a:tc>
                <a:tc>
                  <a:txBody>
                    <a:bodyPr/>
                    <a:lstStyle/>
                    <a:p>
                      <a:pPr>
                        <a:defRPr sz="1100" b="0"/>
                      </a:pPr>
                      <a:r>
                        <a:t>16.5% / 17.1%</a:t>
                      </a:r>
                    </a:p>
                  </a:txBody>
                  <a:tcPr/>
                </a:tc>
                <a:tc>
                  <a:txBody>
                    <a:bodyPr/>
                    <a:lstStyle/>
                    <a:p>
                      <a:pPr>
                        <a:defRPr sz="1100" b="0"/>
                      </a:pPr>
                      <a:r>
                        <a:t>18.7% / 18.7%</a:t>
                      </a:r>
                    </a:p>
                  </a:txBody>
                  <a:tcPr/>
                </a:tc>
                <a:tc>
                  <a:txBody>
                    <a:bodyPr/>
                    <a:lstStyle/>
                    <a:p>
                      <a:pPr>
                        <a:defRPr sz="1100" b="0"/>
                      </a:pPr>
                      <a:r>
                        <a:t>31.4% / 33.5%</a:t>
                      </a:r>
                    </a:p>
                  </a:txBody>
                  <a:tcPr/>
                </a:tc>
                <a:tc>
                  <a:txBody>
                    <a:bodyPr/>
                    <a:lstStyle/>
                    <a:p>
                      <a:pPr>
                        <a:defRPr sz="1100" b="0"/>
                      </a:pPr>
                      <a:r>
                        <a:t>25.7% / 26.1%</a:t>
                      </a:r>
                    </a:p>
                  </a:txBody>
                  <a:tcPr/>
                </a:tc>
                <a:tc>
                  <a:txBody>
                    <a:bodyPr/>
                    <a:lstStyle/>
                    <a:p>
                      <a:pPr>
                        <a:defRPr sz="1100" b="0"/>
                      </a:pPr>
                      <a:r>
                        <a:t>13.3% / 14.4%</a:t>
                      </a:r>
                    </a:p>
                  </a:txBody>
                  <a:tcPr/>
                </a:tc>
                <a:tc>
                  <a:txBody>
                    <a:bodyPr/>
                    <a:lstStyle/>
                    <a:p>
                      <a:pPr>
                        <a:defRPr sz="1100" b="0"/>
                      </a:pPr>
                      <a:r>
                        <a:t>20.1% / 21.1%</a:t>
                      </a:r>
                    </a:p>
                  </a:txBody>
                  <a:tcPr/>
                </a:tc>
              </a:tr>
            </a:tbl>
          </a:graphicData>
        </a:graphic>
      </p:graphicFrame>
      <p:sp>
        <p:nvSpPr>
          <p:cNvPr id="6" name="TextBox 5"/>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Factor-adjusted returns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CMS (Conservative − Speculative), 1963–2016: CAPM 14.20% vs 14.0%; FF5 8.69% vs 8.8%; FF5 + MOM 3.12% vs 3.3%</a:t>
            </a:r>
          </a:p>
          <a:p>
            <a:pPr>
              <a:spcAft>
                <a:spcPts val="600"/>
              </a:spcAft>
              <a:defRPr sz="1500">
                <a:solidFill>
                  <a:srgbClr val="1F2A33"/>
                </a:solidFill>
              </a:defRPr>
            </a:pPr>
            <a:r>
              <a:t>1929–2016: CAPM 12.33% vs 13.9%; Carhart 7.74% vs 8.8% (full-sample gap remains)</a:t>
            </a:r>
          </a:p>
          <a:p>
            <a:pPr>
              <a:spcAft>
                <a:spcPts val="600"/>
              </a:spcAft>
              <a:defRPr sz="1500">
                <a:solidFill>
                  <a:srgbClr val="1F2A33"/>
                </a:solidFill>
              </a:defRPr>
            </a:pPr>
            <a:r>
              <a:t>Conservative long-only: Carhart alpha 3.23% (t 4.63)</a:t>
            </a:r>
          </a:p>
          <a:p>
            <a:pPr lvl="1">
              <a:spcAft>
                <a:spcPts val="600"/>
              </a:spcAft>
              <a:defRPr sz="1300">
                <a:solidFill>
                  <a:srgbClr val="6B757D"/>
                </a:solidFill>
              </a:defRPr>
            </a:pPr>
            <a:r>
              <a:t>FF5 + momentum, 1963–2016: −0.11% (t −0.14) — adding profitability and investment reduces alpha</a:t>
            </a:r>
          </a:p>
          <a:p>
            <a:pPr>
              <a:spcAft>
                <a:spcPts val="600"/>
              </a:spcAft>
              <a:defRPr sz="1500">
                <a:solidFill>
                  <a:srgbClr val="1F2A33"/>
                </a:solidFill>
              </a:defRPr>
            </a:pPr>
            <a:r>
              <a:t>CMS net of 30 bps, both legs paying: Carhart 5.78% (t 3.99)</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How costs change the result</a:t>
            </a:r>
          </a:p>
        </p:txBody>
      </p:sp>
      <p:sp>
        <p:nvSpPr>
          <p:cNvPr id="3" name="TextBox 2"/>
          <p:cNvSpPr txBox="1"/>
          <p:nvPr/>
        </p:nvSpPr>
        <p:spPr>
          <a:xfrm>
            <a:off x="457200" y="1280160"/>
            <a:ext cx="6035040" cy="5212080"/>
          </a:xfrm>
          <a:prstGeom prst="rect">
            <a:avLst/>
          </a:prstGeom>
          <a:noFill/>
        </p:spPr>
        <p:txBody>
          <a:bodyPr wrap="square">
            <a:spAutoFit/>
          </a:bodyPr>
          <a:lstStyle/>
          <a:p>
            <a:pPr>
              <a:spcAft>
                <a:spcPts val="600"/>
              </a:spcAft>
              <a:defRPr sz="1500">
                <a:solidFill>
                  <a:srgbClr val="1F2A33"/>
                </a:solidFill>
              </a:defRPr>
            </a:pPr>
            <a:r>
              <a:t>Annual cost estimate: turnover × 8 × cost; quarterly turnover 38.9% vs 32%</a:t>
            </a:r>
          </a:p>
          <a:p>
            <a:pPr>
              <a:spcAft>
                <a:spcPts val="600"/>
              </a:spcAft>
              <a:defRPr sz="1500">
                <a:solidFill>
                  <a:srgbClr val="1F2A33"/>
                </a:solidFill>
              </a:defRPr>
            </a:pPr>
            <a:r>
              <a:t>Net of 30 bps, 1929–2016: 13.73% compounded</a:t>
            </a:r>
          </a:p>
          <a:p>
            <a:pPr>
              <a:spcAft>
                <a:spcPts val="600"/>
              </a:spcAft>
              <a:defRPr sz="1500">
                <a:solidFill>
                  <a:srgbClr val="1F2A33"/>
                </a:solidFill>
              </a:defRPr>
            </a:pPr>
            <a:r>
              <a:t>1990–2024 break-even: 52 bps (excess return), 36 bps (alpha)</a:t>
            </a:r>
          </a:p>
          <a:p>
            <a:pPr>
              <a:spcAft>
                <a:spcPts val="600"/>
              </a:spcAft>
              <a:defRPr sz="1500">
                <a:solidFill>
                  <a:srgbClr val="1F2A33"/>
                </a:solidFill>
              </a:defRPr>
            </a:pPr>
            <a:r>
              <a:t>2017–2024: gross excess return and alpha already ≤ 0, so no break-even</a:t>
            </a:r>
          </a:p>
          <a:p>
            <a:pPr>
              <a:spcAft>
                <a:spcPts val="600"/>
              </a:spcAft>
              <a:defRPr sz="1500">
                <a:solidFill>
                  <a:srgbClr val="1F2A33"/>
                </a:solidFill>
              </a:defRPr>
            </a:pPr>
            <a:r>
              <a:t>Early-period break-evens are high, but so were real trading costs then</a:t>
            </a:r>
          </a:p>
        </p:txBody>
      </p:sp>
      <p:graphicFrame>
        <p:nvGraphicFramePr>
          <p:cNvPr id="4" name="Table 3"/>
          <p:cNvGraphicFramePr>
            <a:graphicFrameLocks noGrp="1"/>
          </p:cNvGraphicFramePr>
          <p:nvPr/>
        </p:nvGraphicFramePr>
        <p:xfrm>
          <a:off x="6675120" y="1280160"/>
          <a:ext cx="5029200" cy="1645919"/>
        </p:xfrm>
        <a:graphic>
          <a:graphicData uri="http://schemas.openxmlformats.org/drawingml/2006/table">
            <a:tbl>
              <a:tblPr firstRow="1" bandRow="1">
                <a:tableStyleId>{5C22544A-7EE6-4342-B048-85BDC9FD1C3A}</a:tableStyleId>
              </a:tblPr>
              <a:tblGrid>
                <a:gridCol w="1676400"/>
                <a:gridCol w="1676400"/>
                <a:gridCol w="1676400"/>
              </a:tblGrid>
              <a:tr h="274319">
                <a:tc>
                  <a:txBody>
                    <a:bodyPr/>
                    <a:lstStyle/>
                    <a:p>
                      <a:pPr>
                        <a:defRPr sz="1100" b="1"/>
                      </a:pPr>
                      <a:r>
                        <a:t>break-even, bps</a:t>
                      </a:r>
                    </a:p>
                  </a:txBody>
                  <a:tcPr/>
                </a:tc>
                <a:tc>
                  <a:txBody>
                    <a:bodyPr/>
                    <a:lstStyle/>
                    <a:p>
                      <a:pPr>
                        <a:defRPr sz="1100" b="1"/>
                      </a:pPr>
                      <a:r>
                        <a:t>alpha</a:t>
                      </a:r>
                    </a:p>
                  </a:txBody>
                  <a:tcPr/>
                </a:tc>
                <a:tc>
                  <a:txBody>
                    <a:bodyPr/>
                    <a:lstStyle/>
                    <a:p>
                      <a:pPr>
                        <a:defRPr sz="1100" b="1"/>
                      </a:pPr>
                      <a:r>
                        <a:t>excess return</a:t>
                      </a:r>
                    </a:p>
                  </a:txBody>
                  <a:tcPr/>
                </a:tc>
              </a:tr>
              <a:tr h="274319">
                <a:tc>
                  <a:txBody>
                    <a:bodyPr/>
                    <a:lstStyle/>
                    <a:p>
                      <a:pPr>
                        <a:defRPr sz="1100" b="0"/>
                      </a:pPr>
                      <a:r>
                        <a:t>1929–1962</a:t>
                      </a:r>
                    </a:p>
                  </a:txBody>
                  <a:tcPr/>
                </a:tc>
                <a:tc>
                  <a:txBody>
                    <a:bodyPr/>
                    <a:lstStyle/>
                    <a:p>
                      <a:pPr>
                        <a:defRPr sz="1100" b="0"/>
                      </a:pPr>
                      <a:r>
                        <a:t>162</a:t>
                      </a:r>
                    </a:p>
                  </a:txBody>
                  <a:tcPr/>
                </a:tc>
                <a:tc>
                  <a:txBody>
                    <a:bodyPr/>
                    <a:lstStyle/>
                    <a:p>
                      <a:pPr>
                        <a:defRPr sz="1100" b="0"/>
                      </a:pPr>
                      <a:r>
                        <a:t>178</a:t>
                      </a:r>
                    </a:p>
                  </a:txBody>
                  <a:tcPr/>
                </a:tc>
              </a:tr>
              <a:tr h="274319">
                <a:tc>
                  <a:txBody>
                    <a:bodyPr/>
                    <a:lstStyle/>
                    <a:p>
                      <a:pPr>
                        <a:defRPr sz="1100" b="0"/>
                      </a:pPr>
                      <a:r>
                        <a:t>1963–1989</a:t>
                      </a:r>
                    </a:p>
                  </a:txBody>
                  <a:tcPr/>
                </a:tc>
                <a:tc>
                  <a:txBody>
                    <a:bodyPr/>
                    <a:lstStyle/>
                    <a:p>
                      <a:pPr>
                        <a:defRPr sz="1100" b="0"/>
                      </a:pPr>
                      <a:r>
                        <a:t>66</a:t>
                      </a:r>
                    </a:p>
                  </a:txBody>
                  <a:tcPr/>
                </a:tc>
                <a:tc>
                  <a:txBody>
                    <a:bodyPr/>
                    <a:lstStyle/>
                    <a:p>
                      <a:pPr>
                        <a:defRPr sz="1100" b="0"/>
                      </a:pPr>
                      <a:r>
                        <a:t>187</a:t>
                      </a:r>
                    </a:p>
                  </a:txBody>
                  <a:tcPr/>
                </a:tc>
              </a:tr>
              <a:tr h="274319">
                <a:tc>
                  <a:txBody>
                    <a:bodyPr/>
                    <a:lstStyle/>
                    <a:p>
                      <a:pPr>
                        <a:defRPr sz="1100" b="0"/>
                      </a:pPr>
                      <a:r>
                        <a:t>1990–2016</a:t>
                      </a:r>
                    </a:p>
                  </a:txBody>
                  <a:tcPr/>
                </a:tc>
                <a:tc>
                  <a:txBody>
                    <a:bodyPr/>
                    <a:lstStyle/>
                    <a:p>
                      <a:pPr>
                        <a:defRPr sz="1100" b="0"/>
                      </a:pPr>
                      <a:r>
                        <a:t>52</a:t>
                      </a:r>
                    </a:p>
                  </a:txBody>
                  <a:tcPr/>
                </a:tc>
                <a:tc>
                  <a:txBody>
                    <a:bodyPr/>
                    <a:lstStyle/>
                    <a:p>
                      <a:pPr>
                        <a:defRPr sz="1100" b="0"/>
                      </a:pPr>
                      <a:r>
                        <a:t>84</a:t>
                      </a:r>
                    </a:p>
                  </a:txBody>
                  <a:tcPr/>
                </a:tc>
              </a:tr>
              <a:tr h="274319">
                <a:tc>
                  <a:txBody>
                    <a:bodyPr/>
                    <a:lstStyle/>
                    <a:p>
                      <a:pPr>
                        <a:defRPr sz="1100" b="0"/>
                      </a:pPr>
                      <a:r>
                        <a:t>1990–2024</a:t>
                      </a:r>
                    </a:p>
                  </a:txBody>
                  <a:tcPr/>
                </a:tc>
                <a:tc>
                  <a:txBody>
                    <a:bodyPr/>
                    <a:lstStyle/>
                    <a:p>
                      <a:pPr>
                        <a:defRPr sz="1100" b="0"/>
                      </a:pPr>
                      <a:r>
                        <a:t>36</a:t>
                      </a:r>
                    </a:p>
                  </a:txBody>
                  <a:tcPr/>
                </a:tc>
                <a:tc>
                  <a:txBody>
                    <a:bodyPr/>
                    <a:lstStyle/>
                    <a:p>
                      <a:pPr>
                        <a:defRPr sz="1100" b="0"/>
                      </a:pPr>
                      <a:r>
                        <a:t>52</a:t>
                      </a:r>
                    </a:p>
                  </a:txBody>
                  <a:tcPr/>
                </a:tc>
              </a:tr>
              <a:tr h="274324">
                <a:tc>
                  <a:txBody>
                    <a:bodyPr/>
                    <a:lstStyle/>
                    <a:p>
                      <a:pPr>
                        <a:defRPr sz="1100" b="0"/>
                      </a:pPr>
                      <a:r>
                        <a:t>2017–2024</a:t>
                      </a:r>
                    </a:p>
                  </a:txBody>
                  <a:tcPr/>
                </a:tc>
                <a:tc>
                  <a:txBody>
                    <a:bodyPr/>
                    <a:lstStyle/>
                    <a:p>
                      <a:pPr>
                        <a:defRPr sz="1100" b="0"/>
                      </a:pPr>
                      <a:r>
                        <a:t>none</a:t>
                      </a:r>
                    </a:p>
                  </a:txBody>
                  <a:tcPr/>
                </a:tc>
                <a:tc>
                  <a:txBody>
                    <a:bodyPr/>
                    <a:lstStyle/>
                    <a:p>
                      <a:pPr>
                        <a:defRPr sz="1100" b="0"/>
                      </a:pPr>
                      <a:r>
                        <a:t>none</a:t>
                      </a:r>
                    </a:p>
                  </a:txBody>
                  <a:tcPr/>
                </a:tc>
              </a:tr>
            </a:tbl>
          </a:graphicData>
        </a:graphic>
      </p:graphicFrame>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Results by period</a:t>
            </a:r>
          </a:p>
        </p:txBody>
      </p:sp>
      <p:sp>
        <p:nvSpPr>
          <p:cNvPr id="3" name="TextBox 2"/>
          <p:cNvSpPr txBox="1"/>
          <p:nvPr/>
        </p:nvSpPr>
        <p:spPr>
          <a:xfrm>
            <a:off x="457200" y="1280160"/>
            <a:ext cx="6400800" cy="5212080"/>
          </a:xfrm>
          <a:prstGeom prst="rect">
            <a:avLst/>
          </a:prstGeom>
          <a:noFill/>
        </p:spPr>
        <p:txBody>
          <a:bodyPr wrap="square">
            <a:spAutoFit/>
          </a:bodyPr>
          <a:lstStyle/>
          <a:p>
            <a:pPr>
              <a:spcAft>
                <a:spcPts val="600"/>
              </a:spcAft>
              <a:defRPr sz="1500">
                <a:solidFill>
                  <a:srgbClr val="1F2A33"/>
                </a:solidFill>
              </a:defRPr>
            </a:pPr>
            <a:r>
              <a:t>Carhart alpha (gross): 4.7% → 2.1% → 1.7% → −1.2%</a:t>
            </a:r>
          </a:p>
          <a:p>
            <a:pPr>
              <a:spcAft>
                <a:spcPts val="600"/>
              </a:spcAft>
              <a:defRPr sz="1500">
                <a:solidFill>
                  <a:srgbClr val="1F2A33"/>
                </a:solidFill>
              </a:defRPr>
            </a:pPr>
            <a:r>
              <a:t>Carhart alpha is statistically significant in the two earlier periods</a:t>
            </a:r>
          </a:p>
          <a:p>
            <a:pPr>
              <a:spcAft>
                <a:spcPts val="600"/>
              </a:spcAft>
              <a:defRPr sz="1500">
                <a:solidFill>
                  <a:srgbClr val="1F2A33"/>
                </a:solidFill>
              </a:defRPr>
            </a:pPr>
            <a:r>
              <a:t>2017–2024 is only 96 months: interval [−5.1%, 2.7%]</a:t>
            </a:r>
          </a:p>
        </p:txBody>
      </p:sp>
      <p:pic>
        <p:nvPicPr>
          <p:cNvPr id="4" name="Picture 3" descr="fig_rolling.png"/>
          <p:cNvPicPr>
            <a:picLocks noChangeAspect="1"/>
          </p:cNvPicPr>
          <p:nvPr/>
        </p:nvPicPr>
        <p:blipFill>
          <a:blip r:embed="rId2"/>
          <a:stretch>
            <a:fillRect/>
          </a:stretch>
        </p:blipFill>
        <p:spPr>
          <a:xfrm>
            <a:off x="7040880" y="1280160"/>
            <a:ext cx="4572000" cy="2909455"/>
          </a:xfrm>
          <a:prstGeom prst="rect">
            <a:avLst/>
          </a:prstGeom>
        </p:spPr>
      </p:pic>
      <p:graphicFrame>
        <p:nvGraphicFramePr>
          <p:cNvPr id="5" name="Table 4"/>
          <p:cNvGraphicFramePr>
            <a:graphicFrameLocks noGrp="1"/>
          </p:cNvGraphicFramePr>
          <p:nvPr/>
        </p:nvGraphicFramePr>
        <p:xfrm>
          <a:off x="457200" y="4326775"/>
          <a:ext cx="11247120" cy="1645919"/>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274319">
                <a:tc>
                  <a:txBody>
                    <a:bodyPr/>
                    <a:lstStyle/>
                    <a:p>
                      <a:pPr>
                        <a:defRPr sz="1100" b="1"/>
                      </a:pPr>
                      <a:r>
                        <a:t>period</a:t>
                      </a:r>
                    </a:p>
                  </a:txBody>
                  <a:tcPr/>
                </a:tc>
                <a:tc>
                  <a:txBody>
                    <a:bodyPr/>
                    <a:lstStyle/>
                    <a:p>
                      <a:pPr>
                        <a:defRPr sz="1100" b="1"/>
                      </a:pPr>
                      <a:r>
                        <a:t>months</a:t>
                      </a:r>
                    </a:p>
                  </a:txBody>
                  <a:tcPr/>
                </a:tc>
                <a:tc>
                  <a:txBody>
                    <a:bodyPr/>
                    <a:lstStyle/>
                    <a:p>
                      <a:pPr>
                        <a:defRPr sz="1100" b="1"/>
                      </a:pPr>
                      <a:r>
                        <a:t>excess, gross</a:t>
                      </a:r>
                    </a:p>
                  </a:txBody>
                  <a:tcPr/>
                </a:tc>
                <a:tc>
                  <a:txBody>
                    <a:bodyPr/>
                    <a:lstStyle/>
                    <a:p>
                      <a:pPr>
                        <a:defRPr sz="1100" b="1"/>
                      </a:pPr>
                      <a:r>
                        <a:t>Carhart α gross (t)</a:t>
                      </a:r>
                    </a:p>
                  </a:txBody>
                  <a:tcPr/>
                </a:tc>
                <a:tc>
                  <a:txBody>
                    <a:bodyPr/>
                    <a:lstStyle/>
                    <a:p>
                      <a:pPr>
                        <a:defRPr sz="1100" b="1"/>
                      </a:pPr>
                      <a:r>
                        <a:t>Carhart α net 30 (t)</a:t>
                      </a:r>
                    </a:p>
                  </a:txBody>
                  <a:tcPr/>
                </a:tc>
              </a:tr>
              <a:tr h="274319">
                <a:tc>
                  <a:txBody>
                    <a:bodyPr/>
                    <a:lstStyle/>
                    <a:p>
                      <a:pPr>
                        <a:defRPr sz="1100" b="0"/>
                      </a:pPr>
                      <a:r>
                        <a:t>1929–1962</a:t>
                      </a:r>
                    </a:p>
                  </a:txBody>
                  <a:tcPr/>
                </a:tc>
                <a:tc>
                  <a:txBody>
                    <a:bodyPr/>
                    <a:lstStyle/>
                    <a:p>
                      <a:pPr>
                        <a:defRPr sz="1100" b="0"/>
                      </a:pPr>
                      <a:r>
                        <a:t>408</a:t>
                      </a:r>
                    </a:p>
                  </a:txBody>
                  <a:tcPr/>
                </a:tc>
                <a:tc>
                  <a:txBody>
                    <a:bodyPr/>
                    <a:lstStyle/>
                    <a:p>
                      <a:pPr>
                        <a:defRPr sz="1100" b="0"/>
                      </a:pPr>
                      <a:r>
                        <a:t>5.2%</a:t>
                      </a:r>
                    </a:p>
                  </a:txBody>
                  <a:tcPr/>
                </a:tc>
                <a:tc>
                  <a:txBody>
                    <a:bodyPr/>
                    <a:lstStyle/>
                    <a:p>
                      <a:pPr>
                        <a:defRPr sz="1100" b="0"/>
                      </a:pPr>
                      <a:r>
                        <a:t>4.7% (5.03)</a:t>
                      </a:r>
                    </a:p>
                  </a:txBody>
                  <a:tcPr/>
                </a:tc>
                <a:tc>
                  <a:txBody>
                    <a:bodyPr/>
                    <a:lstStyle/>
                    <a:p>
                      <a:pPr>
                        <a:defRPr sz="1100" b="0"/>
                      </a:pPr>
                      <a:r>
                        <a:t>3.8% (4.14)</a:t>
                      </a:r>
                    </a:p>
                  </a:txBody>
                  <a:tcPr/>
                </a:tc>
              </a:tr>
              <a:tr h="274319">
                <a:tc>
                  <a:txBody>
                    <a:bodyPr/>
                    <a:lstStyle/>
                    <a:p>
                      <a:pPr>
                        <a:defRPr sz="1100" b="0"/>
                      </a:pPr>
                      <a:r>
                        <a:t>1963–1989</a:t>
                      </a:r>
                    </a:p>
                  </a:txBody>
                  <a:tcPr/>
                </a:tc>
                <a:tc>
                  <a:txBody>
                    <a:bodyPr/>
                    <a:lstStyle/>
                    <a:p>
                      <a:pPr>
                        <a:defRPr sz="1100" b="0"/>
                      </a:pPr>
                      <a:r>
                        <a:t>324</a:t>
                      </a:r>
                    </a:p>
                  </a:txBody>
                  <a:tcPr/>
                </a:tc>
                <a:tc>
                  <a:txBody>
                    <a:bodyPr/>
                    <a:lstStyle/>
                    <a:p>
                      <a:pPr>
                        <a:defRPr sz="1100" b="0"/>
                      </a:pPr>
                      <a:r>
                        <a:t>6.4%</a:t>
                      </a:r>
                    </a:p>
                  </a:txBody>
                  <a:tcPr/>
                </a:tc>
                <a:tc>
                  <a:txBody>
                    <a:bodyPr/>
                    <a:lstStyle/>
                    <a:p>
                      <a:pPr>
                        <a:defRPr sz="1100" b="0"/>
                      </a:pPr>
                      <a:r>
                        <a:t>2.1% (2.90)</a:t>
                      </a:r>
                    </a:p>
                  </a:txBody>
                  <a:tcPr/>
                </a:tc>
                <a:tc>
                  <a:txBody>
                    <a:bodyPr/>
                    <a:lstStyle/>
                    <a:p>
                      <a:pPr>
                        <a:defRPr sz="1100" b="0"/>
                      </a:pPr>
                      <a:r>
                        <a:t>1.2% (1.56)</a:t>
                      </a:r>
                    </a:p>
                  </a:txBody>
                  <a:tcPr/>
                </a:tc>
              </a:tr>
              <a:tr h="274319">
                <a:tc>
                  <a:txBody>
                    <a:bodyPr/>
                    <a:lstStyle/>
                    <a:p>
                      <a:pPr>
                        <a:defRPr sz="1100" b="0"/>
                      </a:pPr>
                      <a:r>
                        <a:t>1990–2016</a:t>
                      </a:r>
                    </a:p>
                  </a:txBody>
                  <a:tcPr/>
                </a:tc>
                <a:tc>
                  <a:txBody>
                    <a:bodyPr/>
                    <a:lstStyle/>
                    <a:p>
                      <a:pPr>
                        <a:defRPr sz="1100" b="0"/>
                      </a:pPr>
                      <a:r>
                        <a:t>324</a:t>
                      </a:r>
                    </a:p>
                  </a:txBody>
                  <a:tcPr/>
                </a:tc>
                <a:tc>
                  <a:txBody>
                    <a:bodyPr/>
                    <a:lstStyle/>
                    <a:p>
                      <a:pPr>
                        <a:defRPr sz="1100" b="0"/>
                      </a:pPr>
                      <a:r>
                        <a:t>2.7%</a:t>
                      </a:r>
                    </a:p>
                  </a:txBody>
                  <a:tcPr/>
                </a:tc>
                <a:tc>
                  <a:txBody>
                    <a:bodyPr/>
                    <a:lstStyle/>
                    <a:p>
                      <a:pPr>
                        <a:defRPr sz="1100" b="0"/>
                      </a:pPr>
                      <a:r>
                        <a:t>1.7% (1.34)</a:t>
                      </a:r>
                    </a:p>
                  </a:txBody>
                  <a:tcPr/>
                </a:tc>
                <a:tc>
                  <a:txBody>
                    <a:bodyPr/>
                    <a:lstStyle/>
                    <a:p>
                      <a:pPr>
                        <a:defRPr sz="1100" b="0"/>
                      </a:pPr>
                      <a:r>
                        <a:t>0.7% (0.56)</a:t>
                      </a:r>
                    </a:p>
                  </a:txBody>
                  <a:tcPr/>
                </a:tc>
              </a:tr>
              <a:tr h="274319">
                <a:tc>
                  <a:txBody>
                    <a:bodyPr/>
                    <a:lstStyle/>
                    <a:p>
                      <a:pPr>
                        <a:defRPr sz="1100" b="0"/>
                      </a:pPr>
                      <a:r>
                        <a:t>2017–2024</a:t>
                      </a:r>
                    </a:p>
                  </a:txBody>
                  <a:tcPr/>
                </a:tc>
                <a:tc>
                  <a:txBody>
                    <a:bodyPr/>
                    <a:lstStyle/>
                    <a:p>
                      <a:pPr>
                        <a:defRPr sz="1100" b="0"/>
                      </a:pPr>
                      <a:r>
                        <a:t>96</a:t>
                      </a:r>
                    </a:p>
                  </a:txBody>
                  <a:tcPr/>
                </a:tc>
                <a:tc>
                  <a:txBody>
                    <a:bodyPr/>
                    <a:lstStyle/>
                    <a:p>
                      <a:pPr>
                        <a:defRPr sz="1100" b="0"/>
                      </a:pPr>
                      <a:r>
                        <a:t>−1.7%</a:t>
                      </a:r>
                    </a:p>
                  </a:txBody>
                  <a:tcPr/>
                </a:tc>
                <a:tc>
                  <a:txBody>
                    <a:bodyPr/>
                    <a:lstStyle/>
                    <a:p>
                      <a:pPr>
                        <a:defRPr sz="1100" b="0"/>
                      </a:pPr>
                      <a:r>
                        <a:t>−1.2% (−0.61)</a:t>
                      </a:r>
                    </a:p>
                  </a:txBody>
                  <a:tcPr/>
                </a:tc>
                <a:tc>
                  <a:txBody>
                    <a:bodyPr/>
                    <a:lstStyle/>
                    <a:p>
                      <a:pPr>
                        <a:defRPr sz="1100" b="0"/>
                      </a:pPr>
                      <a:r>
                        <a:t>−2.1% (−1.06)</a:t>
                      </a:r>
                    </a:p>
                  </a:txBody>
                  <a:tcPr/>
                </a:tc>
              </a:tr>
              <a:tr h="274324">
                <a:tc>
                  <a:txBody>
                    <a:bodyPr/>
                    <a:lstStyle/>
                    <a:p>
                      <a:pPr>
                        <a:defRPr sz="1100" b="0"/>
                      </a:pPr>
                      <a:r>
                        <a:t>1990–2024</a:t>
                      </a:r>
                    </a:p>
                  </a:txBody>
                  <a:tcPr/>
                </a:tc>
                <a:tc>
                  <a:txBody>
                    <a:bodyPr/>
                    <a:lstStyle/>
                    <a:p>
                      <a:pPr>
                        <a:defRPr sz="1100" b="0"/>
                      </a:pPr>
                      <a:r>
                        <a:t>420</a:t>
                      </a:r>
                    </a:p>
                  </a:txBody>
                  <a:tcPr/>
                </a:tc>
                <a:tc>
                  <a:txBody>
                    <a:bodyPr/>
                    <a:lstStyle/>
                    <a:p>
                      <a:pPr>
                        <a:defRPr sz="1100" b="0"/>
                      </a:pPr>
                      <a:r>
                        <a:t>1.7%</a:t>
                      </a:r>
                    </a:p>
                  </a:txBody>
                  <a:tcPr/>
                </a:tc>
                <a:tc>
                  <a:txBody>
                    <a:bodyPr/>
                    <a:lstStyle/>
                    <a:p>
                      <a:pPr>
                        <a:defRPr sz="1100" b="0"/>
                      </a:pPr>
                      <a:r>
                        <a:t>1.2% (1.05)</a:t>
                      </a:r>
                    </a:p>
                  </a:txBody>
                  <a:tcPr/>
                </a:tc>
                <a:tc>
                  <a:txBody>
                    <a:bodyPr/>
                    <a:lstStyle/>
                    <a:p>
                      <a:pPr>
                        <a:defRPr sz="1100" b="0"/>
                      </a:pPr>
                      <a:r>
                        <a:t>0.2% (0.18)</a:t>
                      </a:r>
                    </a:p>
                  </a:txBody>
                  <a:tcPr/>
                </a:tc>
              </a:tr>
            </a:tbl>
          </a:graphicData>
        </a:graphic>
      </p:graphicFrame>
      <p:sp>
        <p:nvSpPr>
          <p:cNvPr id="6" name="TextBox 5"/>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The recent sample: 1990–2024</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Gross: excess over market 1.69% [−2.0%, 5.4%]; Carhart alpha 1.17% (t 1.05)</a:t>
            </a:r>
          </a:p>
          <a:p>
            <a:pPr>
              <a:spcAft>
                <a:spcPts val="600"/>
              </a:spcAft>
              <a:defRPr sz="1500">
                <a:solidFill>
                  <a:srgbClr val="1F2A33"/>
                </a:solidFill>
              </a:defRPr>
            </a:pPr>
            <a:r>
              <a:t>Net of 30 bps: excess 0.73% [−3.0%, 4.4%]; alpha 0.20% [−2.0%, 2.4%]</a:t>
            </a:r>
          </a:p>
          <a:p>
            <a:pPr>
              <a:spcAft>
                <a:spcPts val="600"/>
              </a:spcAft>
              <a:defRPr sz="1500">
                <a:solidFill>
                  <a:srgbClr val="1F2A33"/>
                </a:solidFill>
              </a:defRPr>
            </a:pPr>
            <a:r>
              <a:t>FF5 + momentum alpha, net of 30 bps: −2.00% (t −2.33)</a:t>
            </a:r>
          </a:p>
          <a:p>
            <a:pPr>
              <a:spcAft>
                <a:spcPts val="600"/>
              </a:spcAft>
              <a:defRPr sz="1500">
                <a:solidFill>
                  <a:srgbClr val="1F2A33"/>
                </a:solidFill>
              </a:defRPr>
            </a:pPr>
            <a:r>
              <a:t>Still lower risk: 12.2% compounded with 13.5% volatility (market 10.1%, 15.2%)</a:t>
            </a:r>
          </a:p>
          <a:p>
            <a:pPr>
              <a:spcAft>
                <a:spcPts val="600"/>
              </a:spcAft>
              <a:defRPr sz="1500">
                <a:solidFill>
                  <a:srgbClr val="1F2A33"/>
                </a:solidFill>
              </a:defRPr>
            </a:pPr>
            <a:r>
              <a:t>Cost-inclusive CMS alpha 3.72% (t 2.22)</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Dividends and share repurchases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NPY = trailing dividend yield + 1 − latest adjusted shares / 24-month average adjusted shares</a:t>
            </a:r>
          </a:p>
          <a:p>
            <a:pPr>
              <a:spcAft>
                <a:spcPts val="600"/>
              </a:spcAft>
              <a:defRPr sz="1500">
                <a:solidFill>
                  <a:srgbClr val="1F2A33"/>
                </a:solidFill>
              </a:defRPr>
            </a:pPr>
            <a:r>
              <a:t>Repurchases raise NPY; share issuance lowers it. Splits must leave the adjusted share count unchanged</a:t>
            </a:r>
          </a:p>
          <a:p>
            <a:pPr>
              <a:spcAft>
                <a:spcPts val="600"/>
              </a:spcAft>
              <a:defRPr sz="1500">
                <a:solidFill>
                  <a:srgbClr val="1F2A33"/>
                </a:solidFill>
              </a:defRPr>
            </a:pPr>
            <a:r>
              <a:t>1929–2016 gross CAGR: 14.80% using NPY versus 13.44% using dividends alone</a:t>
            </a:r>
          </a:p>
          <a:p>
            <a:pPr>
              <a:spcAft>
                <a:spcPts val="600"/>
              </a:spcAft>
              <a:defRPr sz="1500">
                <a:solidFill>
                  <a:srgbClr val="1F2A33"/>
                </a:solidFill>
              </a:defRPr>
            </a:pPr>
            <a:r>
              <a:t>Paired net-30 arithmetic gain from NPY: 1.22% per year [0.56%, 1.87%]</a:t>
            </a:r>
          </a:p>
          <a:p>
            <a:pPr>
              <a:spcAft>
                <a:spcPts val="600"/>
              </a:spcAft>
              <a:defRPr sz="1500">
                <a:solidFill>
                  <a:srgbClr val="1F2A33"/>
                </a:solidFill>
              </a:defRPr>
            </a:pPr>
            <a:r>
              <a:t>Same universe, low-volatility pool, momentum signal, weights, quarterly dates, and costs in the comparison</a:t>
            </a:r>
          </a:p>
          <a:p>
            <a:pPr>
              <a:spcAft>
                <a:spcPts val="600"/>
              </a:spcAft>
              <a:defRPr sz="1500">
                <a:solidFill>
                  <a:srgbClr val="1F2A33"/>
                </a:solidFill>
              </a:defRPr>
            </a:pPr>
            <a:r>
              <a:t>Share-count change measures net repurchases after issuance; it is not reported buyback cash flow</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Industry allocation and stock selection</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Paper scores are compared across sectors (page 4); the professor's sector-aware variant is reported separately</a:t>
            </a:r>
          </a:p>
          <a:p>
            <a:pPr>
              <a:spcAft>
                <a:spcPts val="600"/>
              </a:spcAft>
              <a:defRPr sz="1500">
                <a:solidFill>
                  <a:srgbClr val="1F2A33"/>
                </a:solidFill>
              </a:defRPr>
            </a:pPr>
            <a:r>
              <a:t>1929–2016 gross arithmetic excess return: 4.80% per year</a:t>
            </a:r>
          </a:p>
          <a:p>
            <a:pPr lvl="1">
              <a:spcAft>
                <a:spcPts val="600"/>
              </a:spcAft>
              <a:defRPr sz="1300">
                <a:solidFill>
                  <a:srgbClr val="6B757D"/>
                </a:solidFill>
              </a:defRPr>
            </a:pPr>
            <a:r>
              <a:t>Industry allocation 0.82% + stock selection 3.80% + reference-to-CRSP-market difference 0.18%</a:t>
            </a:r>
          </a:p>
          <a:p>
            <a:pPr>
              <a:spcAft>
                <a:spcPts val="600"/>
              </a:spcAft>
              <a:defRPr sz="1500">
                <a:solidFill>
                  <a:srgbClr val="1F2A33"/>
                </a:solidFill>
              </a:defRPr>
            </a:pPr>
            <a:r>
              <a:t>Reference: cap-weighted formation universe, quarterly constituents and industries fixed, weights drift, delistings to cash</a:t>
            </a:r>
          </a:p>
          <a:p>
            <a:pPr>
              <a:spcAft>
                <a:spcPts val="600"/>
              </a:spcAft>
              <a:defRPr sz="1500">
                <a:solidFill>
                  <a:srgbClr val="1F2A33"/>
                </a:solidFill>
              </a:defRPr>
            </a:pPr>
            <a:r>
              <a:t>Sector variant: 100 slots proportional to industry security counts; apply the rule separately within each FF12 industry. Gross CAGR 14.51%, net-30 13.37%</a:t>
            </a:r>
          </a:p>
          <a:p>
            <a:pPr>
              <a:spcAft>
                <a:spcPts val="600"/>
              </a:spcAft>
              <a:defRPr sz="1500">
                <a:solidFill>
                  <a:srgbClr val="1F2A33"/>
                </a:solidFill>
              </a:defRPr>
            </a:pPr>
            <a:r>
              <a:t>The sector variant is exploratory and changes the paper's global low-volatility screen. Contributions are arithmetic, not causal</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Signal tests</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Composite rank IC (1 month): 0.047 (NW t 8.8)</a:t>
            </a:r>
          </a:p>
          <a:p>
            <a:pPr>
              <a:spcAft>
                <a:spcPts val="600"/>
              </a:spcAft>
              <a:defRPr sz="1500">
                <a:solidFill>
                  <a:srgbClr val="1F2A33"/>
                </a:solidFill>
              </a:defRPr>
            </a:pPr>
            <a:r>
              <a:t>Decile spread D10−D1: 1.02% (1963–1989), 0.68% (1990–2016), 0.40% (2017–2024)</a:t>
            </a:r>
          </a:p>
          <a:p>
            <a:pPr>
              <a:spcAft>
                <a:spcPts val="600"/>
              </a:spcAft>
              <a:defRPr sz="1500">
                <a:solidFill>
                  <a:srgbClr val="1F2A33"/>
                </a:solidFill>
              </a:defRPr>
            </a:pPr>
            <a:r>
              <a:t>Factor-mimicking paper portfolio: IR 0.59 at K = 1, 0.29 at K = 12</a:t>
            </a:r>
          </a:p>
          <a:p>
            <a:pPr lvl="1">
              <a:spcAft>
                <a:spcPts val="600"/>
              </a:spcAft>
              <a:defRPr sz="1300">
                <a:solidFill>
                  <a:srgbClr val="6B757D"/>
                </a:solidFill>
              </a:defRPr>
            </a:pPr>
            <a:r>
              <a:t>2017–2024 IR at K = 1: 0.29</a:t>
            </a:r>
          </a:p>
          <a:p>
            <a:pPr>
              <a:spcAft>
                <a:spcPts val="600"/>
              </a:spcAft>
              <a:defRPr sz="1500">
                <a:solidFill>
                  <a:srgbClr val="1F2A33"/>
                </a:solidFill>
              </a:defRPr>
            </a:pPr>
            <a:r>
              <a:t>Low volatility: positive rank IC, flat mean spread (right-skewed high-volatility deciles)</a:t>
            </a:r>
          </a:p>
        </p:txBody>
      </p:sp>
      <p:pic>
        <p:nvPicPr>
          <p:cNvPr id="4" name="Picture 3" descr="fig_decay.png"/>
          <p:cNvPicPr>
            <a:picLocks noChangeAspect="1"/>
          </p:cNvPicPr>
          <p:nvPr/>
        </p:nvPicPr>
        <p:blipFill>
          <a:blip r:embed="rId2"/>
          <a:stretch>
            <a:fillRect/>
          </a:stretch>
        </p:blipFill>
        <p:spPr>
          <a:xfrm>
            <a:off x="5760720" y="1280160"/>
            <a:ext cx="5943600" cy="2228850"/>
          </a:xfrm>
          <a:prstGeom prst="rect">
            <a:avLst/>
          </a:prstGeom>
        </p:spPr>
      </p:pic>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Long/short and linear optimization</a:t>
            </a:r>
          </a:p>
        </p:txBody>
      </p:sp>
      <p:sp>
        <p:nvSpPr>
          <p:cNvPr id="3" name="TextBox 2"/>
          <p:cNvSpPr txBox="1"/>
          <p:nvPr/>
        </p:nvSpPr>
        <p:spPr>
          <a:xfrm>
            <a:off x="457200" y="1280160"/>
            <a:ext cx="5486400" cy="5212080"/>
          </a:xfrm>
          <a:prstGeom prst="rect">
            <a:avLst/>
          </a:prstGeom>
          <a:noFill/>
        </p:spPr>
        <p:txBody>
          <a:bodyPr wrap="square">
            <a:spAutoFit/>
          </a:bodyPr>
          <a:lstStyle/>
          <a:p>
            <a:pPr>
              <a:spcAft>
                <a:spcPts val="600"/>
              </a:spcAft>
              <a:defRPr sz="1300">
                <a:solidFill>
                  <a:srgbClr val="1F2A33"/>
                </a:solidFill>
              </a:defRPr>
            </a:pPr>
            <a:r>
              <a:t>Decile long/short, n = 3, 10 bps, borrow: 0.64% a year, IR 0.03, max drawdown −100.0%</a:t>
            </a:r>
          </a:p>
          <a:p>
            <a:pPr lvl="1">
              <a:spcAft>
                <a:spcPts val="600"/>
              </a:spcAft>
              <a:defRPr sz="1100">
                <a:solidFill>
                  <a:srgbClr val="6B757D"/>
                </a:solidFill>
              </a:defRPr>
            </a:pPr>
            <a:r>
              <a:t>Monthly re-weighted cohorts: chosen after the pre-specified buy-and-hold cohorts were ruined (1932-08, 1933-05)</a:t>
            </a:r>
          </a:p>
          <a:p>
            <a:pPr lvl="1">
              <a:spcAft>
                <a:spcPts val="600"/>
              </a:spcAft>
              <a:defRPr sz="1100">
                <a:solidFill>
                  <a:srgbClr val="6B757D"/>
                </a:solidFill>
              </a:defRPr>
            </a:pPr>
            <a:r>
              <a:t>Capacity 2020s ≈ $7.9B (scaled to 2024 market size; 10% of volume; no impact model)</a:t>
            </a:r>
          </a:p>
          <a:p>
            <a:pPr>
              <a:spcAft>
                <a:spcPts val="600"/>
              </a:spcAft>
              <a:defRPr sz="1300">
                <a:solidFill>
                  <a:srgbClr val="1F2A33"/>
                </a:solidFill>
              </a:defRPr>
            </a:pPr>
            <a:r>
              <a:t>Linear optimizer, 1990–2024 net 30: Carhart alpha 1.31%–1.95% (2–5% bands, 20–40% turnover budget); two of the four 95% intervals exclude zero</a:t>
            </a:r>
          </a:p>
          <a:p>
            <a:pPr lvl="1">
              <a:spcAft>
                <a:spcPts val="600"/>
              </a:spcAft>
              <a:defRPr sz="1100">
                <a:solidFill>
                  <a:srgbClr val="6B757D"/>
                </a:solidFill>
              </a:defRPr>
            </a:pPr>
            <a:r>
              <a:t>Unadjusted intervals, selected from a 24-run grid; 2017–2024 alphas −2.71% to 0.07% (none of the twelve 95% intervals excludes zero); return-scaled alpha is a later sensitivity</a:t>
            </a:r>
          </a:p>
          <a:p>
            <a:pPr>
              <a:spcAft>
                <a:spcPts val="600"/>
              </a:spcAft>
              <a:defRPr sz="1300">
                <a:solidFill>
                  <a:srgbClr val="1F2A33"/>
                </a:solidFill>
              </a:defRPr>
            </a:pPr>
            <a:r>
              <a:t>We also test a portfolio covariance penalty</a:t>
            </a:r>
          </a:p>
        </p:txBody>
      </p:sp>
      <p:pic>
        <p:nvPicPr>
          <p:cNvPr id="4" name="Picture 3" descr="linear_spec.png"/>
          <p:cNvPicPr>
            <a:picLocks noChangeAspect="1"/>
          </p:cNvPicPr>
          <p:nvPr/>
        </p:nvPicPr>
        <p:blipFill>
          <a:blip r:embed="rId2"/>
          <a:stretch>
            <a:fillRect/>
          </a:stretch>
        </p:blipFill>
        <p:spPr>
          <a:xfrm>
            <a:off x="6126480" y="1280160"/>
            <a:ext cx="5577840" cy="3824805"/>
          </a:xfrm>
          <a:prstGeom prst="rect">
            <a:avLst/>
          </a:prstGeom>
        </p:spPr>
      </p:pic>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Mean-variance portfolios</a:t>
            </a:r>
          </a:p>
        </p:txBody>
      </p:sp>
      <p:sp>
        <p:nvSpPr>
          <p:cNvPr id="3" name="TextBox 2"/>
          <p:cNvSpPr txBox="1"/>
          <p:nvPr/>
        </p:nvSpPr>
        <p:spPr>
          <a:xfrm>
            <a:off x="457200" y="1280160"/>
            <a:ext cx="6035040" cy="5212080"/>
          </a:xfrm>
          <a:prstGeom prst="rect">
            <a:avLst/>
          </a:prstGeom>
          <a:noFill/>
        </p:spPr>
        <p:txBody>
          <a:bodyPr wrap="square">
            <a:spAutoFit/>
          </a:bodyPr>
          <a:lstStyle/>
          <a:p>
            <a:pPr>
              <a:spcAft>
                <a:spcPts val="600"/>
              </a:spcAft>
              <a:defRPr sz="1300">
                <a:solidFill>
                  <a:srgbClr val="1F2A33"/>
                </a:solidFill>
              </a:defRPr>
            </a:pPr>
            <a:r>
              <a:t>Maximize expected return − half risk aversion × portfolio variance − trading costs</a:t>
            </a:r>
          </a:p>
          <a:p>
            <a:pPr>
              <a:spcAft>
                <a:spcPts val="600"/>
              </a:spcAft>
              <a:defRPr sz="1300">
                <a:solidFill>
                  <a:srgbClr val="1F2A33"/>
                </a:solidFill>
              </a:defRPr>
            </a:pPr>
            <a:r>
              <a:t>Covariance: trailing 36 monthly returns, 50% diagonal shrinkage; the window ends at formation</a:t>
            </a:r>
          </a:p>
          <a:p>
            <a:pPr>
              <a:spcAft>
                <a:spcPts val="600"/>
              </a:spcAft>
              <a:defRPr sz="1300">
                <a:solidFill>
                  <a:srgbClr val="1F2A33"/>
                </a:solidFill>
              </a:defRPr>
            </a:pPr>
            <a:r>
              <a:t>Return alpha: completed trailing IC × annual volatility × √(3/12) × composite exposure</a:t>
            </a:r>
          </a:p>
          <a:p>
            <a:pPr>
              <a:spcAft>
                <a:spcPts val="600"/>
              </a:spcAft>
              <a:defRPr sz="1300">
                <a:solidFill>
                  <a:srgbClr val="1F2A33"/>
                </a:solidFill>
              </a:defRPr>
            </a:pPr>
            <a:r>
              <a:t>Quarterly: 2% stock cap, industry bands ±5pp, two-way turnover budget 40%; scaled costs start at 30bps</a:t>
            </a:r>
          </a:p>
          <a:p>
            <a:pPr>
              <a:spcAft>
                <a:spcPts val="600"/>
              </a:spcAft>
              <a:defRPr sz="1300">
                <a:solidFill>
                  <a:srgbClr val="1F2A33"/>
                </a:solidFill>
              </a:defRPr>
            </a:pPr>
            <a:r>
              <a:t>Two fixed risk aversions (5 and 20); max constraint violation 4.9e-09; turnover relaxations 0</a:t>
            </a:r>
          </a:p>
          <a:p>
            <a:pPr>
              <a:spcAft>
                <a:spcPts val="600"/>
              </a:spcAft>
              <a:defRPr sz="1300">
                <a:solidFill>
                  <a:srgbClr val="1F2A33"/>
                </a:solidFill>
              </a:defRPr>
            </a:pPr>
            <a:r>
              <a:t>We chose these settings after examining the baseline; an unseen test is still needed</a:t>
            </a:r>
          </a:p>
        </p:txBody>
      </p:sp>
      <p:graphicFrame>
        <p:nvGraphicFramePr>
          <p:cNvPr id="4" name="Table 3"/>
          <p:cNvGraphicFramePr>
            <a:graphicFrameLocks noGrp="1"/>
          </p:cNvGraphicFramePr>
          <p:nvPr/>
        </p:nvGraphicFramePr>
        <p:xfrm>
          <a:off x="6675120" y="1280160"/>
          <a:ext cx="5029200" cy="822959"/>
        </p:xfrm>
        <a:graphic>
          <a:graphicData uri="http://schemas.openxmlformats.org/drawingml/2006/table">
            <a:tbl>
              <a:tblPr firstRow="1" bandRow="1">
                <a:tableStyleId>{5C22544A-7EE6-4342-B048-85BDC9FD1C3A}</a:tableStyleId>
              </a:tblPr>
              <a:tblGrid>
                <a:gridCol w="1005840"/>
                <a:gridCol w="1005840"/>
                <a:gridCol w="1005840"/>
                <a:gridCol w="1005840"/>
                <a:gridCol w="1005840"/>
              </a:tblGrid>
              <a:tr h="274319">
                <a:tc>
                  <a:txBody>
                    <a:bodyPr/>
                    <a:lstStyle/>
                    <a:p>
                      <a:pPr>
                        <a:defRPr sz="1100" b="1"/>
                      </a:pPr>
                      <a:r>
                        <a:t>1990–2024</a:t>
                      </a:r>
                    </a:p>
                  </a:txBody>
                  <a:tcPr/>
                </a:tc>
                <a:tc>
                  <a:txBody>
                    <a:bodyPr/>
                    <a:lstStyle/>
                    <a:p>
                      <a:pPr>
                        <a:defRPr sz="1100" b="1"/>
                      </a:pPr>
                      <a:r>
                        <a:t>Net CAGR</a:t>
                      </a:r>
                    </a:p>
                  </a:txBody>
                  <a:tcPr/>
                </a:tc>
                <a:tc>
                  <a:txBody>
                    <a:bodyPr/>
                    <a:lstStyle/>
                    <a:p>
                      <a:pPr>
                        <a:defRPr sz="1100" b="1"/>
                      </a:pPr>
                      <a:r>
                        <a:t>Volatility</a:t>
                      </a:r>
                    </a:p>
                  </a:txBody>
                  <a:tcPr/>
                </a:tc>
                <a:tc>
                  <a:txBody>
                    <a:bodyPr/>
                    <a:lstStyle/>
                    <a:p>
                      <a:pPr>
                        <a:defRPr sz="1100" b="1"/>
                      </a:pPr>
                      <a:r>
                        <a:t>IR</a:t>
                      </a:r>
                    </a:p>
                  </a:txBody>
                  <a:tcPr/>
                </a:tc>
                <a:tc>
                  <a:txBody>
                    <a:bodyPr/>
                    <a:lstStyle/>
                    <a:p>
                      <a:pPr>
                        <a:defRPr sz="1100" b="1"/>
                      </a:pPr>
                      <a:r>
                        <a:t>Market corr.</a:t>
                      </a:r>
                    </a:p>
                  </a:txBody>
                  <a:tcPr/>
                </a:tc>
              </a:tr>
              <a:tr h="274319">
                <a:tc>
                  <a:txBody>
                    <a:bodyPr/>
                    <a:lstStyle/>
                    <a:p>
                      <a:pPr>
                        <a:defRPr sz="1100" b="0"/>
                      </a:pPr>
                      <a:r>
                        <a:t>γ = 5</a:t>
                      </a:r>
                    </a:p>
                  </a:txBody>
                  <a:tcPr/>
                </a:tc>
                <a:tc>
                  <a:txBody>
                    <a:bodyPr/>
                    <a:lstStyle/>
                    <a:p>
                      <a:pPr>
                        <a:defRPr sz="1100" b="0"/>
                      </a:pPr>
                      <a:r>
                        <a:t>11.59%</a:t>
                      </a:r>
                    </a:p>
                  </a:txBody>
                  <a:tcPr/>
                </a:tc>
                <a:tc>
                  <a:txBody>
                    <a:bodyPr/>
                    <a:lstStyle/>
                    <a:p>
                      <a:pPr>
                        <a:defRPr sz="1100" b="0"/>
                      </a:pPr>
                      <a:r>
                        <a:t>12.51%</a:t>
                      </a:r>
                    </a:p>
                  </a:txBody>
                  <a:tcPr/>
                </a:tc>
                <a:tc>
                  <a:txBody>
                    <a:bodyPr/>
                    <a:lstStyle/>
                    <a:p>
                      <a:pPr>
                        <a:defRPr sz="1100" b="0"/>
                      </a:pPr>
                      <a:r>
                        <a:t>0.14</a:t>
                      </a:r>
                    </a:p>
                  </a:txBody>
                  <a:tcPr/>
                </a:tc>
                <a:tc>
                  <a:txBody>
                    <a:bodyPr/>
                    <a:lstStyle/>
                    <a:p>
                      <a:pPr>
                        <a:defRPr sz="1100" b="0"/>
                      </a:pPr>
                      <a:r>
                        <a:t>0.89</a:t>
                      </a:r>
                    </a:p>
                  </a:txBody>
                  <a:tcPr/>
                </a:tc>
              </a:tr>
              <a:tr h="274321">
                <a:tc>
                  <a:txBody>
                    <a:bodyPr/>
                    <a:lstStyle/>
                    <a:p>
                      <a:pPr>
                        <a:defRPr sz="1100" b="0"/>
                      </a:pPr>
                      <a:r>
                        <a:t>γ = 20</a:t>
                      </a:r>
                    </a:p>
                  </a:txBody>
                  <a:tcPr/>
                </a:tc>
                <a:tc>
                  <a:txBody>
                    <a:bodyPr/>
                    <a:lstStyle/>
                    <a:p>
                      <a:pPr>
                        <a:defRPr sz="1100" b="0"/>
                      </a:pPr>
                      <a:r>
                        <a:t>10.39%</a:t>
                      </a:r>
                    </a:p>
                  </a:txBody>
                  <a:tcPr/>
                </a:tc>
                <a:tc>
                  <a:txBody>
                    <a:bodyPr/>
                    <a:lstStyle/>
                    <a:p>
                      <a:pPr>
                        <a:defRPr sz="1100" b="0"/>
                      </a:pPr>
                      <a:r>
                        <a:t>11.51%</a:t>
                      </a:r>
                    </a:p>
                  </a:txBody>
                  <a:tcPr/>
                </a:tc>
                <a:tc>
                  <a:txBody>
                    <a:bodyPr/>
                    <a:lstStyle/>
                    <a:p>
                      <a:pPr>
                        <a:defRPr sz="1100" b="0"/>
                      </a:pPr>
                      <a:r>
                        <a:t>−0.03</a:t>
                      </a:r>
                    </a:p>
                  </a:txBody>
                  <a:tcPr/>
                </a:tc>
                <a:tc>
                  <a:txBody>
                    <a:bodyPr/>
                    <a:lstStyle/>
                    <a:p>
                      <a:pPr>
                        <a:defRPr sz="1100" b="0"/>
                      </a:pPr>
                      <a:r>
                        <a:t>0.87</a:t>
                      </a:r>
                    </a:p>
                  </a:txBody>
                  <a:tcPr/>
                </a:tc>
              </a:tr>
            </a:tbl>
          </a:graphicData>
        </a:graphic>
      </p:graphicFrame>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A buffer to reduce trading</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Keep existing holdings while they remain in the eligible pool and within the best 150 ranks</a:t>
            </a:r>
          </a:p>
          <a:p>
            <a:pPr>
              <a:spcAft>
                <a:spcPts val="600"/>
              </a:spcAft>
              <a:defRPr sz="1500">
                <a:solidFill>
                  <a:srgbClr val="1F2A33"/>
                </a:solidFill>
              </a:defRPr>
            </a:pPr>
            <a:r>
              <a:t>Turnover 39.8% → 28.4% a quarter (28.7% lower)</a:t>
            </a:r>
          </a:p>
          <a:p>
            <a:pPr>
              <a:spcAft>
                <a:spcPts val="600"/>
              </a:spcAft>
              <a:defRPr sz="1500">
                <a:solidFill>
                  <a:srgbClr val="1F2A33"/>
                </a:solidFill>
              </a:defRPr>
            </a:pPr>
            <a:r>
              <a:t>Net-of-30 paired difference 0.34% a year [−0.10%, 0.78%]: not significant</a:t>
            </a:r>
          </a:p>
          <a:p>
            <a:pPr>
              <a:spcAft>
                <a:spcPts val="600"/>
              </a:spcAft>
              <a:defRPr sz="1500">
                <a:solidFill>
                  <a:srgbClr val="1F2A33"/>
                </a:solidFill>
              </a:defRPr>
            </a:pPr>
            <a:r>
              <a:t>Gross paired difference 0.06%; the buffer changes holdings as well as costs</a:t>
            </a:r>
          </a:p>
          <a:p>
            <a:pPr>
              <a:spcAft>
                <a:spcPts val="600"/>
              </a:spcAft>
              <a:defRPr sz="1500">
                <a:solidFill>
                  <a:srgbClr val="1F2A33"/>
                </a:solidFill>
              </a:defRPr>
            </a:pPr>
            <a:r>
              <a:t>The recent period was already seen when we tested this variant</a:t>
            </a:r>
          </a:p>
        </p:txBody>
      </p:sp>
      <p:pic>
        <p:nvPicPr>
          <p:cNvPr id="4" name="Picture 3" descr="fig_paired_cum.png"/>
          <p:cNvPicPr>
            <a:picLocks noChangeAspect="1"/>
          </p:cNvPicPr>
          <p:nvPr/>
        </p:nvPicPr>
        <p:blipFill>
          <a:blip r:embed="rId2"/>
          <a:stretch>
            <a:fillRect/>
          </a:stretch>
        </p:blipFill>
        <p:spPr>
          <a:xfrm>
            <a:off x="5760720" y="1280160"/>
            <a:ext cx="5943600" cy="2103120"/>
          </a:xfrm>
          <a:prstGeom prst="rect">
            <a:avLst/>
          </a:prstGeom>
        </p:spPr>
      </p:pic>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What we conclude</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Return and volatility are close to the paper; turnover and some regression results differ</a:t>
            </a:r>
          </a:p>
          <a:p>
            <a:pPr>
              <a:spcAft>
                <a:spcPts val="600"/>
              </a:spcAft>
              <a:defRPr sz="1500">
                <a:solidFill>
                  <a:srgbClr val="1F2A33"/>
                </a:solidFill>
              </a:defRPr>
            </a:pPr>
            <a:r>
              <a:t>Much of the historical return is associated with known equity factors</a:t>
            </a:r>
          </a:p>
          <a:p>
            <a:pPr>
              <a:spcAft>
                <a:spcPts val="600"/>
              </a:spcAft>
              <a:defRPr sz="1500">
                <a:solidFill>
                  <a:srgbClr val="1F2A33"/>
                </a:solidFill>
              </a:defRPr>
            </a:pPr>
            <a:r>
              <a:t>Alphas decay; 1990–2024 net of 30 bps: alpha 0.20% [−2.0%, 2.4%]</a:t>
            </a:r>
          </a:p>
          <a:p>
            <a:pPr>
              <a:spcAft>
                <a:spcPts val="600"/>
              </a:spcAft>
              <a:defRPr sz="1500">
                <a:solidFill>
                  <a:srgbClr val="1F2A33"/>
                </a:solidFill>
              </a:defRPr>
            </a:pPr>
            <a:r>
              <a:t>The recent net-alpha interval includes zero</a:t>
            </a:r>
          </a:p>
          <a:p>
            <a:pPr>
              <a:spcAft>
                <a:spcPts val="600"/>
              </a:spcAft>
              <a:defRPr sz="1500">
                <a:solidFill>
                  <a:srgbClr val="1F2A33"/>
                </a:solidFill>
              </a:defRPr>
            </a:pPr>
            <a:r>
              <a:t>Lower volatility is the most consistent feature of the portfolio</a:t>
            </a:r>
          </a:p>
          <a:p>
            <a:pPr>
              <a:spcAft>
                <a:spcPts val="600"/>
              </a:spcAft>
              <a:defRPr sz="1500">
                <a:solidFill>
                  <a:srgbClr val="1F2A33"/>
                </a:solidFill>
              </a:defRPr>
            </a:pPr>
            <a:r>
              <a:t>Limitations: no CRSP release identifier; implied dividends; share-class and size conventions; turnover above the paper's; selection across grids; a short post-sample</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Running the project</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python -m crsp_pipeline.import_web   (full web exports; licensed data kept private)</a:t>
            </a:r>
          </a:p>
          <a:p>
            <a:pPr>
              <a:spcAft>
                <a:spcPts val="600"/>
              </a:spcAft>
              <a:defRPr sz="1500">
                <a:solidFill>
                  <a:srgbClr val="1F2A33"/>
                </a:solidFill>
              </a:defRPr>
            </a:pPr>
            <a:r>
              <a:t>python -m crsp_pipeline build</a:t>
            </a:r>
          </a:p>
          <a:p>
            <a:pPr>
              <a:spcAft>
                <a:spcPts val="600"/>
              </a:spcAft>
              <a:defRPr sz="1500">
                <a:solidFill>
                  <a:srgbClr val="1F2A33"/>
                </a:solidFill>
              </a:defRPr>
            </a:pPr>
            <a:r>
              <a:t>python -m research.run_all   → results/ (aggregates) + results/manifest.json</a:t>
            </a:r>
          </a:p>
          <a:p>
            <a:pPr>
              <a:spcAft>
                <a:spcPts val="600"/>
              </a:spcAft>
              <a:defRPr sz="1500">
                <a:solidFill>
                  <a:srgbClr val="1F2A33"/>
                </a:solidFill>
              </a:defRPr>
            </a:pPr>
            <a:r>
              <a:t>python build_notebook.py &amp;&amp; python execute_notebook.py</a:t>
            </a:r>
          </a:p>
          <a:p>
            <a:pPr>
              <a:spcAft>
                <a:spcPts val="600"/>
              </a:spcAft>
              <a:defRPr sz="1500">
                <a:solidFill>
                  <a:srgbClr val="1F2A33"/>
                </a:solidFill>
              </a:defRPr>
            </a:pPr>
            <a:r>
              <a:t>python presentation/build_pdf.py   (PDF slides and speaker notes)</a:t>
            </a:r>
          </a:p>
          <a:p>
            <a:pPr>
              <a:spcAft>
                <a:spcPts val="600"/>
              </a:spcAft>
              <a:defRPr sz="1500">
                <a:solidFill>
                  <a:srgbClr val="1F2A33"/>
                </a:solidFill>
              </a:defRPr>
            </a:pPr>
            <a:r>
              <a:t>85 result files with sha256 hashes; data manifest 4816d582000a…</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Yingni Chang and Yikai Shen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