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replication is the benchmark, not the conclusion. The three questions and their periods were fixed before any 2017–2024 return was computed; the first load of those data is time-stamped 2026-10-11T00:50:37+00:00.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CAPM alphas are shown only for comparison with the paper. A positive average return is not treated as evidence unless its interval excludes zero.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audit tables (coverage, exclusions, missing returns, delistings, dividends, benchmark) are in the notebook's data section; no security-level row appears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deviation is disclosed with its direction or magnitude in the notebook's deviations 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12-month dividend window is a disclosed convention: the paper specifies the share-count ratio but does not fully specify the dividend window. Price returns exclude distributions; total returns include them. Adjusting both prices and shares prevents a stock split from looking like a buyback.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Gross of costs, paper definitions. Candidate explanations and unresolved material gaps are listed in the notebook; no parameter was adjusted to force agreement with the paper.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Paper t-values are compared with our OLS t; Newey–West t-statistics are reported alongside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Break-even is the cost per dollar traded at which the net excess return or net Carhart alpha reaches zero.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evidence of outperformance in 2017–2024, rather than proof of failure: the interval is wide.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evidence does not support the claim that the formula beats the market on recent data once known factors and realistic costs are taken into account.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directly addresses the professor's payout warning. The latest/24-month-average share ratio comes from paper page 4; the 12-month dividend window is a disclosed convention. The review adds synthetic tests for repurchases, issuance and split neutrality, plus 1,200 independent signal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monthly allocation plus selection plus the universe-to-market bridge reconciles to baseline excess returns. Selection includes interaction. The quota rule follows the professor's Enhanced Momentum example, using counts rather than cap weights, largest-remainder rounding and equal stock weights.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Signals are industry-neutralized, standardized and clipped at ±3; returns are industry-adjusted.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Labels matter: the long/short convention and the optimizer's alpha-scaling sensitivity were chosen after results were seen.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fulfills the quadratic optimization requirement using an estimated risk model. A positive semidefinite 50% diagonal shrinkage estimate regularizes 1,000 stocks with 36 observations. Covariance is scaled to three months assuming no autocorrelation. Both gamma values and all feasibility relaxations are reported in the notebook. These are long-only portfolios with substantial market exposure.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buffer recovers part of the cost drag but does not change the answer to the critical tests.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statements follow the accepted conclusions of the replication, attribution and critical tests.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slide number is read from results/ through the loader, which refuses a file whose hash differs from the manifest. Security-level rows stay in the git-ignored output/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The Conservative Formula</a:t>
            </a:r>
          </a:p>
          <a:p>
            <a:pPr>
              <a:defRPr sz="1500">
                <a:solidFill>
                  <a:srgbClr val="6B757D"/>
                </a:solidFill>
              </a:defRPr>
            </a:pPr>
            <a:r>
              <a:t>Yingni Chang and Yikai Shen · MTH 9897 Project 8 · CRSP replication, 1929–2024</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Paper: Blitz and van Vliet (2018), The Conservative Formula, Journal of Portfolio Management 44(7)</a:t>
            </a:r>
          </a:p>
          <a:p>
            <a:pPr>
              <a:spcAft>
                <a:spcPts val="600"/>
              </a:spcAft>
              <a:defRPr sz="1500">
                <a:solidFill>
                  <a:srgbClr val="1F2A33"/>
                </a:solidFill>
              </a:defRPr>
            </a:pPr>
            <a:r>
              <a:t>Replicate the US results on the paper's sample, 1929–2016</a:t>
            </a:r>
          </a:p>
          <a:p>
            <a:pPr>
              <a:spcAft>
                <a:spcPts val="600"/>
              </a:spcAft>
              <a:defRPr sz="1500">
                <a:solidFill>
                  <a:srgbClr val="1F2A33"/>
                </a:solidFill>
              </a:defRPr>
            </a:pPr>
            <a:r>
              <a:t>Then test three questions fixed in advance: known factors, decay, costs</a:t>
            </a:r>
          </a:p>
          <a:p>
            <a:pPr>
              <a:spcAft>
                <a:spcPts val="600"/>
              </a:spcAft>
              <a:defRPr sz="1500">
                <a:solidFill>
                  <a:srgbClr val="1F2A33"/>
                </a:solidFill>
              </a:defRPr>
            </a:pPr>
            <a:r>
              <a:t>Headline period: 1990–2024 (2017–2024 is post-sample)</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The question</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The rule: 1,000 largest US stocks → low-volatility half → rank on 12-1 momentum and net payout yield → best 100, equal weight, quarterly</a:t>
            </a:r>
          </a:p>
          <a:p>
            <a:pPr>
              <a:spcAft>
                <a:spcPts val="600"/>
              </a:spcAft>
              <a:defRPr sz="1500">
                <a:solidFill>
                  <a:srgbClr val="1F2A33"/>
                </a:solidFill>
              </a:defRPr>
            </a:pPr>
            <a:r>
              <a:t>1. Known factors: is the return explained by Carhart (primary) or FF5 + momentum (robustness)?</a:t>
            </a:r>
          </a:p>
          <a:p>
            <a:pPr>
              <a:spcAft>
                <a:spcPts val="600"/>
              </a:spcAft>
              <a:defRPr sz="1500">
                <a:solidFill>
                  <a:srgbClr val="1F2A33"/>
                </a:solidFill>
              </a:defRPr>
            </a:pPr>
            <a:r>
              <a:t>2. Decay: fixed periods 1929–1962, 1963–1989, 1990–2016, 2017–2024, plus rolling 120-month windows</a:t>
            </a:r>
          </a:p>
          <a:p>
            <a:pPr>
              <a:spcAft>
                <a:spcPts val="600"/>
              </a:spcAft>
              <a:defRPr sz="1500">
                <a:solidFill>
                  <a:srgbClr val="1F2A33"/>
                </a:solidFill>
              </a:defRPr>
            </a:pPr>
            <a:r>
              <a:t>3. Costs: net of 10 and 30 bps per dollar traded; break-even cost of the excess return and the alpha</a:t>
            </a:r>
          </a:p>
          <a:p>
            <a:pPr>
              <a:spcAft>
                <a:spcPts val="600"/>
              </a:spcAft>
              <a:defRPr sz="1500">
                <a:solidFill>
                  <a:srgbClr val="1F2A33"/>
                </a:solidFill>
              </a:defRPr>
            </a:pPr>
            <a:r>
              <a:t>All estimates with Newey–West (12 lags) or block-bootstrap intervals</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Data and audits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CRSP monthly stock file via WRDS, extracted 2026-10-13; months 1925-12 to 2024-12</a:t>
            </a:r>
          </a:p>
          <a:p>
            <a:pPr>
              <a:spcAft>
                <a:spcPts val="600"/>
              </a:spcAft>
              <a:defRPr sz="1500">
                <a:solidFill>
                  <a:srgbClr val="1F2A33"/>
                </a:solidFill>
              </a:defRPr>
            </a:pPr>
            <a:r>
              <a:t>3,954,591 security-months, 26,746 securities, 22,869 delistings (2530 imputed, 317 set to zero)</a:t>
            </a:r>
          </a:p>
          <a:p>
            <a:pPr>
              <a:spcAft>
                <a:spcPts val="600"/>
              </a:spcAft>
              <a:defRPr sz="1500">
                <a:solidFill>
                  <a:srgbClr val="1F2A33"/>
                </a:solidFill>
              </a:defRPr>
            </a:pPr>
            <a:r>
              <a:t>Universe: 393 stocks in December 1928; the full 1,000 from 1964-06</a:t>
            </a:r>
          </a:p>
          <a:p>
            <a:pPr>
              <a:spcAft>
                <a:spcPts val="600"/>
              </a:spcAft>
              <a:defRPr sz="1500">
                <a:solidFill>
                  <a:srgbClr val="1F2A33"/>
                </a:solidFill>
              </a:defRPr>
            </a:pPr>
            <a:r>
              <a:t>One share class per company; dividends implied from total minus price return</a:t>
            </a:r>
          </a:p>
          <a:p>
            <a:pPr>
              <a:spcAft>
                <a:spcPts val="600"/>
              </a:spcAft>
              <a:defRPr sz="1500">
                <a:solidFill>
                  <a:srgbClr val="1F2A33"/>
                </a:solidFill>
              </a:defRPr>
            </a:pPr>
            <a:r>
              <a:t>Held stocks without a monthly return: stale-price carry or in-gap price ratio, every case counted</a:t>
            </a:r>
          </a:p>
          <a:p>
            <a:pPr>
              <a:spcAft>
                <a:spcPts val="600"/>
              </a:spcAft>
              <a:defRPr sz="1500">
                <a:solidFill>
                  <a:srgbClr val="1F2A33"/>
                </a:solidFill>
              </a:defRPr>
            </a:pPr>
            <a:r>
              <a:t>No release identifier on WRDS: the extract is identified by time stamp and file hashes</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Baseline rule and deviations from the paper</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Paper order: history screen → top 1,000 by market cap → low-volatility half → ranks among complete signals</a:t>
            </a:r>
          </a:p>
          <a:p>
            <a:pPr>
              <a:spcAft>
                <a:spcPts val="600"/>
              </a:spcAft>
              <a:defRPr sz="1500">
                <a:solidFill>
                  <a:srgbClr val="1F2A33"/>
                </a:solidFill>
              </a:defRPr>
            </a:pPr>
            <a:r>
              <a:t>Weights drift between rebalances; delisted holdings become cash; costs charged per dollar traded</a:t>
            </a:r>
          </a:p>
          <a:p>
            <a:pPr>
              <a:spcAft>
                <a:spcPts val="600"/>
              </a:spcAft>
              <a:defRPr sz="1500">
                <a:solidFill>
                  <a:srgbClr val="1F2A33"/>
                </a:solidFill>
              </a:defRPr>
            </a:pPr>
            <a:r>
              <a:t>Controls: Speculative (high-volatility half, weakest scores), standalone signals, Small, CRSP VW market</a:t>
            </a:r>
          </a:p>
          <a:p>
            <a:pPr>
              <a:spcAft>
                <a:spcPts val="600"/>
              </a:spcAft>
              <a:defRPr sz="1500">
                <a:solidFill>
                  <a:srgbClr val="1F2A33"/>
                </a:solidFill>
              </a:defRPr>
            </a:pPr>
            <a:r>
              <a:t>Excluded: Value (no book equity in CRSP) and Table 2 panels C–D (factors not in our sources)</a:t>
            </a:r>
          </a:p>
        </p:txBody>
      </p:sp>
      <p:graphicFrame>
        <p:nvGraphicFramePr>
          <p:cNvPr id="4" name="Table 3"/>
          <p:cNvGraphicFramePr>
            <a:graphicFrameLocks noGrp="1"/>
          </p:cNvGraphicFramePr>
          <p:nvPr/>
        </p:nvGraphicFramePr>
        <p:xfrm>
          <a:off x="5760720" y="1280160"/>
          <a:ext cx="5943600" cy="1920240"/>
        </p:xfrm>
        <a:graphic>
          <a:graphicData uri="http://schemas.openxmlformats.org/drawingml/2006/table">
            <a:tbl>
              <a:tblPr firstRow="1" bandRow="1">
                <a:tableStyleId>{5C22544A-7EE6-4342-B048-85BDC9FD1C3A}</a:tableStyleId>
              </a:tblPr>
              <a:tblGrid>
                <a:gridCol w="2971800"/>
                <a:gridCol w="2971800"/>
              </a:tblGrid>
              <a:tr h="274320">
                <a:tc>
                  <a:txBody>
                    <a:bodyPr/>
                    <a:lstStyle/>
                    <a:p>
                      <a:pPr>
                        <a:defRPr sz="1100" b="1"/>
                      </a:pPr>
                      <a:r>
                        <a:t>deviation</a:t>
                      </a:r>
                    </a:p>
                  </a:txBody>
                  <a:tcPr/>
                </a:tc>
                <a:tc>
                  <a:txBody>
                    <a:bodyPr/>
                    <a:lstStyle/>
                    <a:p>
                      <a:pPr>
                        <a:defRPr sz="1100" b="1"/>
                      </a:pPr>
                      <a:r>
                        <a:t>our convention</a:t>
                      </a:r>
                    </a:p>
                  </a:txBody>
                  <a:tcPr/>
                </a:tc>
              </a:tr>
              <a:tr h="274320">
                <a:tc>
                  <a:txBody>
                    <a:bodyPr/>
                    <a:lstStyle/>
                    <a:p>
                      <a:pPr>
                        <a:defRPr sz="1100" b="0"/>
                      </a:pPr>
                      <a:r>
                        <a:t>Share-class selection</a:t>
                      </a:r>
                    </a:p>
                  </a:txBody>
                  <a:tcPr/>
                </a:tc>
                <a:tc>
                  <a:txBody>
                    <a:bodyPr/>
                    <a:lstStyle/>
                    <a:p>
                      <a:pPr>
                        <a:defRPr sz="1100" b="0"/>
                      </a:pPr>
                      <a:r>
                        <a:t>largest common class of each PERMCO per month (shrcd 10/11)</a:t>
                      </a:r>
                    </a:p>
                  </a:txBody>
                  <a:tcPr/>
                </a:tc>
              </a:tr>
              <a:tr h="274320">
                <a:tc>
                  <a:txBody>
                    <a:bodyPr/>
                    <a:lstStyle/>
                    <a:p>
                      <a:pPr>
                        <a:defRPr sz="1100" b="0"/>
                      </a:pPr>
                      <a:r>
                        <a:t>Size measure</a:t>
                      </a:r>
                    </a:p>
                  </a:txBody>
                  <a:tcPr/>
                </a:tc>
                <a:tc>
                  <a:txBody>
                    <a:bodyPr/>
                    <a:lstStyle/>
                    <a:p>
                      <a:pPr>
                        <a:defRPr sz="1100" b="0"/>
                      </a:pPr>
                      <a:r>
                        <a:t>security market cap for the top-1,000 cut</a:t>
                      </a:r>
                    </a:p>
                  </a:txBody>
                  <a:tcPr/>
                </a:tc>
              </a:tr>
              <a:tr h="274320">
                <a:tc>
                  <a:txBody>
                    <a:bodyPr/>
                    <a:lstStyle/>
                    <a:p>
                      <a:pPr>
                        <a:defRPr sz="1100" b="0"/>
                      </a:pPr>
                      <a:r>
                        <a:t>Dividends</a:t>
                      </a:r>
                    </a:p>
                  </a:txBody>
                  <a:tcPr/>
                </a:tc>
                <a:tc>
                  <a:txBody>
                    <a:bodyPr/>
                    <a:lstStyle/>
                    <a:p>
                      <a:pPr>
                        <a:defRPr sz="1100" b="0"/>
                      </a:pPr>
                      <a:r>
                        <a:t>implied from ret - retx (legacy retx includes non-ordinary distributions)</a:t>
                      </a:r>
                    </a:p>
                  </a:txBody>
                  <a:tcPr/>
                </a:tc>
              </a:tr>
              <a:tr h="274320">
                <a:tc>
                  <a:txBody>
                    <a:bodyPr/>
                    <a:lstStyle/>
                    <a:p>
                      <a:pPr>
                        <a:defRPr sz="1100" b="0"/>
                      </a:pPr>
                      <a:r>
                        <a:t>Missing-signal rule (NB-007)</a:t>
                      </a:r>
                    </a:p>
                  </a:txBody>
                  <a:tcPr/>
                </a:tc>
                <a:tc>
                  <a:txBody>
                    <a:bodyPr/>
                    <a:lstStyle/>
                    <a:p>
                      <a:pPr>
                        <a:defRPr sz="1100" b="0"/>
                      </a:pPr>
                      <a:r>
                        <a:t>partition first; complete cases ranked</a:t>
                      </a:r>
                    </a:p>
                  </a:txBody>
                  <a:tcPr/>
                </a:tc>
              </a:tr>
              <a:tr h="274320">
                <a:tc>
                  <a:txBody>
                    <a:bodyPr/>
                    <a:lstStyle/>
                    <a:p>
                      <a:pPr>
                        <a:defRPr sz="1100" b="0"/>
                      </a:pPr>
                      <a:r>
                        <a:t>Small early universe (DATA-001)</a:t>
                      </a:r>
                    </a:p>
                  </a:txBody>
                  <a:tcPr/>
                </a:tc>
                <a:tc>
                  <a:txBody>
                    <a:bodyPr/>
                    <a:lstStyle/>
                    <a:p>
                      <a:pPr>
                        <a:defRPr sz="1100" b="0"/>
                      </a:pPr>
                      <a:r>
                        <a:t>all history-eligible names when &lt; 1,000 (393 at 1928-12; 500-name pool from 1964-06)</a:t>
                      </a:r>
                    </a:p>
                  </a:txBody>
                  <a:tcPr/>
                </a:tc>
              </a:tr>
              <a:tr h="274320">
                <a:tc>
                  <a:txBody>
                    <a:bodyPr/>
                    <a:lstStyle/>
                    <a:p>
                      <a:pPr>
                        <a:defRPr sz="1100" b="0"/>
                      </a:pPr>
                      <a:r>
                        <a:t>Missing monthly returns (DATA-002/010)</a:t>
                      </a:r>
                    </a:p>
                  </a:txBody>
                  <a:tcPr/>
                </a:tc>
                <a:tc>
                  <a:txBody>
                    <a:bodyPr/>
                    <a:lstStyle/>
                    <a:p>
                      <a:pPr>
                        <a:defRPr sz="1100" b="0"/>
                      </a:pPr>
                      <a:r>
                        <a:t>stale carry (0) or in-gap price ratio</a:t>
                      </a:r>
                    </a:p>
                  </a:txBody>
                  <a:tcPr/>
                </a:tc>
              </a:tr>
            </a:tbl>
          </a:graphicData>
        </a:graphic>
      </p:graphicFrame>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Signal construction and timing</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Volatility: annualized standard deviation of 36 consecutive monthly total returns</a:t>
            </a:r>
          </a:p>
          <a:p>
            <a:pPr>
              <a:spcAft>
                <a:spcPts val="600"/>
              </a:spcAft>
              <a:defRPr sz="1500">
                <a:solidFill>
                  <a:srgbClr val="1F2A33"/>
                </a:solidFill>
              </a:defRPr>
            </a:pPr>
            <a:r>
              <a:t>Momentum: compound 11 monthly price returns, excluding the most recent month</a:t>
            </a:r>
          </a:p>
          <a:p>
            <a:pPr>
              <a:spcAft>
                <a:spcPts val="600"/>
              </a:spcAft>
              <a:defRPr sz="1500">
                <a:solidFill>
                  <a:srgbClr val="1F2A33"/>
                </a:solidFill>
              </a:defRPr>
            </a:pPr>
            <a:r>
              <a:t>Dividend yield: trailing 12 months of split-adjusted dividends divided by the current adjusted price</a:t>
            </a:r>
          </a:p>
          <a:p>
            <a:pPr>
              <a:spcAft>
                <a:spcPts val="600"/>
              </a:spcAft>
              <a:defRPr sz="1500">
                <a:solidFill>
                  <a:srgbClr val="1F2A33"/>
                </a:solidFill>
              </a:defRPr>
            </a:pPr>
            <a:r>
              <a:t>Net payout yield: dividend yield + 1 − latest adjusted shares / average adjusted shares over 24 months</a:t>
            </a:r>
          </a:p>
          <a:p>
            <a:pPr>
              <a:spcAft>
                <a:spcPts val="600"/>
              </a:spcAft>
              <a:defRPr sz="1500">
                <a:solidFill>
                  <a:srgbClr val="1F2A33"/>
                </a:solidFill>
              </a:defRPr>
            </a:pPr>
            <a:r>
              <a:t>A falling share count raises payout yield; new share issuance lowers it</a:t>
            </a:r>
          </a:p>
          <a:p>
            <a:pPr>
              <a:spcAft>
                <a:spcPts val="600"/>
              </a:spcAft>
              <a:defRPr sz="1500">
                <a:solidFill>
                  <a:srgbClr val="1F2A33"/>
                </a:solidFill>
              </a:defRPr>
            </a:pPr>
            <a:r>
              <a:t>Quarter-end information determines next month's holdings. No forward return enters selection.</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Replication 1929–2016: close on return and risk</a:t>
            </a:r>
          </a:p>
        </p:txBody>
      </p:sp>
      <p:sp>
        <p:nvSpPr>
          <p:cNvPr id="3" name="TextBox 2"/>
          <p:cNvSpPr txBox="1"/>
          <p:nvPr/>
        </p:nvSpPr>
        <p:spPr>
          <a:xfrm>
            <a:off x="457200" y="1280160"/>
            <a:ext cx="4572000" cy="5212080"/>
          </a:xfrm>
          <a:prstGeom prst="rect">
            <a:avLst/>
          </a:prstGeom>
          <a:noFill/>
        </p:spPr>
        <p:txBody>
          <a:bodyPr wrap="square">
            <a:spAutoFit/>
          </a:bodyPr>
          <a:lstStyle/>
          <a:p>
            <a:pPr>
              <a:spcAft>
                <a:spcPts val="600"/>
              </a:spcAft>
              <a:defRPr sz="1500">
                <a:solidFill>
                  <a:srgbClr val="1F2A33"/>
                </a:solidFill>
              </a:defRPr>
            </a:pPr>
            <a:r>
              <a:t>Conservative 14.80% compounded, 17.06% volatility (paper 15.1%, 16.5%)</a:t>
            </a:r>
          </a:p>
          <a:p>
            <a:pPr>
              <a:spcAft>
                <a:spcPts val="600"/>
              </a:spcAft>
              <a:defRPr sz="1500">
                <a:solidFill>
                  <a:srgbClr val="1F2A33"/>
                </a:solidFill>
              </a:defRPr>
            </a:pPr>
            <a:r>
              <a:t>Market 9.15% (paper 9.3%)</a:t>
            </a:r>
          </a:p>
          <a:p>
            <a:pPr>
              <a:spcAft>
                <a:spcPts val="600"/>
              </a:spcAft>
              <a:defRPr sz="1500">
                <a:solidFill>
                  <a:srgbClr val="1F2A33"/>
                </a:solidFill>
              </a:defRPr>
            </a:pPr>
            <a:r>
              <a:t>Speculative 3.24% with 35.9% volatility</a:t>
            </a:r>
          </a:p>
          <a:p>
            <a:pPr>
              <a:spcAft>
                <a:spcPts val="600"/>
              </a:spcAft>
              <a:defRPr sz="1500">
                <a:solidFill>
                  <a:srgbClr val="1F2A33"/>
                </a:solidFill>
              </a:defRPr>
            </a:pPr>
            <a:r>
              <a:t>Conservative beats the market in 9 of 10 decades</a:t>
            </a:r>
          </a:p>
          <a:p>
            <a:pPr>
              <a:spcAft>
                <a:spcPts val="600"/>
              </a:spcAft>
              <a:defRPr sz="1500">
                <a:solidFill>
                  <a:srgbClr val="1F2A33"/>
                </a:solidFill>
              </a:defRPr>
            </a:pPr>
            <a:r>
              <a:t>Turnover 38.9% a quarter vs the paper's 32% (unexplained; measure not stated)</a:t>
            </a:r>
          </a:p>
        </p:txBody>
      </p:sp>
      <p:pic>
        <p:nvPicPr>
          <p:cNvPr id="4" name="Picture 3" descr="fig3.png"/>
          <p:cNvPicPr>
            <a:picLocks noChangeAspect="1"/>
          </p:cNvPicPr>
          <p:nvPr/>
        </p:nvPicPr>
        <p:blipFill>
          <a:blip r:embed="rId2"/>
          <a:stretch>
            <a:fillRect/>
          </a:stretch>
        </p:blipFill>
        <p:spPr>
          <a:xfrm>
            <a:off x="5212080" y="1280160"/>
            <a:ext cx="5943600" cy="3268980"/>
          </a:xfrm>
          <a:prstGeom prst="rect">
            <a:avLst/>
          </a:prstGeom>
        </p:spPr>
      </p:pic>
      <p:graphicFrame>
        <p:nvGraphicFramePr>
          <p:cNvPr id="5" name="Table 4"/>
          <p:cNvGraphicFramePr>
            <a:graphicFrameLocks noGrp="1"/>
          </p:cNvGraphicFramePr>
          <p:nvPr/>
        </p:nvGraphicFramePr>
        <p:xfrm>
          <a:off x="457200" y="4686300"/>
          <a:ext cx="11247120" cy="822959"/>
        </p:xfrm>
        <a:graphic>
          <a:graphicData uri="http://schemas.openxmlformats.org/drawingml/2006/table">
            <a:tbl>
              <a:tblPr firstRow="1" bandRow="1">
                <a:tableStyleId>{5C22544A-7EE6-4342-B048-85BDC9FD1C3A}</a:tableStyleId>
              </a:tblPr>
              <a:tblGrid>
                <a:gridCol w="1606731"/>
                <a:gridCol w="1606731"/>
                <a:gridCol w="1606731"/>
                <a:gridCol w="1606731"/>
                <a:gridCol w="1606731"/>
                <a:gridCol w="1606731"/>
                <a:gridCol w="1606734"/>
              </a:tblGrid>
              <a:tr h="274319">
                <a:tc>
                  <a:txBody>
                    <a:bodyPr/>
                    <a:lstStyle/>
                    <a:p>
                      <a:pPr>
                        <a:defRPr sz="1100" b="1"/>
                      </a:pPr>
                      <a:r>
                        <a:t>paper / ours</a:t>
                      </a:r>
                    </a:p>
                  </a:txBody>
                  <a:tcPr/>
                </a:tc>
                <a:tc>
                  <a:txBody>
                    <a:bodyPr/>
                    <a:lstStyle/>
                    <a:p>
                      <a:pPr>
                        <a:defRPr sz="1100" b="1"/>
                      </a:pPr>
                      <a:r>
                        <a:t>Formula</a:t>
                      </a:r>
                    </a:p>
                  </a:txBody>
                  <a:tcPr/>
                </a:tc>
                <a:tc>
                  <a:txBody>
                    <a:bodyPr/>
                    <a:lstStyle/>
                    <a:p>
                      <a:pPr>
                        <a:defRPr sz="1100" b="1"/>
                      </a:pPr>
                      <a:r>
                        <a:t>Market</a:t>
                      </a:r>
                    </a:p>
                  </a:txBody>
                  <a:tcPr/>
                </a:tc>
                <a:tc>
                  <a:txBody>
                    <a:bodyPr/>
                    <a:lstStyle/>
                    <a:p>
                      <a:pPr>
                        <a:defRPr sz="1100" b="1"/>
                      </a:pPr>
                      <a:r>
                        <a:t>Small</a:t>
                      </a:r>
                    </a:p>
                  </a:txBody>
                  <a:tcPr/>
                </a:tc>
                <a:tc>
                  <a:txBody>
                    <a:bodyPr/>
                    <a:lstStyle/>
                    <a:p>
                      <a:pPr>
                        <a:defRPr sz="1100" b="1"/>
                      </a:pPr>
                      <a:r>
                        <a:t>Momentum</a:t>
                      </a:r>
                    </a:p>
                  </a:txBody>
                  <a:tcPr/>
                </a:tc>
                <a:tc>
                  <a:txBody>
                    <a:bodyPr/>
                    <a:lstStyle/>
                    <a:p>
                      <a:pPr>
                        <a:defRPr sz="1100" b="1"/>
                      </a:pPr>
                      <a:r>
                        <a:t>Lowvol</a:t>
                      </a:r>
                    </a:p>
                  </a:txBody>
                  <a:tcPr/>
                </a:tc>
                <a:tc>
                  <a:txBody>
                    <a:bodyPr/>
                    <a:lstStyle/>
                    <a:p>
                      <a:pPr>
                        <a:defRPr sz="1100" b="1"/>
                      </a:pPr>
                      <a:r>
                        <a:t>NPY</a:t>
                      </a:r>
                    </a:p>
                  </a:txBody>
                  <a:tcPr/>
                </a:tc>
              </a:tr>
              <a:tr h="274319">
                <a:tc>
                  <a:txBody>
                    <a:bodyPr/>
                    <a:lstStyle/>
                    <a:p>
                      <a:pPr>
                        <a:defRPr sz="1100" b="0"/>
                      </a:pPr>
                      <a:r>
                        <a:t>Return (compounded)</a:t>
                      </a:r>
                    </a:p>
                  </a:txBody>
                  <a:tcPr/>
                </a:tc>
                <a:tc>
                  <a:txBody>
                    <a:bodyPr/>
                    <a:lstStyle/>
                    <a:p>
                      <a:pPr>
                        <a:defRPr sz="1100" b="0"/>
                      </a:pPr>
                      <a:r>
                        <a:t>15.1% / 14.8%</a:t>
                      </a:r>
                    </a:p>
                  </a:txBody>
                  <a:tcPr/>
                </a:tc>
                <a:tc>
                  <a:txBody>
                    <a:bodyPr/>
                    <a:lstStyle/>
                    <a:p>
                      <a:pPr>
                        <a:defRPr sz="1100" b="0"/>
                      </a:pPr>
                      <a:r>
                        <a:t>9.3% / 9.1%</a:t>
                      </a:r>
                    </a:p>
                  </a:txBody>
                  <a:tcPr/>
                </a:tc>
                <a:tc>
                  <a:txBody>
                    <a:bodyPr/>
                    <a:lstStyle/>
                    <a:p>
                      <a:pPr>
                        <a:defRPr sz="1100" b="0"/>
                      </a:pPr>
                      <a:r>
                        <a:t>12.0% / 13.0%</a:t>
                      </a:r>
                    </a:p>
                  </a:txBody>
                  <a:tcPr/>
                </a:tc>
                <a:tc>
                  <a:txBody>
                    <a:bodyPr/>
                    <a:lstStyle/>
                    <a:p>
                      <a:pPr>
                        <a:defRPr sz="1100" b="0"/>
                      </a:pPr>
                      <a:r>
                        <a:t>15.9% / 15.5%</a:t>
                      </a:r>
                    </a:p>
                  </a:txBody>
                  <a:tcPr/>
                </a:tc>
                <a:tc>
                  <a:txBody>
                    <a:bodyPr/>
                    <a:lstStyle/>
                    <a:p>
                      <a:pPr>
                        <a:defRPr sz="1100" b="0"/>
                      </a:pPr>
                      <a:r>
                        <a:t>10.2% / 10.4%</a:t>
                      </a:r>
                    </a:p>
                  </a:txBody>
                  <a:tcPr/>
                </a:tc>
                <a:tc>
                  <a:txBody>
                    <a:bodyPr/>
                    <a:lstStyle/>
                    <a:p>
                      <a:pPr>
                        <a:defRPr sz="1100" b="0"/>
                      </a:pPr>
                      <a:r>
                        <a:t>14.5% / 14.2%</a:t>
                      </a:r>
                    </a:p>
                  </a:txBody>
                  <a:tcPr/>
                </a:tc>
              </a:tr>
              <a:tr h="274321">
                <a:tc>
                  <a:txBody>
                    <a:bodyPr/>
                    <a:lstStyle/>
                    <a:p>
                      <a:pPr>
                        <a:defRPr sz="1100" b="0"/>
                      </a:pPr>
                      <a:r>
                        <a:t>Volatility</a:t>
                      </a:r>
                    </a:p>
                  </a:txBody>
                  <a:tcPr/>
                </a:tc>
                <a:tc>
                  <a:txBody>
                    <a:bodyPr/>
                    <a:lstStyle/>
                    <a:p>
                      <a:pPr>
                        <a:defRPr sz="1100" b="0"/>
                      </a:pPr>
                      <a:r>
                        <a:t>16.5% / 17.1%</a:t>
                      </a:r>
                    </a:p>
                  </a:txBody>
                  <a:tcPr/>
                </a:tc>
                <a:tc>
                  <a:txBody>
                    <a:bodyPr/>
                    <a:lstStyle/>
                    <a:p>
                      <a:pPr>
                        <a:defRPr sz="1100" b="0"/>
                      </a:pPr>
                      <a:r>
                        <a:t>18.7% / 18.7%</a:t>
                      </a:r>
                    </a:p>
                  </a:txBody>
                  <a:tcPr/>
                </a:tc>
                <a:tc>
                  <a:txBody>
                    <a:bodyPr/>
                    <a:lstStyle/>
                    <a:p>
                      <a:pPr>
                        <a:defRPr sz="1100" b="0"/>
                      </a:pPr>
                      <a:r>
                        <a:t>31.4% / 33.5%</a:t>
                      </a:r>
                    </a:p>
                  </a:txBody>
                  <a:tcPr/>
                </a:tc>
                <a:tc>
                  <a:txBody>
                    <a:bodyPr/>
                    <a:lstStyle/>
                    <a:p>
                      <a:pPr>
                        <a:defRPr sz="1100" b="0"/>
                      </a:pPr>
                      <a:r>
                        <a:t>25.7% / 26.1%</a:t>
                      </a:r>
                    </a:p>
                  </a:txBody>
                  <a:tcPr/>
                </a:tc>
                <a:tc>
                  <a:txBody>
                    <a:bodyPr/>
                    <a:lstStyle/>
                    <a:p>
                      <a:pPr>
                        <a:defRPr sz="1100" b="0"/>
                      </a:pPr>
                      <a:r>
                        <a:t>13.3% / 14.4%</a:t>
                      </a:r>
                    </a:p>
                  </a:txBody>
                  <a:tcPr/>
                </a:tc>
                <a:tc>
                  <a:txBody>
                    <a:bodyPr/>
                    <a:lstStyle/>
                    <a:p>
                      <a:pPr>
                        <a:defRPr sz="1100" b="0"/>
                      </a:pPr>
                      <a:r>
                        <a:t>20.1% / 21.1%</a:t>
                      </a:r>
                    </a:p>
                  </a:txBody>
                  <a:tcPr/>
                </a:tc>
              </a:tr>
            </a:tbl>
          </a:graphicData>
        </a:graphic>
      </p:graphicFrame>
      <p:sp>
        <p:nvSpPr>
          <p:cNvPr id="6" name="TextBox 5"/>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Factor attribution (Table 2): largely known premia</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CMS (Conservative − Speculative), 1963–2016: CAPM 14.20% vs 14.0%; FF5 8.69% vs 8.8%; FF5 + MOM 3.12% vs 3.3%</a:t>
            </a:r>
          </a:p>
          <a:p>
            <a:pPr>
              <a:spcAft>
                <a:spcPts val="600"/>
              </a:spcAft>
              <a:defRPr sz="1500">
                <a:solidFill>
                  <a:srgbClr val="1F2A33"/>
                </a:solidFill>
              </a:defRPr>
            </a:pPr>
            <a:r>
              <a:t>1929–2016: CAPM 12.33% vs 13.9%; Carhart 7.74% vs 8.8% (gap is pre-1963)</a:t>
            </a:r>
          </a:p>
          <a:p>
            <a:pPr>
              <a:spcAft>
                <a:spcPts val="600"/>
              </a:spcAft>
              <a:defRPr sz="1500">
                <a:solidFill>
                  <a:srgbClr val="1F2A33"/>
                </a:solidFill>
              </a:defRPr>
            </a:pPr>
            <a:r>
              <a:t>Conservative long-only: Carhart alpha 3.23% (t 4.63)</a:t>
            </a:r>
          </a:p>
          <a:p>
            <a:pPr lvl="1">
              <a:spcAft>
                <a:spcPts val="600"/>
              </a:spcAft>
              <a:defRPr sz="1300">
                <a:solidFill>
                  <a:srgbClr val="6B757D"/>
                </a:solidFill>
              </a:defRPr>
            </a:pPr>
            <a:r>
              <a:t>FF5 + momentum, 1963–2016: −0.11% (t −0.14) — profitability and investment explain it</a:t>
            </a:r>
          </a:p>
          <a:p>
            <a:pPr>
              <a:spcAft>
                <a:spcPts val="600"/>
              </a:spcAft>
              <a:defRPr sz="1500">
                <a:solidFill>
                  <a:srgbClr val="1F2A33"/>
                </a:solidFill>
              </a:defRPr>
            </a:pPr>
            <a:r>
              <a:t>CMS net of 30 bps, both legs paying: Carhart 5.78% (t 3.99)</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Costs (Table 4) and break-even</a:t>
            </a:r>
          </a:p>
        </p:txBody>
      </p:sp>
      <p:sp>
        <p:nvSpPr>
          <p:cNvPr id="3" name="TextBox 2"/>
          <p:cNvSpPr txBox="1"/>
          <p:nvPr/>
        </p:nvSpPr>
        <p:spPr>
          <a:xfrm>
            <a:off x="457200" y="1280160"/>
            <a:ext cx="6035040" cy="5212080"/>
          </a:xfrm>
          <a:prstGeom prst="rect">
            <a:avLst/>
          </a:prstGeom>
          <a:noFill/>
        </p:spPr>
        <p:txBody>
          <a:bodyPr wrap="square">
            <a:spAutoFit/>
          </a:bodyPr>
          <a:lstStyle/>
          <a:p>
            <a:pPr>
              <a:spcAft>
                <a:spcPts val="600"/>
              </a:spcAft>
              <a:defRPr sz="1500">
                <a:solidFill>
                  <a:srgbClr val="1F2A33"/>
                </a:solidFill>
              </a:defRPr>
            </a:pPr>
            <a:r>
              <a:t>Paper cost arithmetic reproduced: turnover × 8 × cost; our turnover 38.9% vs 32%</a:t>
            </a:r>
          </a:p>
          <a:p>
            <a:pPr>
              <a:spcAft>
                <a:spcPts val="600"/>
              </a:spcAft>
              <a:defRPr sz="1500">
                <a:solidFill>
                  <a:srgbClr val="1F2A33"/>
                </a:solidFill>
              </a:defRPr>
            </a:pPr>
            <a:r>
              <a:t>Net of 30 bps, 1929–2016: 13.73% compounded</a:t>
            </a:r>
          </a:p>
          <a:p>
            <a:pPr>
              <a:spcAft>
                <a:spcPts val="600"/>
              </a:spcAft>
              <a:defRPr sz="1500">
                <a:solidFill>
                  <a:srgbClr val="1F2A33"/>
                </a:solidFill>
              </a:defRPr>
            </a:pPr>
            <a:r>
              <a:t>1990–2024 break-even: 52 bps (excess return), 36 bps (alpha)</a:t>
            </a:r>
          </a:p>
          <a:p>
            <a:pPr>
              <a:spcAft>
                <a:spcPts val="600"/>
              </a:spcAft>
              <a:defRPr sz="1500">
                <a:solidFill>
                  <a:srgbClr val="1F2A33"/>
                </a:solidFill>
              </a:defRPr>
            </a:pPr>
            <a:r>
              <a:t>2017–2024: gross excess return and alpha already ≤ 0, so no break-even</a:t>
            </a:r>
          </a:p>
          <a:p>
            <a:pPr>
              <a:spcAft>
                <a:spcPts val="600"/>
              </a:spcAft>
              <a:defRPr sz="1500">
                <a:solidFill>
                  <a:srgbClr val="1F2A33"/>
                </a:solidFill>
              </a:defRPr>
            </a:pPr>
            <a:r>
              <a:t>Early-period break-evens are high, but so were real trading costs then</a:t>
            </a:r>
          </a:p>
        </p:txBody>
      </p:sp>
      <p:graphicFrame>
        <p:nvGraphicFramePr>
          <p:cNvPr id="4" name="Table 3"/>
          <p:cNvGraphicFramePr>
            <a:graphicFrameLocks noGrp="1"/>
          </p:cNvGraphicFramePr>
          <p:nvPr/>
        </p:nvGraphicFramePr>
        <p:xfrm>
          <a:off x="6675120" y="1280160"/>
          <a:ext cx="5029200" cy="1645919"/>
        </p:xfrm>
        <a:graphic>
          <a:graphicData uri="http://schemas.openxmlformats.org/drawingml/2006/table">
            <a:tbl>
              <a:tblPr firstRow="1" bandRow="1">
                <a:tableStyleId>{5C22544A-7EE6-4342-B048-85BDC9FD1C3A}</a:tableStyleId>
              </a:tblPr>
              <a:tblGrid>
                <a:gridCol w="1676400"/>
                <a:gridCol w="1676400"/>
                <a:gridCol w="1676400"/>
              </a:tblGrid>
              <a:tr h="274319">
                <a:tc>
                  <a:txBody>
                    <a:bodyPr/>
                    <a:lstStyle/>
                    <a:p>
                      <a:pPr>
                        <a:defRPr sz="1100" b="1"/>
                      </a:pPr>
                      <a:r>
                        <a:t>break-even, bps</a:t>
                      </a:r>
                    </a:p>
                  </a:txBody>
                  <a:tcPr/>
                </a:tc>
                <a:tc>
                  <a:txBody>
                    <a:bodyPr/>
                    <a:lstStyle/>
                    <a:p>
                      <a:pPr>
                        <a:defRPr sz="1100" b="1"/>
                      </a:pPr>
                      <a:r>
                        <a:t>alpha</a:t>
                      </a:r>
                    </a:p>
                  </a:txBody>
                  <a:tcPr/>
                </a:tc>
                <a:tc>
                  <a:txBody>
                    <a:bodyPr/>
                    <a:lstStyle/>
                    <a:p>
                      <a:pPr>
                        <a:defRPr sz="1100" b="1"/>
                      </a:pPr>
                      <a:r>
                        <a:t>excess return</a:t>
                      </a:r>
                    </a:p>
                  </a:txBody>
                  <a:tcPr/>
                </a:tc>
              </a:tr>
              <a:tr h="274319">
                <a:tc>
                  <a:txBody>
                    <a:bodyPr/>
                    <a:lstStyle/>
                    <a:p>
                      <a:pPr>
                        <a:defRPr sz="1100" b="0"/>
                      </a:pPr>
                      <a:r>
                        <a:t>1929–1962</a:t>
                      </a:r>
                    </a:p>
                  </a:txBody>
                  <a:tcPr/>
                </a:tc>
                <a:tc>
                  <a:txBody>
                    <a:bodyPr/>
                    <a:lstStyle/>
                    <a:p>
                      <a:pPr>
                        <a:defRPr sz="1100" b="0"/>
                      </a:pPr>
                      <a:r>
                        <a:t>162</a:t>
                      </a:r>
                    </a:p>
                  </a:txBody>
                  <a:tcPr/>
                </a:tc>
                <a:tc>
                  <a:txBody>
                    <a:bodyPr/>
                    <a:lstStyle/>
                    <a:p>
                      <a:pPr>
                        <a:defRPr sz="1100" b="0"/>
                      </a:pPr>
                      <a:r>
                        <a:t>178</a:t>
                      </a:r>
                    </a:p>
                  </a:txBody>
                  <a:tcPr/>
                </a:tc>
              </a:tr>
              <a:tr h="274319">
                <a:tc>
                  <a:txBody>
                    <a:bodyPr/>
                    <a:lstStyle/>
                    <a:p>
                      <a:pPr>
                        <a:defRPr sz="1100" b="0"/>
                      </a:pPr>
                      <a:r>
                        <a:t>1963–1989</a:t>
                      </a:r>
                    </a:p>
                  </a:txBody>
                  <a:tcPr/>
                </a:tc>
                <a:tc>
                  <a:txBody>
                    <a:bodyPr/>
                    <a:lstStyle/>
                    <a:p>
                      <a:pPr>
                        <a:defRPr sz="1100" b="0"/>
                      </a:pPr>
                      <a:r>
                        <a:t>66</a:t>
                      </a:r>
                    </a:p>
                  </a:txBody>
                  <a:tcPr/>
                </a:tc>
                <a:tc>
                  <a:txBody>
                    <a:bodyPr/>
                    <a:lstStyle/>
                    <a:p>
                      <a:pPr>
                        <a:defRPr sz="1100" b="0"/>
                      </a:pPr>
                      <a:r>
                        <a:t>187</a:t>
                      </a:r>
                    </a:p>
                  </a:txBody>
                  <a:tcPr/>
                </a:tc>
              </a:tr>
              <a:tr h="274319">
                <a:tc>
                  <a:txBody>
                    <a:bodyPr/>
                    <a:lstStyle/>
                    <a:p>
                      <a:pPr>
                        <a:defRPr sz="1100" b="0"/>
                      </a:pPr>
                      <a:r>
                        <a:t>1990–2016</a:t>
                      </a:r>
                    </a:p>
                  </a:txBody>
                  <a:tcPr/>
                </a:tc>
                <a:tc>
                  <a:txBody>
                    <a:bodyPr/>
                    <a:lstStyle/>
                    <a:p>
                      <a:pPr>
                        <a:defRPr sz="1100" b="0"/>
                      </a:pPr>
                      <a:r>
                        <a:t>52</a:t>
                      </a:r>
                    </a:p>
                  </a:txBody>
                  <a:tcPr/>
                </a:tc>
                <a:tc>
                  <a:txBody>
                    <a:bodyPr/>
                    <a:lstStyle/>
                    <a:p>
                      <a:pPr>
                        <a:defRPr sz="1100" b="0"/>
                      </a:pPr>
                      <a:r>
                        <a:t>84</a:t>
                      </a:r>
                    </a:p>
                  </a:txBody>
                  <a:tcPr/>
                </a:tc>
              </a:tr>
              <a:tr h="274319">
                <a:tc>
                  <a:txBody>
                    <a:bodyPr/>
                    <a:lstStyle/>
                    <a:p>
                      <a:pPr>
                        <a:defRPr sz="1100" b="0"/>
                      </a:pPr>
                      <a:r>
                        <a:t>1990–2024</a:t>
                      </a:r>
                    </a:p>
                  </a:txBody>
                  <a:tcPr/>
                </a:tc>
                <a:tc>
                  <a:txBody>
                    <a:bodyPr/>
                    <a:lstStyle/>
                    <a:p>
                      <a:pPr>
                        <a:defRPr sz="1100" b="0"/>
                      </a:pPr>
                      <a:r>
                        <a:t>36</a:t>
                      </a:r>
                    </a:p>
                  </a:txBody>
                  <a:tcPr/>
                </a:tc>
                <a:tc>
                  <a:txBody>
                    <a:bodyPr/>
                    <a:lstStyle/>
                    <a:p>
                      <a:pPr>
                        <a:defRPr sz="1100" b="0"/>
                      </a:pPr>
                      <a:r>
                        <a:t>52</a:t>
                      </a:r>
                    </a:p>
                  </a:txBody>
                  <a:tcPr/>
                </a:tc>
              </a:tr>
              <a:tr h="274324">
                <a:tc>
                  <a:txBody>
                    <a:bodyPr/>
                    <a:lstStyle/>
                    <a:p>
                      <a:pPr>
                        <a:defRPr sz="1100" b="0"/>
                      </a:pPr>
                      <a:r>
                        <a:t>2017–2024</a:t>
                      </a:r>
                    </a:p>
                  </a:txBody>
                  <a:tcPr/>
                </a:tc>
                <a:tc>
                  <a:txBody>
                    <a:bodyPr/>
                    <a:lstStyle/>
                    <a:p>
                      <a:pPr>
                        <a:defRPr sz="1100" b="0"/>
                      </a:pPr>
                      <a:r>
                        <a:t>none</a:t>
                      </a:r>
                    </a:p>
                  </a:txBody>
                  <a:tcPr/>
                </a:tc>
                <a:tc>
                  <a:txBody>
                    <a:bodyPr/>
                    <a:lstStyle/>
                    <a:p>
                      <a:pPr>
                        <a:defRPr sz="1100" b="0"/>
                      </a:pPr>
                      <a:r>
                        <a:t>none</a:t>
                      </a:r>
                    </a:p>
                  </a:txBody>
                  <a:tcPr/>
                </a:tc>
              </a:tr>
            </a:tbl>
          </a:graphicData>
        </a:graphic>
      </p:graphicFrame>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Decay: alphas fade after 1990</a:t>
            </a:r>
          </a:p>
        </p:txBody>
      </p:sp>
      <p:sp>
        <p:nvSpPr>
          <p:cNvPr id="3" name="TextBox 2"/>
          <p:cNvSpPr txBox="1"/>
          <p:nvPr/>
        </p:nvSpPr>
        <p:spPr>
          <a:xfrm>
            <a:off x="457200" y="1280160"/>
            <a:ext cx="6400800" cy="5212080"/>
          </a:xfrm>
          <a:prstGeom prst="rect">
            <a:avLst/>
          </a:prstGeom>
          <a:noFill/>
        </p:spPr>
        <p:txBody>
          <a:bodyPr wrap="square">
            <a:spAutoFit/>
          </a:bodyPr>
          <a:lstStyle/>
          <a:p>
            <a:pPr>
              <a:spcAft>
                <a:spcPts val="600"/>
              </a:spcAft>
              <a:defRPr sz="1500">
                <a:solidFill>
                  <a:srgbClr val="1F2A33"/>
                </a:solidFill>
              </a:defRPr>
            </a:pPr>
            <a:r>
              <a:t>Carhart alpha (gross): 4.7% → 2.1% → 1.7% → −1.2%</a:t>
            </a:r>
          </a:p>
          <a:p>
            <a:pPr>
              <a:spcAft>
                <a:spcPts val="600"/>
              </a:spcAft>
              <a:defRPr sz="1500">
                <a:solidFill>
                  <a:srgbClr val="1F2A33"/>
                </a:solidFill>
              </a:defRPr>
            </a:pPr>
            <a:r>
              <a:t>Significant before 1990, not after</a:t>
            </a:r>
          </a:p>
          <a:p>
            <a:pPr>
              <a:spcAft>
                <a:spcPts val="600"/>
              </a:spcAft>
              <a:defRPr sz="1500">
                <a:solidFill>
                  <a:srgbClr val="1F2A33"/>
                </a:solidFill>
              </a:defRPr>
            </a:pPr>
            <a:r>
              <a:t>2017–2024 is only 96 months: interval [−5.1%, 2.7%]</a:t>
            </a:r>
          </a:p>
        </p:txBody>
      </p:sp>
      <p:pic>
        <p:nvPicPr>
          <p:cNvPr id="4" name="Picture 3" descr="fig_rolling.png"/>
          <p:cNvPicPr>
            <a:picLocks noChangeAspect="1"/>
          </p:cNvPicPr>
          <p:nvPr/>
        </p:nvPicPr>
        <p:blipFill>
          <a:blip r:embed="rId2"/>
          <a:stretch>
            <a:fillRect/>
          </a:stretch>
        </p:blipFill>
        <p:spPr>
          <a:xfrm>
            <a:off x="7040880" y="1280160"/>
            <a:ext cx="4572000" cy="2909455"/>
          </a:xfrm>
          <a:prstGeom prst="rect">
            <a:avLst/>
          </a:prstGeom>
        </p:spPr>
      </p:pic>
      <p:graphicFrame>
        <p:nvGraphicFramePr>
          <p:cNvPr id="5" name="Table 4"/>
          <p:cNvGraphicFramePr>
            <a:graphicFrameLocks noGrp="1"/>
          </p:cNvGraphicFramePr>
          <p:nvPr/>
        </p:nvGraphicFramePr>
        <p:xfrm>
          <a:off x="457200" y="4326775"/>
          <a:ext cx="11247120" cy="1645919"/>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274319">
                <a:tc>
                  <a:txBody>
                    <a:bodyPr/>
                    <a:lstStyle/>
                    <a:p>
                      <a:pPr>
                        <a:defRPr sz="1100" b="1"/>
                      </a:pPr>
                      <a:r>
                        <a:t>period</a:t>
                      </a:r>
                    </a:p>
                  </a:txBody>
                  <a:tcPr/>
                </a:tc>
                <a:tc>
                  <a:txBody>
                    <a:bodyPr/>
                    <a:lstStyle/>
                    <a:p>
                      <a:pPr>
                        <a:defRPr sz="1100" b="1"/>
                      </a:pPr>
                      <a:r>
                        <a:t>months</a:t>
                      </a:r>
                    </a:p>
                  </a:txBody>
                  <a:tcPr/>
                </a:tc>
                <a:tc>
                  <a:txBody>
                    <a:bodyPr/>
                    <a:lstStyle/>
                    <a:p>
                      <a:pPr>
                        <a:defRPr sz="1100" b="1"/>
                      </a:pPr>
                      <a:r>
                        <a:t>excess, gross</a:t>
                      </a:r>
                    </a:p>
                  </a:txBody>
                  <a:tcPr/>
                </a:tc>
                <a:tc>
                  <a:txBody>
                    <a:bodyPr/>
                    <a:lstStyle/>
                    <a:p>
                      <a:pPr>
                        <a:defRPr sz="1100" b="1"/>
                      </a:pPr>
                      <a:r>
                        <a:t>Carhart α gross (t)</a:t>
                      </a:r>
                    </a:p>
                  </a:txBody>
                  <a:tcPr/>
                </a:tc>
                <a:tc>
                  <a:txBody>
                    <a:bodyPr/>
                    <a:lstStyle/>
                    <a:p>
                      <a:pPr>
                        <a:defRPr sz="1100" b="1"/>
                      </a:pPr>
                      <a:r>
                        <a:t>Carhart α net 30 (t)</a:t>
                      </a:r>
                    </a:p>
                  </a:txBody>
                  <a:tcPr/>
                </a:tc>
              </a:tr>
              <a:tr h="274319">
                <a:tc>
                  <a:txBody>
                    <a:bodyPr/>
                    <a:lstStyle/>
                    <a:p>
                      <a:pPr>
                        <a:defRPr sz="1100" b="0"/>
                      </a:pPr>
                      <a:r>
                        <a:t>1929–1962</a:t>
                      </a:r>
                    </a:p>
                  </a:txBody>
                  <a:tcPr/>
                </a:tc>
                <a:tc>
                  <a:txBody>
                    <a:bodyPr/>
                    <a:lstStyle/>
                    <a:p>
                      <a:pPr>
                        <a:defRPr sz="1100" b="0"/>
                      </a:pPr>
                      <a:r>
                        <a:t>408</a:t>
                      </a:r>
                    </a:p>
                  </a:txBody>
                  <a:tcPr/>
                </a:tc>
                <a:tc>
                  <a:txBody>
                    <a:bodyPr/>
                    <a:lstStyle/>
                    <a:p>
                      <a:pPr>
                        <a:defRPr sz="1100" b="0"/>
                      </a:pPr>
                      <a:r>
                        <a:t>5.2%</a:t>
                      </a:r>
                    </a:p>
                  </a:txBody>
                  <a:tcPr/>
                </a:tc>
                <a:tc>
                  <a:txBody>
                    <a:bodyPr/>
                    <a:lstStyle/>
                    <a:p>
                      <a:pPr>
                        <a:defRPr sz="1100" b="0"/>
                      </a:pPr>
                      <a:r>
                        <a:t>4.7% (5.03)</a:t>
                      </a:r>
                    </a:p>
                  </a:txBody>
                  <a:tcPr/>
                </a:tc>
                <a:tc>
                  <a:txBody>
                    <a:bodyPr/>
                    <a:lstStyle/>
                    <a:p>
                      <a:pPr>
                        <a:defRPr sz="1100" b="0"/>
                      </a:pPr>
                      <a:r>
                        <a:t>3.8% (4.14)</a:t>
                      </a:r>
                    </a:p>
                  </a:txBody>
                  <a:tcPr/>
                </a:tc>
              </a:tr>
              <a:tr h="274319">
                <a:tc>
                  <a:txBody>
                    <a:bodyPr/>
                    <a:lstStyle/>
                    <a:p>
                      <a:pPr>
                        <a:defRPr sz="1100" b="0"/>
                      </a:pPr>
                      <a:r>
                        <a:t>1963–1989</a:t>
                      </a:r>
                    </a:p>
                  </a:txBody>
                  <a:tcPr/>
                </a:tc>
                <a:tc>
                  <a:txBody>
                    <a:bodyPr/>
                    <a:lstStyle/>
                    <a:p>
                      <a:pPr>
                        <a:defRPr sz="1100" b="0"/>
                      </a:pPr>
                      <a:r>
                        <a:t>324</a:t>
                      </a:r>
                    </a:p>
                  </a:txBody>
                  <a:tcPr/>
                </a:tc>
                <a:tc>
                  <a:txBody>
                    <a:bodyPr/>
                    <a:lstStyle/>
                    <a:p>
                      <a:pPr>
                        <a:defRPr sz="1100" b="0"/>
                      </a:pPr>
                      <a:r>
                        <a:t>6.4%</a:t>
                      </a:r>
                    </a:p>
                  </a:txBody>
                  <a:tcPr/>
                </a:tc>
                <a:tc>
                  <a:txBody>
                    <a:bodyPr/>
                    <a:lstStyle/>
                    <a:p>
                      <a:pPr>
                        <a:defRPr sz="1100" b="0"/>
                      </a:pPr>
                      <a:r>
                        <a:t>2.1% (2.90)</a:t>
                      </a:r>
                    </a:p>
                  </a:txBody>
                  <a:tcPr/>
                </a:tc>
                <a:tc>
                  <a:txBody>
                    <a:bodyPr/>
                    <a:lstStyle/>
                    <a:p>
                      <a:pPr>
                        <a:defRPr sz="1100" b="0"/>
                      </a:pPr>
                      <a:r>
                        <a:t>1.2% (1.56)</a:t>
                      </a:r>
                    </a:p>
                  </a:txBody>
                  <a:tcPr/>
                </a:tc>
              </a:tr>
              <a:tr h="274319">
                <a:tc>
                  <a:txBody>
                    <a:bodyPr/>
                    <a:lstStyle/>
                    <a:p>
                      <a:pPr>
                        <a:defRPr sz="1100" b="0"/>
                      </a:pPr>
                      <a:r>
                        <a:t>1990–2016</a:t>
                      </a:r>
                    </a:p>
                  </a:txBody>
                  <a:tcPr/>
                </a:tc>
                <a:tc>
                  <a:txBody>
                    <a:bodyPr/>
                    <a:lstStyle/>
                    <a:p>
                      <a:pPr>
                        <a:defRPr sz="1100" b="0"/>
                      </a:pPr>
                      <a:r>
                        <a:t>324</a:t>
                      </a:r>
                    </a:p>
                  </a:txBody>
                  <a:tcPr/>
                </a:tc>
                <a:tc>
                  <a:txBody>
                    <a:bodyPr/>
                    <a:lstStyle/>
                    <a:p>
                      <a:pPr>
                        <a:defRPr sz="1100" b="0"/>
                      </a:pPr>
                      <a:r>
                        <a:t>2.7%</a:t>
                      </a:r>
                    </a:p>
                  </a:txBody>
                  <a:tcPr/>
                </a:tc>
                <a:tc>
                  <a:txBody>
                    <a:bodyPr/>
                    <a:lstStyle/>
                    <a:p>
                      <a:pPr>
                        <a:defRPr sz="1100" b="0"/>
                      </a:pPr>
                      <a:r>
                        <a:t>1.7% (1.34)</a:t>
                      </a:r>
                    </a:p>
                  </a:txBody>
                  <a:tcPr/>
                </a:tc>
                <a:tc>
                  <a:txBody>
                    <a:bodyPr/>
                    <a:lstStyle/>
                    <a:p>
                      <a:pPr>
                        <a:defRPr sz="1100" b="0"/>
                      </a:pPr>
                      <a:r>
                        <a:t>0.7% (0.56)</a:t>
                      </a:r>
                    </a:p>
                  </a:txBody>
                  <a:tcPr/>
                </a:tc>
              </a:tr>
              <a:tr h="274319">
                <a:tc>
                  <a:txBody>
                    <a:bodyPr/>
                    <a:lstStyle/>
                    <a:p>
                      <a:pPr>
                        <a:defRPr sz="1100" b="0"/>
                      </a:pPr>
                      <a:r>
                        <a:t>2017–2024</a:t>
                      </a:r>
                    </a:p>
                  </a:txBody>
                  <a:tcPr/>
                </a:tc>
                <a:tc>
                  <a:txBody>
                    <a:bodyPr/>
                    <a:lstStyle/>
                    <a:p>
                      <a:pPr>
                        <a:defRPr sz="1100" b="0"/>
                      </a:pPr>
                      <a:r>
                        <a:t>96</a:t>
                      </a:r>
                    </a:p>
                  </a:txBody>
                  <a:tcPr/>
                </a:tc>
                <a:tc>
                  <a:txBody>
                    <a:bodyPr/>
                    <a:lstStyle/>
                    <a:p>
                      <a:pPr>
                        <a:defRPr sz="1100" b="0"/>
                      </a:pPr>
                      <a:r>
                        <a:t>−1.7%</a:t>
                      </a:r>
                    </a:p>
                  </a:txBody>
                  <a:tcPr/>
                </a:tc>
                <a:tc>
                  <a:txBody>
                    <a:bodyPr/>
                    <a:lstStyle/>
                    <a:p>
                      <a:pPr>
                        <a:defRPr sz="1100" b="0"/>
                      </a:pPr>
                      <a:r>
                        <a:t>−1.2% (−0.61)</a:t>
                      </a:r>
                    </a:p>
                  </a:txBody>
                  <a:tcPr/>
                </a:tc>
                <a:tc>
                  <a:txBody>
                    <a:bodyPr/>
                    <a:lstStyle/>
                    <a:p>
                      <a:pPr>
                        <a:defRPr sz="1100" b="0"/>
                      </a:pPr>
                      <a:r>
                        <a:t>−2.1% (−1.06)</a:t>
                      </a:r>
                    </a:p>
                  </a:txBody>
                  <a:tcPr/>
                </a:tc>
              </a:tr>
              <a:tr h="274324">
                <a:tc>
                  <a:txBody>
                    <a:bodyPr/>
                    <a:lstStyle/>
                    <a:p>
                      <a:pPr>
                        <a:defRPr sz="1100" b="0"/>
                      </a:pPr>
                      <a:r>
                        <a:t>1990–2024</a:t>
                      </a:r>
                    </a:p>
                  </a:txBody>
                  <a:tcPr/>
                </a:tc>
                <a:tc>
                  <a:txBody>
                    <a:bodyPr/>
                    <a:lstStyle/>
                    <a:p>
                      <a:pPr>
                        <a:defRPr sz="1100" b="0"/>
                      </a:pPr>
                      <a:r>
                        <a:t>420</a:t>
                      </a:r>
                    </a:p>
                  </a:txBody>
                  <a:tcPr/>
                </a:tc>
                <a:tc>
                  <a:txBody>
                    <a:bodyPr/>
                    <a:lstStyle/>
                    <a:p>
                      <a:pPr>
                        <a:defRPr sz="1100" b="0"/>
                      </a:pPr>
                      <a:r>
                        <a:t>1.7%</a:t>
                      </a:r>
                    </a:p>
                  </a:txBody>
                  <a:tcPr/>
                </a:tc>
                <a:tc>
                  <a:txBody>
                    <a:bodyPr/>
                    <a:lstStyle/>
                    <a:p>
                      <a:pPr>
                        <a:defRPr sz="1100" b="0"/>
                      </a:pPr>
                      <a:r>
                        <a:t>1.2% (1.05)</a:t>
                      </a:r>
                    </a:p>
                  </a:txBody>
                  <a:tcPr/>
                </a:tc>
                <a:tc>
                  <a:txBody>
                    <a:bodyPr/>
                    <a:lstStyle/>
                    <a:p>
                      <a:pPr>
                        <a:defRPr sz="1100" b="0"/>
                      </a:pPr>
                      <a:r>
                        <a:t>0.2% (0.18)</a:t>
                      </a:r>
                    </a:p>
                  </a:txBody>
                  <a:tcPr/>
                </a:tc>
              </a:tr>
            </a:tbl>
          </a:graphicData>
        </a:graphic>
      </p:graphicFrame>
      <p:sp>
        <p:nvSpPr>
          <p:cNvPr id="6" name="TextBox 5"/>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Headline 1990–2024: no significant net alpha</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Gross: excess over market 1.69% [−2.0%, 5.4%]; Carhart alpha 1.17% (t 1.05)</a:t>
            </a:r>
          </a:p>
          <a:p>
            <a:pPr>
              <a:spcAft>
                <a:spcPts val="600"/>
              </a:spcAft>
              <a:defRPr sz="1500">
                <a:solidFill>
                  <a:srgbClr val="1F2A33"/>
                </a:solidFill>
              </a:defRPr>
            </a:pPr>
            <a:r>
              <a:t>Net of 30 bps: excess 0.73% [−3.0%, 4.4%]; alpha 0.20% [−2.0%, 2.4%]</a:t>
            </a:r>
          </a:p>
          <a:p>
            <a:pPr>
              <a:spcAft>
                <a:spcPts val="600"/>
              </a:spcAft>
              <a:defRPr sz="1500">
                <a:solidFill>
                  <a:srgbClr val="1F2A33"/>
                </a:solidFill>
              </a:defRPr>
            </a:pPr>
            <a:r>
              <a:t>FF5 + momentum alpha, net of 30 bps: −2.00% (t −2.33)</a:t>
            </a:r>
          </a:p>
          <a:p>
            <a:pPr>
              <a:spcAft>
                <a:spcPts val="600"/>
              </a:spcAft>
              <a:defRPr sz="1500">
                <a:solidFill>
                  <a:srgbClr val="1F2A33"/>
                </a:solidFill>
              </a:defRPr>
            </a:pPr>
            <a:r>
              <a:t>Still lower risk: 12.2% compounded with 13.5% volatility (market 10.1%, 15.2%)</a:t>
            </a:r>
          </a:p>
          <a:p>
            <a:pPr>
              <a:spcAft>
                <a:spcPts val="600"/>
              </a:spcAft>
              <a:defRPr sz="1500">
                <a:solidFill>
                  <a:srgbClr val="1F2A33"/>
                </a:solidFill>
              </a:defRPr>
            </a:pPr>
            <a:r>
              <a:t>Cost-inclusive CMS alpha 3.72% (t 2.22)</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Net payout: dividends and share repurchases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NPY = trailing dividend yield + 1 − latest adjusted shares / 24-month average adjusted shares</a:t>
            </a:r>
          </a:p>
          <a:p>
            <a:pPr>
              <a:spcAft>
                <a:spcPts val="600"/>
              </a:spcAft>
              <a:defRPr sz="1500">
                <a:solidFill>
                  <a:srgbClr val="1F2A33"/>
                </a:solidFill>
              </a:defRPr>
            </a:pPr>
            <a:r>
              <a:t>Repurchases raise NPY; share issuance lowers it. Splits must leave the adjusted share count unchanged</a:t>
            </a:r>
          </a:p>
          <a:p>
            <a:pPr>
              <a:spcAft>
                <a:spcPts val="600"/>
              </a:spcAft>
              <a:defRPr sz="1500">
                <a:solidFill>
                  <a:srgbClr val="1F2A33"/>
                </a:solidFill>
              </a:defRPr>
            </a:pPr>
            <a:r>
              <a:t>1929–2016 gross CAGR: 14.80% using NPY versus 13.44% using dividends alone</a:t>
            </a:r>
          </a:p>
          <a:p>
            <a:pPr>
              <a:spcAft>
                <a:spcPts val="600"/>
              </a:spcAft>
              <a:defRPr sz="1500">
                <a:solidFill>
                  <a:srgbClr val="1F2A33"/>
                </a:solidFill>
              </a:defRPr>
            </a:pPr>
            <a:r>
              <a:t>Paired net-30 arithmetic gain from NPY: 1.22% per year [0.56%, 1.87%]</a:t>
            </a:r>
          </a:p>
          <a:p>
            <a:pPr>
              <a:spcAft>
                <a:spcPts val="600"/>
              </a:spcAft>
              <a:defRPr sz="1500">
                <a:solidFill>
                  <a:srgbClr val="1F2A33"/>
                </a:solidFill>
              </a:defRPr>
            </a:pPr>
            <a:r>
              <a:t>Same universe, low-volatility pool, momentum signal, weights, quarterly dates, and costs in the comparison</a:t>
            </a:r>
          </a:p>
          <a:p>
            <a:pPr>
              <a:spcAft>
                <a:spcPts val="600"/>
              </a:spcAft>
              <a:defRPr sz="1500">
                <a:solidFill>
                  <a:srgbClr val="1F2A33"/>
                </a:solidFill>
              </a:defRPr>
            </a:pPr>
            <a:r>
              <a:t>Share-count change measures net repurchases after issuance; it is not reported buyback cash flow</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Sector positioning: allocation versus selection</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Paper scores are compared across sectors (page 4); the professor's sector-aware variant is reported separately</a:t>
            </a:r>
          </a:p>
          <a:p>
            <a:pPr>
              <a:spcAft>
                <a:spcPts val="600"/>
              </a:spcAft>
              <a:defRPr sz="1500">
                <a:solidFill>
                  <a:srgbClr val="1F2A33"/>
                </a:solidFill>
              </a:defRPr>
            </a:pPr>
            <a:r>
              <a:t>1929–2016 gross arithmetic excess return: 4.80% per year</a:t>
            </a:r>
          </a:p>
          <a:p>
            <a:pPr lvl="1">
              <a:spcAft>
                <a:spcPts val="600"/>
              </a:spcAft>
              <a:defRPr sz="1300">
                <a:solidFill>
                  <a:srgbClr val="6B757D"/>
                </a:solidFill>
              </a:defRPr>
            </a:pPr>
            <a:r>
              <a:t>Industry allocation 0.82% + stock selection 3.80% + reference-to-CRSP-market difference 0.18%</a:t>
            </a:r>
          </a:p>
          <a:p>
            <a:pPr>
              <a:spcAft>
                <a:spcPts val="600"/>
              </a:spcAft>
              <a:defRPr sz="1500">
                <a:solidFill>
                  <a:srgbClr val="1F2A33"/>
                </a:solidFill>
              </a:defRPr>
            </a:pPr>
            <a:r>
              <a:t>Reference: cap-weighted formation universe, quarterly constituents and industries fixed, weights drift, delistings to cash</a:t>
            </a:r>
          </a:p>
          <a:p>
            <a:pPr>
              <a:spcAft>
                <a:spcPts val="600"/>
              </a:spcAft>
              <a:defRPr sz="1500">
                <a:solidFill>
                  <a:srgbClr val="1F2A33"/>
                </a:solidFill>
              </a:defRPr>
            </a:pPr>
            <a:r>
              <a:t>Sector variant: 100 slots proportional to industry security counts; apply the rule separately within each FF12 industry. Gross CAGR 14.51%, net-30 13.37%</a:t>
            </a:r>
          </a:p>
          <a:p>
            <a:pPr>
              <a:spcAft>
                <a:spcPts val="600"/>
              </a:spcAft>
              <a:defRPr sz="1500">
                <a:solidFill>
                  <a:srgbClr val="1F2A33"/>
                </a:solidFill>
              </a:defRPr>
            </a:pPr>
            <a:r>
              <a:t>The sector variant is exploratory and changes the paper's global low-volatility screen. Contributions are arithmetic, not causal</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Signal diagnostics</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Composite rank IC (1 month): 0.047 (NW t 8.8)</a:t>
            </a:r>
          </a:p>
          <a:p>
            <a:pPr>
              <a:spcAft>
                <a:spcPts val="600"/>
              </a:spcAft>
              <a:defRPr sz="1500">
                <a:solidFill>
                  <a:srgbClr val="1F2A33"/>
                </a:solidFill>
              </a:defRPr>
            </a:pPr>
            <a:r>
              <a:t>Decile spread D10−D1: 1.02% (1963–1989), 0.68% (1990–2016), 0.40% (2017–2024)</a:t>
            </a:r>
          </a:p>
          <a:p>
            <a:pPr>
              <a:spcAft>
                <a:spcPts val="600"/>
              </a:spcAft>
              <a:defRPr sz="1500">
                <a:solidFill>
                  <a:srgbClr val="1F2A33"/>
                </a:solidFill>
              </a:defRPr>
            </a:pPr>
            <a:r>
              <a:t>Factor-mimicking paper portfolio: IR 0.59 at K = 1, 0.29 at K = 12</a:t>
            </a:r>
          </a:p>
          <a:p>
            <a:pPr lvl="1">
              <a:spcAft>
                <a:spcPts val="600"/>
              </a:spcAft>
              <a:defRPr sz="1300">
                <a:solidFill>
                  <a:srgbClr val="6B757D"/>
                </a:solidFill>
              </a:defRPr>
            </a:pPr>
            <a:r>
              <a:t>2017–2024 IR at K = 1: 0.29</a:t>
            </a:r>
          </a:p>
          <a:p>
            <a:pPr>
              <a:spcAft>
                <a:spcPts val="600"/>
              </a:spcAft>
              <a:defRPr sz="1500">
                <a:solidFill>
                  <a:srgbClr val="1F2A33"/>
                </a:solidFill>
              </a:defRPr>
            </a:pPr>
            <a:r>
              <a:t>Low volatility: positive rank IC, flat mean spread (right-skewed high-volatility deciles)</a:t>
            </a:r>
          </a:p>
        </p:txBody>
      </p:sp>
      <p:pic>
        <p:nvPicPr>
          <p:cNvPr id="4" name="Picture 3" descr="fig_decay.png"/>
          <p:cNvPicPr>
            <a:picLocks noChangeAspect="1"/>
          </p:cNvPicPr>
          <p:nvPr/>
        </p:nvPicPr>
        <p:blipFill>
          <a:blip r:embed="rId2"/>
          <a:stretch>
            <a:fillRect/>
          </a:stretch>
        </p:blipFill>
        <p:spPr>
          <a:xfrm>
            <a:off x="5760720" y="1280160"/>
            <a:ext cx="5943600" cy="2228850"/>
          </a:xfrm>
          <a:prstGeom prst="rect">
            <a:avLst/>
          </a:prstGeom>
        </p:spPr>
      </p:pic>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Construction: long/short and optimization</a:t>
            </a:r>
          </a:p>
        </p:txBody>
      </p:sp>
      <p:sp>
        <p:nvSpPr>
          <p:cNvPr id="3" name="TextBox 2"/>
          <p:cNvSpPr txBox="1"/>
          <p:nvPr/>
        </p:nvSpPr>
        <p:spPr>
          <a:xfrm>
            <a:off x="457200" y="1280160"/>
            <a:ext cx="5486400" cy="5212080"/>
          </a:xfrm>
          <a:prstGeom prst="rect">
            <a:avLst/>
          </a:prstGeom>
          <a:noFill/>
        </p:spPr>
        <p:txBody>
          <a:bodyPr wrap="square">
            <a:spAutoFit/>
          </a:bodyPr>
          <a:lstStyle/>
          <a:p>
            <a:pPr>
              <a:spcAft>
                <a:spcPts val="600"/>
              </a:spcAft>
              <a:defRPr sz="1300">
                <a:solidFill>
                  <a:srgbClr val="1F2A33"/>
                </a:solidFill>
              </a:defRPr>
            </a:pPr>
            <a:r>
              <a:t>Decile long/short, n = 3, 10 bps, borrow: 0.64% a year, IR 0.03, max drawdown −100.0%</a:t>
            </a:r>
          </a:p>
          <a:p>
            <a:pPr lvl="1">
              <a:spcAft>
                <a:spcPts val="600"/>
              </a:spcAft>
              <a:defRPr sz="1100">
                <a:solidFill>
                  <a:srgbClr val="6B757D"/>
                </a:solidFill>
              </a:defRPr>
            </a:pPr>
            <a:r>
              <a:t>Monthly re-weighted cohorts: chosen after the pre-specified buy-and-hold cohorts were ruined (1932-08, 1933-05)</a:t>
            </a:r>
          </a:p>
          <a:p>
            <a:pPr lvl="1">
              <a:spcAft>
                <a:spcPts val="600"/>
              </a:spcAft>
              <a:defRPr sz="1100">
                <a:solidFill>
                  <a:srgbClr val="6B757D"/>
                </a:solidFill>
              </a:defRPr>
            </a:pPr>
            <a:r>
              <a:t>Capacity 2020s ≈ $7.9B (scaled to 2024 market size; 10% of volume; no impact model)</a:t>
            </a:r>
          </a:p>
          <a:p>
            <a:pPr>
              <a:spcAft>
                <a:spcPts val="600"/>
              </a:spcAft>
              <a:defRPr sz="1300">
                <a:solidFill>
                  <a:srgbClr val="1F2A33"/>
                </a:solidFill>
              </a:defRPr>
            </a:pPr>
            <a:r>
              <a:t>Linear optimizer, 1990–2024 net 30: Carhart alpha 1.31%–1.95% (2–5% bands, 20–40% turnover budget); two of the four 95% intervals exclude zero</a:t>
            </a:r>
          </a:p>
          <a:p>
            <a:pPr lvl="1">
              <a:spcAft>
                <a:spcPts val="600"/>
              </a:spcAft>
              <a:defRPr sz="1100">
                <a:solidFill>
                  <a:srgbClr val="6B757D"/>
                </a:solidFill>
              </a:defRPr>
            </a:pPr>
            <a:r>
              <a:t>Unadjusted intervals, selected from a 24-run grid; 2017–2024 alphas −2.71% to 0.07% (none of the twelve 95% intervals excludes zero); return-scaled alpha is a post-spec sensitivity</a:t>
            </a:r>
          </a:p>
          <a:p>
            <a:pPr>
              <a:spcAft>
                <a:spcPts val="600"/>
              </a:spcAft>
              <a:defRPr sz="1300">
                <a:solidFill>
                  <a:srgbClr val="1F2A33"/>
                </a:solidFill>
              </a:defRPr>
            </a:pPr>
            <a:r>
              <a:t>The next slide adds the assignment's quadratic mean-variance extension</a:t>
            </a:r>
          </a:p>
        </p:txBody>
      </p:sp>
      <p:pic>
        <p:nvPicPr>
          <p:cNvPr id="4" name="Picture 3" descr="linear_spec.png"/>
          <p:cNvPicPr>
            <a:picLocks noChangeAspect="1"/>
          </p:cNvPicPr>
          <p:nvPr/>
        </p:nvPicPr>
        <p:blipFill>
          <a:blip r:embed="rId2"/>
          <a:stretch>
            <a:fillRect/>
          </a:stretch>
        </p:blipFill>
        <p:spPr>
          <a:xfrm>
            <a:off x="6126480" y="1280160"/>
            <a:ext cx="5577840" cy="3824805"/>
          </a:xfrm>
          <a:prstGeom prst="rect">
            <a:avLst/>
          </a:prstGeom>
        </p:spPr>
      </p:pic>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Quadratic mean-variance optimization</a:t>
            </a:r>
          </a:p>
        </p:txBody>
      </p:sp>
      <p:sp>
        <p:nvSpPr>
          <p:cNvPr id="3" name="TextBox 2"/>
          <p:cNvSpPr txBox="1"/>
          <p:nvPr/>
        </p:nvSpPr>
        <p:spPr>
          <a:xfrm>
            <a:off x="457200" y="1280160"/>
            <a:ext cx="6035040" cy="5212080"/>
          </a:xfrm>
          <a:prstGeom prst="rect">
            <a:avLst/>
          </a:prstGeom>
          <a:noFill/>
        </p:spPr>
        <p:txBody>
          <a:bodyPr wrap="square">
            <a:spAutoFit/>
          </a:bodyPr>
          <a:lstStyle/>
          <a:p>
            <a:pPr>
              <a:spcAft>
                <a:spcPts val="600"/>
              </a:spcAft>
              <a:defRPr sz="1300">
                <a:solidFill>
                  <a:srgbClr val="1F2A33"/>
                </a:solidFill>
              </a:defRPr>
            </a:pPr>
            <a:r>
              <a:t>Maximize expected return − half risk aversion × portfolio variance − trading costs</a:t>
            </a:r>
          </a:p>
          <a:p>
            <a:pPr>
              <a:spcAft>
                <a:spcPts val="600"/>
              </a:spcAft>
              <a:defRPr sz="1300">
                <a:solidFill>
                  <a:srgbClr val="1F2A33"/>
                </a:solidFill>
              </a:defRPr>
            </a:pPr>
            <a:r>
              <a:t>Covariance: trailing 36 monthly returns, 50% diagonal shrinkage; the window ends at formation</a:t>
            </a:r>
          </a:p>
          <a:p>
            <a:pPr>
              <a:spcAft>
                <a:spcPts val="600"/>
              </a:spcAft>
              <a:defRPr sz="1300">
                <a:solidFill>
                  <a:srgbClr val="1F2A33"/>
                </a:solidFill>
              </a:defRPr>
            </a:pPr>
            <a:r>
              <a:t>Return alpha: completed trailing IC × annual volatility × √(3/12) × composite exposure</a:t>
            </a:r>
          </a:p>
          <a:p>
            <a:pPr>
              <a:spcAft>
                <a:spcPts val="600"/>
              </a:spcAft>
              <a:defRPr sz="1300">
                <a:solidFill>
                  <a:srgbClr val="1F2A33"/>
                </a:solidFill>
              </a:defRPr>
            </a:pPr>
            <a:r>
              <a:t>Quarterly: 2% stock cap, industry bands ±5pp, turnover budget 40%; scaled costs start at 30bps</a:t>
            </a:r>
          </a:p>
          <a:p>
            <a:pPr>
              <a:spcAft>
                <a:spcPts val="600"/>
              </a:spcAft>
              <a:defRPr sz="1300">
                <a:solidFill>
                  <a:srgbClr val="1F2A33"/>
                </a:solidFill>
              </a:defRPr>
            </a:pPr>
            <a:r>
              <a:t>Two fixed risk aversions (5 and 20); max constraint violation 4.9e-09; turnover relaxations 0</a:t>
            </a:r>
          </a:p>
          <a:p>
            <a:pPr>
              <a:spcAft>
                <a:spcPts val="600"/>
              </a:spcAft>
              <a:defRPr sz="1300">
                <a:solidFill>
                  <a:srgbClr val="1F2A33"/>
                </a:solidFill>
              </a:defRPr>
            </a:pPr>
            <a:r>
              <a:t>Added during final review after observing the baseline; no unseen test or claim of optimal parameters</a:t>
            </a:r>
          </a:p>
        </p:txBody>
      </p:sp>
      <p:graphicFrame>
        <p:nvGraphicFramePr>
          <p:cNvPr id="4" name="Table 3"/>
          <p:cNvGraphicFramePr>
            <a:graphicFrameLocks noGrp="1"/>
          </p:cNvGraphicFramePr>
          <p:nvPr/>
        </p:nvGraphicFramePr>
        <p:xfrm>
          <a:off x="6675120" y="1280160"/>
          <a:ext cx="5029200" cy="822959"/>
        </p:xfrm>
        <a:graphic>
          <a:graphicData uri="http://schemas.openxmlformats.org/drawingml/2006/table">
            <a:tbl>
              <a:tblPr firstRow="1" bandRow="1">
                <a:tableStyleId>{5C22544A-7EE6-4342-B048-85BDC9FD1C3A}</a:tableStyleId>
              </a:tblPr>
              <a:tblGrid>
                <a:gridCol w="1005840"/>
                <a:gridCol w="1005840"/>
                <a:gridCol w="1005840"/>
                <a:gridCol w="1005840"/>
                <a:gridCol w="1005840"/>
              </a:tblGrid>
              <a:tr h="274319">
                <a:tc>
                  <a:txBody>
                    <a:bodyPr/>
                    <a:lstStyle/>
                    <a:p>
                      <a:pPr>
                        <a:defRPr sz="1100" b="1"/>
                      </a:pPr>
                      <a:r>
                        <a:t>1990–2024</a:t>
                      </a:r>
                    </a:p>
                  </a:txBody>
                  <a:tcPr/>
                </a:tc>
                <a:tc>
                  <a:txBody>
                    <a:bodyPr/>
                    <a:lstStyle/>
                    <a:p>
                      <a:pPr>
                        <a:defRPr sz="1100" b="1"/>
                      </a:pPr>
                      <a:r>
                        <a:t>Net CAGR</a:t>
                      </a:r>
                    </a:p>
                  </a:txBody>
                  <a:tcPr/>
                </a:tc>
                <a:tc>
                  <a:txBody>
                    <a:bodyPr/>
                    <a:lstStyle/>
                    <a:p>
                      <a:pPr>
                        <a:defRPr sz="1100" b="1"/>
                      </a:pPr>
                      <a:r>
                        <a:t>Volatility</a:t>
                      </a:r>
                    </a:p>
                  </a:txBody>
                  <a:tcPr/>
                </a:tc>
                <a:tc>
                  <a:txBody>
                    <a:bodyPr/>
                    <a:lstStyle/>
                    <a:p>
                      <a:pPr>
                        <a:defRPr sz="1100" b="1"/>
                      </a:pPr>
                      <a:r>
                        <a:t>IR</a:t>
                      </a:r>
                    </a:p>
                  </a:txBody>
                  <a:tcPr/>
                </a:tc>
                <a:tc>
                  <a:txBody>
                    <a:bodyPr/>
                    <a:lstStyle/>
                    <a:p>
                      <a:pPr>
                        <a:defRPr sz="1100" b="1"/>
                      </a:pPr>
                      <a:r>
                        <a:t>Market corr.</a:t>
                      </a:r>
                    </a:p>
                  </a:txBody>
                  <a:tcPr/>
                </a:tc>
              </a:tr>
              <a:tr h="274319">
                <a:tc>
                  <a:txBody>
                    <a:bodyPr/>
                    <a:lstStyle/>
                    <a:p>
                      <a:pPr>
                        <a:defRPr sz="1100" b="0"/>
                      </a:pPr>
                      <a:r>
                        <a:t>γ = 5</a:t>
                      </a:r>
                    </a:p>
                  </a:txBody>
                  <a:tcPr/>
                </a:tc>
                <a:tc>
                  <a:txBody>
                    <a:bodyPr/>
                    <a:lstStyle/>
                    <a:p>
                      <a:pPr>
                        <a:defRPr sz="1100" b="0"/>
                      </a:pPr>
                      <a:r>
                        <a:t>11.59%</a:t>
                      </a:r>
                    </a:p>
                  </a:txBody>
                  <a:tcPr/>
                </a:tc>
                <a:tc>
                  <a:txBody>
                    <a:bodyPr/>
                    <a:lstStyle/>
                    <a:p>
                      <a:pPr>
                        <a:defRPr sz="1100" b="0"/>
                      </a:pPr>
                      <a:r>
                        <a:t>12.51%</a:t>
                      </a:r>
                    </a:p>
                  </a:txBody>
                  <a:tcPr/>
                </a:tc>
                <a:tc>
                  <a:txBody>
                    <a:bodyPr/>
                    <a:lstStyle/>
                    <a:p>
                      <a:pPr>
                        <a:defRPr sz="1100" b="0"/>
                      </a:pPr>
                      <a:r>
                        <a:t>0.14</a:t>
                      </a:r>
                    </a:p>
                  </a:txBody>
                  <a:tcPr/>
                </a:tc>
                <a:tc>
                  <a:txBody>
                    <a:bodyPr/>
                    <a:lstStyle/>
                    <a:p>
                      <a:pPr>
                        <a:defRPr sz="1100" b="0"/>
                      </a:pPr>
                      <a:r>
                        <a:t>0.89</a:t>
                      </a:r>
                    </a:p>
                  </a:txBody>
                  <a:tcPr/>
                </a:tc>
              </a:tr>
              <a:tr h="274321">
                <a:tc>
                  <a:txBody>
                    <a:bodyPr/>
                    <a:lstStyle/>
                    <a:p>
                      <a:pPr>
                        <a:defRPr sz="1100" b="0"/>
                      </a:pPr>
                      <a:r>
                        <a:t>γ = 20</a:t>
                      </a:r>
                    </a:p>
                  </a:txBody>
                  <a:tcPr/>
                </a:tc>
                <a:tc>
                  <a:txBody>
                    <a:bodyPr/>
                    <a:lstStyle/>
                    <a:p>
                      <a:pPr>
                        <a:defRPr sz="1100" b="0"/>
                      </a:pPr>
                      <a:r>
                        <a:t>10.39%</a:t>
                      </a:r>
                    </a:p>
                  </a:txBody>
                  <a:tcPr/>
                </a:tc>
                <a:tc>
                  <a:txBody>
                    <a:bodyPr/>
                    <a:lstStyle/>
                    <a:p>
                      <a:pPr>
                        <a:defRPr sz="1100" b="0"/>
                      </a:pPr>
                      <a:r>
                        <a:t>11.51%</a:t>
                      </a:r>
                    </a:p>
                  </a:txBody>
                  <a:tcPr/>
                </a:tc>
                <a:tc>
                  <a:txBody>
                    <a:bodyPr/>
                    <a:lstStyle/>
                    <a:p>
                      <a:pPr>
                        <a:defRPr sz="1100" b="0"/>
                      </a:pPr>
                      <a:r>
                        <a:t>−0.03</a:t>
                      </a:r>
                    </a:p>
                  </a:txBody>
                  <a:tcPr/>
                </a:tc>
                <a:tc>
                  <a:txBody>
                    <a:bodyPr/>
                    <a:lstStyle/>
                    <a:p>
                      <a:pPr>
                        <a:defRPr sz="1100" b="0"/>
                      </a:pPr>
                      <a:r>
                        <a:t>0.87</a:t>
                      </a:r>
                    </a:p>
                  </a:txBody>
                  <a:tcPr/>
                </a:tc>
              </a:tr>
            </a:tbl>
          </a:graphicData>
        </a:graphic>
      </p:graphicFrame>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Declared improvement: rank buffer of 150</a:t>
            </a:r>
          </a:p>
        </p:txBody>
      </p:sp>
      <p:sp>
        <p:nvSpPr>
          <p:cNvPr id="3" name="TextBox 2"/>
          <p:cNvSpPr txBox="1"/>
          <p:nvPr/>
        </p:nvSpPr>
        <p:spPr>
          <a:xfrm>
            <a:off x="457200" y="1280160"/>
            <a:ext cx="5120640" cy="5212080"/>
          </a:xfrm>
          <a:prstGeom prst="rect">
            <a:avLst/>
          </a:prstGeom>
          <a:noFill/>
        </p:spPr>
        <p:txBody>
          <a:bodyPr wrap="square">
            <a:spAutoFit/>
          </a:bodyPr>
          <a:lstStyle/>
          <a:p>
            <a:pPr>
              <a:spcAft>
                <a:spcPts val="600"/>
              </a:spcAft>
              <a:defRPr sz="1500">
                <a:solidFill>
                  <a:srgbClr val="1F2A33"/>
                </a:solidFill>
              </a:defRPr>
            </a:pPr>
            <a:r>
              <a:t>Declared before any result: keep holdings ranked within the best 150; success = turnover −25% and positive net difference</a:t>
            </a:r>
          </a:p>
          <a:p>
            <a:pPr>
              <a:spcAft>
                <a:spcPts val="600"/>
              </a:spcAft>
              <a:defRPr sz="1500">
                <a:solidFill>
                  <a:srgbClr val="1F2A33"/>
                </a:solidFill>
              </a:defRPr>
            </a:pPr>
            <a:r>
              <a:t>Verdict: succeeds</a:t>
            </a:r>
          </a:p>
          <a:p>
            <a:pPr>
              <a:spcAft>
                <a:spcPts val="600"/>
              </a:spcAft>
              <a:defRPr sz="1500">
                <a:solidFill>
                  <a:srgbClr val="1F2A33"/>
                </a:solidFill>
              </a:defRPr>
            </a:pPr>
            <a:r>
              <a:t>Turnover 39.8% → 28.4% a quarter (28.7% lower)</a:t>
            </a:r>
          </a:p>
          <a:p>
            <a:pPr>
              <a:spcAft>
                <a:spcPts val="600"/>
              </a:spcAft>
              <a:defRPr sz="1500">
                <a:solidFill>
                  <a:srgbClr val="1F2A33"/>
                </a:solidFill>
              </a:defRPr>
            </a:pPr>
            <a:r>
              <a:t>Net-of-30 paired difference 0.34% a year [−0.10%, 0.78%]: not significant</a:t>
            </a:r>
          </a:p>
          <a:p>
            <a:pPr>
              <a:spcAft>
                <a:spcPts val="600"/>
              </a:spcAft>
              <a:defRPr sz="1500">
                <a:solidFill>
                  <a:srgbClr val="1F2A33"/>
                </a:solidFill>
              </a:defRPr>
            </a:pPr>
            <a:r>
              <a:t>Gross paired difference 0.06%; the observed difference does not prove unchanged signal quality</a:t>
            </a:r>
          </a:p>
          <a:p>
            <a:pPr>
              <a:spcAft>
                <a:spcPts val="600"/>
              </a:spcAft>
              <a:defRPr sz="1500">
                <a:solidFill>
                  <a:srgbClr val="1F2A33"/>
                </a:solidFill>
              </a:defRPr>
            </a:pPr>
            <a:r>
              <a:t>2017–2024 was already seen: not a holdout</a:t>
            </a:r>
          </a:p>
        </p:txBody>
      </p:sp>
      <p:pic>
        <p:nvPicPr>
          <p:cNvPr id="4" name="Picture 3" descr="fig_paired_cum.png"/>
          <p:cNvPicPr>
            <a:picLocks noChangeAspect="1"/>
          </p:cNvPicPr>
          <p:nvPr/>
        </p:nvPicPr>
        <p:blipFill>
          <a:blip r:embed="rId2"/>
          <a:stretch>
            <a:fillRect/>
          </a:stretch>
        </p:blipFill>
        <p:spPr>
          <a:xfrm>
            <a:off x="5760720" y="1280160"/>
            <a:ext cx="5943600" cy="2103120"/>
          </a:xfrm>
          <a:prstGeom prst="rect">
            <a:avLst/>
          </a:prstGeom>
        </p:spPr>
      </p:pic>
      <p:sp>
        <p:nvSpPr>
          <p:cNvPr id="5" name="TextBox 4"/>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Conclusion and limitations</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Replication close on return and risk; Table 2 panel B reproduced almost exactly</a:t>
            </a:r>
          </a:p>
          <a:p>
            <a:pPr>
              <a:spcAft>
                <a:spcPts val="600"/>
              </a:spcAft>
              <a:defRPr sz="1500">
                <a:solidFill>
                  <a:srgbClr val="1F2A33"/>
                </a:solidFill>
              </a:defRPr>
            </a:pPr>
            <a:r>
              <a:t>The return is largely a bundle of low-volatility, momentum, profitability and investment premia</a:t>
            </a:r>
          </a:p>
          <a:p>
            <a:pPr>
              <a:spcAft>
                <a:spcPts val="600"/>
              </a:spcAft>
              <a:defRPr sz="1500">
                <a:solidFill>
                  <a:srgbClr val="1F2A33"/>
                </a:solidFill>
              </a:defRPr>
            </a:pPr>
            <a:r>
              <a:t>Alphas decay; 1990–2024 net of 30 bps: alpha 0.20% [−2.0%, 2.4%]</a:t>
            </a:r>
          </a:p>
          <a:p>
            <a:pPr>
              <a:spcAft>
                <a:spcPts val="600"/>
              </a:spcAft>
              <a:defRPr sz="1500">
                <a:solidFill>
                  <a:srgbClr val="1F2A33"/>
                </a:solidFill>
              </a:defRPr>
            </a:pPr>
            <a:r>
              <a:t>No evidence that the formula beats the market on recent data after known factors and costs</a:t>
            </a:r>
          </a:p>
          <a:p>
            <a:pPr>
              <a:spcAft>
                <a:spcPts val="600"/>
              </a:spcAft>
              <a:defRPr sz="1500">
                <a:solidFill>
                  <a:srgbClr val="1F2A33"/>
                </a:solidFill>
              </a:defRPr>
            </a:pPr>
            <a:r>
              <a:t>A cheap, transparent way to hold these premia with lower volatility than the market</a:t>
            </a:r>
          </a:p>
          <a:p>
            <a:pPr>
              <a:spcAft>
                <a:spcPts val="600"/>
              </a:spcAft>
              <a:defRPr sz="1500">
                <a:solidFill>
                  <a:srgbClr val="1F2A33"/>
                </a:solidFill>
              </a:defRPr>
            </a:pPr>
            <a:r>
              <a:t>Limitations: no CRSP release identifier; implied dividends; share-class and size conventions; turnover above the paper's; selection across grids; a short post-sample</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822960"/>
          </a:xfrm>
          <a:prstGeom prst="rect">
            <a:avLst/>
          </a:prstGeom>
          <a:noFill/>
        </p:spPr>
        <p:txBody>
          <a:bodyPr wrap="square">
            <a:spAutoFit/>
          </a:bodyPr>
          <a:lstStyle/>
          <a:p>
            <a:pPr>
              <a:defRPr sz="2800" b="1">
                <a:solidFill>
                  <a:srgbClr val="1F2A33"/>
                </a:solidFill>
              </a:defRPr>
            </a:pPr>
            <a:r>
              <a:t>Reproducibility</a:t>
            </a:r>
          </a:p>
        </p:txBody>
      </p:sp>
      <p:sp>
        <p:nvSpPr>
          <p:cNvPr id="3" name="TextBox 2"/>
          <p:cNvSpPr txBox="1"/>
          <p:nvPr/>
        </p:nvSpPr>
        <p:spPr>
          <a:xfrm>
            <a:off x="457200" y="1280160"/>
            <a:ext cx="11247120" cy="5212080"/>
          </a:xfrm>
          <a:prstGeom prst="rect">
            <a:avLst/>
          </a:prstGeom>
          <a:noFill/>
        </p:spPr>
        <p:txBody>
          <a:bodyPr wrap="square">
            <a:spAutoFit/>
          </a:bodyPr>
          <a:lstStyle/>
          <a:p>
            <a:pPr>
              <a:spcAft>
                <a:spcPts val="600"/>
              </a:spcAft>
              <a:defRPr sz="1500">
                <a:solidFill>
                  <a:srgbClr val="1F2A33"/>
                </a:solidFill>
              </a:defRPr>
            </a:pPr>
            <a:r>
              <a:t>python -m crsp_pipeline.import_web   (full web exports; licensed data kept private)</a:t>
            </a:r>
          </a:p>
          <a:p>
            <a:pPr>
              <a:spcAft>
                <a:spcPts val="600"/>
              </a:spcAft>
              <a:defRPr sz="1500">
                <a:solidFill>
                  <a:srgbClr val="1F2A33"/>
                </a:solidFill>
              </a:defRPr>
            </a:pPr>
            <a:r>
              <a:t>python -m crsp_pipeline build</a:t>
            </a:r>
          </a:p>
          <a:p>
            <a:pPr>
              <a:spcAft>
                <a:spcPts val="600"/>
              </a:spcAft>
              <a:defRPr sz="1500">
                <a:solidFill>
                  <a:srgbClr val="1F2A33"/>
                </a:solidFill>
              </a:defRPr>
            </a:pPr>
            <a:r>
              <a:t>python -m research.run_all   → results/ (aggregates) + results/manifest.json</a:t>
            </a:r>
          </a:p>
          <a:p>
            <a:pPr>
              <a:spcAft>
                <a:spcPts val="600"/>
              </a:spcAft>
              <a:defRPr sz="1500">
                <a:solidFill>
                  <a:srgbClr val="1F2A33"/>
                </a:solidFill>
              </a:defRPr>
            </a:pPr>
            <a:r>
              <a:t>python build_notebook.py &amp;&amp; python execute_notebook.py</a:t>
            </a:r>
          </a:p>
          <a:p>
            <a:pPr>
              <a:spcAft>
                <a:spcPts val="600"/>
              </a:spcAft>
              <a:defRPr sz="1500">
                <a:solidFill>
                  <a:srgbClr val="1F2A33"/>
                </a:solidFill>
              </a:defRPr>
            </a:pPr>
            <a:r>
              <a:t>python presentation/build_pdf.py   (PDF slides and speaker notes)</a:t>
            </a:r>
          </a:p>
          <a:p>
            <a:pPr>
              <a:spcAft>
                <a:spcPts val="600"/>
              </a:spcAft>
              <a:defRPr sz="1500">
                <a:solidFill>
                  <a:srgbClr val="1F2A33"/>
                </a:solidFill>
              </a:defRPr>
            </a:pPr>
            <a:r>
              <a:t>85 result files with sha256 hashes; data manifest 4816d582000a…</a:t>
            </a:r>
          </a:p>
        </p:txBody>
      </p:sp>
      <p:sp>
        <p:nvSpPr>
          <p:cNvPr id="4" name="TextBox 3"/>
          <p:cNvSpPr txBox="1"/>
          <p:nvPr/>
        </p:nvSpPr>
        <p:spPr>
          <a:xfrm>
            <a:off x="457200" y="6537960"/>
            <a:ext cx="11247120" cy="219456"/>
          </a:xfrm>
          <a:prstGeom prst="rect">
            <a:avLst/>
          </a:prstGeom>
          <a:noFill/>
        </p:spPr>
        <p:txBody>
          <a:bodyPr wrap="none" tIns="0" bIns="0">
            <a:spAutoFit/>
          </a:bodyPr>
          <a:lstStyle/>
          <a:p>
            <a:pPr>
              <a:defRPr sz="900">
                <a:solidFill>
                  <a:srgbClr val="6B757D"/>
                </a:solidFill>
              </a:defRPr>
            </a:pPr>
            <a:r>
              <a:t>Yingni Chang and Yikai Shen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Yingni Chang and Yikai Shen</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